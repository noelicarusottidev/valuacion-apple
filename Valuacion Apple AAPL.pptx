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1.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1.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1.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1.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1.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1.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1.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1.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1.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1.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3"/>
        </a:solidFill>
      </p:bgPr>
    </p:bg>
    <p:spTree>
      <p:nvGrpSpPr>
        <p:cNvPr id="1" name=""/>
        <p:cNvGrpSpPr/>
        <p:nvPr/>
      </p:nvGrpSpPr>
      <p:grpSpPr>
        <a:xfrm>
          <a:off x="0" y="0"/>
          <a:ext cx="0" cy="0"/>
          <a:chOff x="0" y="0"/>
          <a:chExt cx="0" cy="0"/>
        </a:xfrm>
      </p:grpSpPr>
      <p:sp>
        <p:nvSpPr>
          <p:cNvPr id="2" name="Shape 0"/>
          <p:cNvSpPr/>
          <p:nvPr/>
        </p:nvSpPr>
        <p:spPr>
          <a:xfrm>
            <a:off x="8869680" y="0"/>
            <a:ext cx="3322015" cy="6858000"/>
          </a:xfrm>
          <a:prstGeom prst="rect">
            <a:avLst/>
          </a:prstGeom>
          <a:solidFill>
            <a:srgbClr val="0F3A44"/>
          </a:solidFill>
          <a:ln/>
        </p:spPr>
      </p:sp>
      <p:pic>
        <p:nvPicPr>
          <p:cNvPr id="3" name="Image 0" descr="icons/apple_ink.png">    </p:cNvPr>
          <p:cNvPicPr>
            <a:picLocks noChangeAspect="1"/>
          </p:cNvPicPr>
          <p:nvPr/>
        </p:nvPicPr>
        <p:blipFill>
          <a:blip r:embed="rId1">
            <a:alphaModFix amt="38000"/>
          </a:blip>
          <a:stretch>
            <a:fillRect/>
          </a:stretch>
        </p:blipFill>
        <p:spPr>
          <a:xfrm>
            <a:off x="9646920" y="2331720"/>
            <a:ext cx="2194560" cy="2194560"/>
          </a:xfrm>
          <a:prstGeom prst="rect">
            <a:avLst/>
          </a:prstGeom>
        </p:spPr>
      </p:pic>
      <p:sp>
        <p:nvSpPr>
          <p:cNvPr id="4" name="Shape 1"/>
          <p:cNvSpPr/>
          <p:nvPr/>
        </p:nvSpPr>
        <p:spPr>
          <a:xfrm>
            <a:off x="9966960" y="640080"/>
            <a:ext cx="1371600" cy="1371600"/>
          </a:xfrm>
          <a:prstGeom prst="ellipse">
            <a:avLst/>
          </a:prstGeom>
          <a:ln w="25400">
            <a:solidFill>
              <a:srgbClr val="12A594"/>
            </a:solidFill>
            <a:prstDash val="solid"/>
          </a:ln>
        </p:spPr>
      </p:sp>
      <p:sp>
        <p:nvSpPr>
          <p:cNvPr id="5" name="Shape 2"/>
          <p:cNvSpPr/>
          <p:nvPr/>
        </p:nvSpPr>
        <p:spPr>
          <a:xfrm>
            <a:off x="10287000" y="4572000"/>
            <a:ext cx="914400" cy="914400"/>
          </a:xfrm>
          <a:prstGeom prst="ellipse">
            <a:avLst/>
          </a:prstGeom>
          <a:solidFill>
            <a:srgbClr val="F2A516"/>
          </a:solidFill>
          <a:ln/>
        </p:spPr>
      </p:sp>
      <p:sp>
        <p:nvSpPr>
          <p:cNvPr id="6" name="Text 3"/>
          <p:cNvSpPr/>
          <p:nvPr/>
        </p:nvSpPr>
        <p:spPr>
          <a:xfrm>
            <a:off x="640080" y="1371600"/>
            <a:ext cx="804672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SEMINARIO · ¿CUÁNTO VALE UNA EMPRESA?</a:t>
            </a:r>
            <a:endParaRPr lang="en-US" sz="1300" dirty="0"/>
          </a:p>
        </p:txBody>
      </p:sp>
      <p:sp>
        <p:nvSpPr>
          <p:cNvPr id="7" name="Text 4"/>
          <p:cNvSpPr/>
          <p:nvPr/>
        </p:nvSpPr>
        <p:spPr>
          <a:xfrm>
            <a:off x="640080" y="1874520"/>
            <a:ext cx="813816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Valuación de Apple Inc.</a:t>
            </a:r>
            <a:endParaRPr lang="en-US" sz="5200" dirty="0"/>
          </a:p>
        </p:txBody>
      </p:sp>
      <p:sp>
        <p:nvSpPr>
          <p:cNvPr id="8" name="Text 5"/>
          <p:cNvSpPr/>
          <p:nvPr/>
        </p:nvSpPr>
        <p:spPr>
          <a:xfrm>
            <a:off x="640080" y="2880360"/>
            <a:ext cx="8138160" cy="457200"/>
          </a:xfrm>
          <a:prstGeom prst="rect">
            <a:avLst/>
          </a:prstGeom>
          <a:noFill/>
          <a:ln/>
        </p:spPr>
        <p:txBody>
          <a:bodyPr wrap="square" lIns="0" tIns="0" rIns="0" bIns="0" rtlCol="0" anchor="ctr"/>
          <a:lstStyle/>
          <a:p>
            <a:pPr indent="0" marL="0">
              <a:buNone/>
            </a:pPr>
            <a:r>
              <a:rPr lang="en-US" sz="2200" i="1" dirty="0">
                <a:solidFill>
                  <a:srgbClr val="FFFFFF"/>
                </a:solidFill>
                <a:latin typeface="Georgia" pitchFamily="34" charset="0"/>
                <a:ea typeface="Georgia" pitchFamily="34" charset="-122"/>
                <a:cs typeface="Georgia" pitchFamily="34" charset="-120"/>
              </a:rPr>
              <a:t>Flujos de Fondos Descontados</a:t>
            </a:r>
            <a:pPr indent="0" marL="0">
              <a:buNone/>
            </a:pPr>
            <a:r>
              <a:rPr lang="en-US" sz="2200" i="1" dirty="0">
                <a:solidFill>
                  <a:srgbClr val="12A594"/>
                </a:solidFill>
                <a:latin typeface="Georgia" pitchFamily="34" charset="0"/>
                <a:ea typeface="Georgia" pitchFamily="34" charset="-122"/>
                <a:cs typeface="Georgia" pitchFamily="34" charset="-120"/>
              </a:rPr>
              <a:t>  ·  </a:t>
            </a:r>
            <a:pPr indent="0" marL="0">
              <a:buNone/>
            </a:pPr>
            <a:r>
              <a:rPr lang="en-US" sz="2200" i="1" dirty="0">
                <a:solidFill>
                  <a:srgbClr val="9FC3C0"/>
                </a:solidFill>
                <a:latin typeface="Georgia" pitchFamily="34" charset="0"/>
                <a:ea typeface="Georgia" pitchFamily="34" charset="-122"/>
                <a:cs typeface="Georgia" pitchFamily="34" charset="-120"/>
              </a:rPr>
              <a:t>(AAPL · NASDAQ)</a:t>
            </a:r>
            <a:endParaRPr lang="en-US" sz="2200" dirty="0"/>
          </a:p>
        </p:txBody>
      </p:sp>
      <p:sp>
        <p:nvSpPr>
          <p:cNvPr id="9" name="Text 6"/>
          <p:cNvSpPr/>
          <p:nvPr/>
        </p:nvSpPr>
        <p:spPr>
          <a:xfrm>
            <a:off x="640080" y="3657600"/>
            <a:ext cx="7680960" cy="914400"/>
          </a:xfrm>
          <a:prstGeom prst="rect">
            <a:avLst/>
          </a:prstGeom>
          <a:noFill/>
          <a:ln/>
        </p:spPr>
        <p:txBody>
          <a:bodyPr wrap="square" lIns="0" tIns="0" rIns="0" bIns="0" rtlCol="0" anchor="ctr"/>
          <a:lstStyle/>
          <a:p>
            <a:pPr indent="0" marL="0">
              <a:lnSpc>
                <a:spcPct val="110000"/>
              </a:lnSpc>
              <a:buNone/>
            </a:pPr>
            <a:r>
              <a:rPr lang="en-US" sz="1450" dirty="0">
                <a:solidFill>
                  <a:srgbClr val="9FC3C0"/>
                </a:solidFill>
                <a:latin typeface="Calibri" pitchFamily="34" charset="0"/>
                <a:ea typeface="Calibri" pitchFamily="34" charset="-122"/>
                <a:cs typeface="Calibri" pitchFamily="34" charset="-120"/>
              </a:rPr>
              <a:t>Construcción íntegra de la tasa de descuento (WACC) + descuento de los flujos proyectados y valor terminal (Gordon-Shapiro), de Enterprise Value a precio objetivo por acción.</a:t>
            </a:r>
            <a:endParaRPr lang="en-US" sz="1450" dirty="0"/>
          </a:p>
        </p:txBody>
      </p:sp>
      <p:sp>
        <p:nvSpPr>
          <p:cNvPr id="10" name="Shape 7"/>
          <p:cNvSpPr/>
          <p:nvPr/>
        </p:nvSpPr>
        <p:spPr>
          <a:xfrm>
            <a:off x="640080" y="5212080"/>
            <a:ext cx="7498080" cy="0"/>
          </a:xfrm>
          <a:prstGeom prst="line">
            <a:avLst/>
          </a:prstGeom>
          <a:noFill/>
          <a:ln w="12700">
            <a:solidFill>
              <a:srgbClr val="23454D"/>
            </a:solidFill>
            <a:prstDash val="solid"/>
          </a:ln>
        </p:spPr>
      </p:sp>
      <p:sp>
        <p:nvSpPr>
          <p:cNvPr id="11" name="Text 8"/>
          <p:cNvSpPr/>
          <p:nvPr/>
        </p:nvSpPr>
        <p:spPr>
          <a:xfrm>
            <a:off x="640080" y="5349240"/>
            <a:ext cx="76809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Facultad de Ciencias Económicas — UNLP</a:t>
            </a:r>
            <a:endParaRPr lang="en-US" sz="1400" dirty="0"/>
          </a:p>
        </p:txBody>
      </p:sp>
      <p:sp>
        <p:nvSpPr>
          <p:cNvPr id="12" name="Text 9"/>
          <p:cNvSpPr/>
          <p:nvPr/>
        </p:nvSpPr>
        <p:spPr>
          <a:xfrm>
            <a:off x="640080" y="5715000"/>
            <a:ext cx="7680960" cy="320040"/>
          </a:xfrm>
          <a:prstGeom prst="rect">
            <a:avLst/>
          </a:prstGeom>
          <a:noFill/>
          <a:ln/>
        </p:spPr>
        <p:txBody>
          <a:bodyPr wrap="square" lIns="0" tIns="0" rIns="0" bIns="0" rtlCol="0" anchor="ctr"/>
          <a:lstStyle/>
          <a:p>
            <a:pPr indent="0" marL="0">
              <a:buNone/>
            </a:pPr>
            <a:r>
              <a:rPr lang="en-US" sz="1150" dirty="0">
                <a:solidFill>
                  <a:srgbClr val="9FC3C0"/>
                </a:solidFill>
                <a:latin typeface="Calibri" pitchFamily="34" charset="0"/>
                <a:ea typeface="Calibri" pitchFamily="34" charset="-122"/>
                <a:cs typeface="Calibri" pitchFamily="34" charset="-120"/>
              </a:rPr>
              <a:t>Trabajo final · Valuación de empresas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map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EL RECORRIDO DEL TRABAJO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De la tasa de descuento al precio objetivo</a:t>
            </a:r>
            <a:endParaRPr lang="en-US" sz="3000" dirty="0"/>
          </a:p>
        </p:txBody>
      </p:sp>
      <p:sp>
        <p:nvSpPr>
          <p:cNvPr id="6" name="Text 3"/>
          <p:cNvSpPr/>
          <p:nvPr/>
        </p:nvSpPr>
        <p:spPr>
          <a:xfrm>
            <a:off x="640080" y="1828800"/>
            <a:ext cx="10911535" cy="457200"/>
          </a:xfrm>
          <a:prstGeom prst="rect">
            <a:avLst/>
          </a:prstGeom>
          <a:noFill/>
          <a:ln/>
        </p:spPr>
        <p:txBody>
          <a:bodyPr wrap="square" lIns="0" tIns="0" rIns="0" bIns="0" rtlCol="0" anchor="ctr"/>
          <a:lstStyle/>
          <a:p>
            <a:pPr indent="0" marL="0">
              <a:buNone/>
            </a:pPr>
            <a:r>
              <a:rPr lang="en-US" sz="1350" i="1" dirty="0">
                <a:solidFill>
                  <a:srgbClr val="5C6F74"/>
                </a:solidFill>
                <a:latin typeface="Calibri" pitchFamily="34" charset="0"/>
                <a:ea typeface="Calibri" pitchFamily="34" charset="-122"/>
                <a:cs typeface="Calibri" pitchFamily="34" charset="-120"/>
              </a:rPr>
              <a:t>Una empresa vale la suma del dinero que generará en el futuro, traído al presente con una tasa que refleja su riesgo. Lo resolvemos en dos partes:</a:t>
            </a:r>
            <a:endParaRPr lang="en-US" sz="1350" dirty="0"/>
          </a:p>
        </p:txBody>
      </p:sp>
      <p:sp>
        <p:nvSpPr>
          <p:cNvPr id="7" name="Shape 4"/>
          <p:cNvSpPr/>
          <p:nvPr/>
        </p:nvSpPr>
        <p:spPr>
          <a:xfrm>
            <a:off x="640080" y="2423160"/>
            <a:ext cx="5272888" cy="3383280"/>
          </a:xfrm>
          <a:prstGeom prst="roundRect">
            <a:avLst>
              <a:gd name="adj" fmla="val 3243"/>
            </a:avLst>
          </a:prstGeom>
          <a:solidFill>
            <a:srgbClr val="FFFFFF"/>
          </a:solidFill>
          <a:ln/>
          <a:effectLst>
            <a:outerShdw sx="100000" sy="100000" kx="0" ky="0" algn="bl" rotWithShape="0" blurRad="114300" dist="38100" dir="8100000">
              <a:srgbClr val="0B2B33">
                <a:alpha val="14000"/>
              </a:srgbClr>
            </a:outerShdw>
          </a:effectLst>
        </p:spPr>
      </p:sp>
      <p:sp>
        <p:nvSpPr>
          <p:cNvPr id="8" name="Shape 5"/>
          <p:cNvSpPr/>
          <p:nvPr/>
        </p:nvSpPr>
        <p:spPr>
          <a:xfrm>
            <a:off x="914400" y="2697480"/>
            <a:ext cx="457200" cy="457200"/>
          </a:xfrm>
          <a:prstGeom prst="ellipse">
            <a:avLst/>
          </a:prstGeom>
          <a:solidFill>
            <a:srgbClr val="12A594"/>
          </a:solidFill>
          <a:ln/>
        </p:spPr>
      </p:sp>
      <p:sp>
        <p:nvSpPr>
          <p:cNvPr id="9" name="Text 6"/>
          <p:cNvSpPr/>
          <p:nvPr/>
        </p:nvSpPr>
        <p:spPr>
          <a:xfrm>
            <a:off x="914400" y="26974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10" name="Text 7"/>
          <p:cNvSpPr/>
          <p:nvPr/>
        </p:nvSpPr>
        <p:spPr>
          <a:xfrm>
            <a:off x="1508760" y="2724912"/>
            <a:ext cx="4175608" cy="411480"/>
          </a:xfrm>
          <a:prstGeom prst="rect">
            <a:avLst/>
          </a:prstGeom>
          <a:noFill/>
          <a:ln/>
        </p:spPr>
        <p:txBody>
          <a:bodyPr wrap="square" lIns="0" tIns="0" rIns="0" bIns="0" rtlCol="0" anchor="ctr"/>
          <a:lstStyle/>
          <a:p>
            <a:pPr indent="0" marL="0">
              <a:buNone/>
            </a:pPr>
            <a:r>
              <a:rPr lang="en-US" sz="1400" b="1" dirty="0">
                <a:solidFill>
                  <a:srgbClr val="0B2B33"/>
                </a:solidFill>
                <a:latin typeface="Calibri" pitchFamily="34" charset="0"/>
                <a:ea typeface="Calibri" pitchFamily="34" charset="-122"/>
                <a:cs typeface="Calibri" pitchFamily="34" charset="-120"/>
              </a:rPr>
              <a:t>PARTE 1 · Costo de capital</a:t>
            </a:r>
            <a:endParaRPr lang="en-US" sz="1400" dirty="0"/>
          </a:p>
        </p:txBody>
      </p:sp>
      <p:sp>
        <p:nvSpPr>
          <p:cNvPr id="11" name="Text 8"/>
          <p:cNvSpPr/>
          <p:nvPr/>
        </p:nvSpPr>
        <p:spPr>
          <a:xfrm>
            <a:off x="960120" y="3383280"/>
            <a:ext cx="4632808" cy="228600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300" dirty="0">
                <a:solidFill>
                  <a:srgbClr val="10282E"/>
                </a:solidFill>
                <a:latin typeface="Calibri" pitchFamily="34" charset="0"/>
                <a:ea typeface="Calibri" pitchFamily="34" charset="-122"/>
                <a:cs typeface="Calibri" pitchFamily="34" charset="-120"/>
              </a:rPr>
              <a:t>Apple en un vistazo + análisis por múltiplos</a:t>
            </a:r>
            <a:endParaRPr lang="en-US" sz="1300" dirty="0"/>
          </a:p>
          <a:p>
            <a:pPr marL="177800" indent="-177800">
              <a:lnSpc>
                <a:spcPct val="102000"/>
              </a:lnSpc>
              <a:spcAft>
                <a:spcPts val="1100"/>
              </a:spcAft>
              <a:buSzPct val="100000"/>
              <a:buChar char="•"/>
            </a:pPr>
            <a:r>
              <a:rPr lang="en-US" sz="1300" dirty="0">
                <a:solidFill>
                  <a:srgbClr val="10282E"/>
                </a:solidFill>
                <a:latin typeface="Calibri" pitchFamily="34" charset="0"/>
                <a:ea typeface="Calibri" pitchFamily="34" charset="-122"/>
                <a:cs typeface="Calibri" pitchFamily="34" charset="-120"/>
              </a:rPr>
              <a:t>Costo de la deuda (Kd) y tasa impositiva efectiva</a:t>
            </a:r>
            <a:endParaRPr lang="en-US" sz="1300" dirty="0"/>
          </a:p>
          <a:p>
            <a:pPr marL="177800" indent="-177800">
              <a:lnSpc>
                <a:spcPct val="102000"/>
              </a:lnSpc>
              <a:spcAft>
                <a:spcPts val="1100"/>
              </a:spcAft>
              <a:buSzPct val="100000"/>
              <a:buChar char="•"/>
            </a:pPr>
            <a:r>
              <a:rPr lang="en-US" sz="1300" dirty="0">
                <a:solidFill>
                  <a:srgbClr val="10282E"/>
                </a:solidFill>
                <a:latin typeface="Calibri" pitchFamily="34" charset="0"/>
                <a:ea typeface="Calibri" pitchFamily="34" charset="-122"/>
                <a:cs typeface="Calibri" pitchFamily="34" charset="-120"/>
              </a:rPr>
              <a:t>CAPM: Beta por regresión, ajuste de Blume → Ke</a:t>
            </a:r>
            <a:endParaRPr lang="en-US" sz="1300" dirty="0"/>
          </a:p>
          <a:p>
            <a:pPr marL="177800" indent="-177800">
              <a:lnSpc>
                <a:spcPct val="102000"/>
              </a:lnSpc>
              <a:spcAft>
                <a:spcPts val="1100"/>
              </a:spcAft>
              <a:buSzPct val="100000"/>
              <a:buChar char="•"/>
            </a:pPr>
            <a:r>
              <a:rPr lang="en-US" sz="1300" b="1" dirty="0">
                <a:solidFill>
                  <a:srgbClr val="12A594"/>
                </a:solidFill>
                <a:latin typeface="Calibri" pitchFamily="34" charset="0"/>
                <a:ea typeface="Calibri" pitchFamily="34" charset="-122"/>
                <a:cs typeface="Calibri" pitchFamily="34" charset="-120"/>
              </a:rPr>
              <a:t>WACC = tasa de descuento</a:t>
            </a:r>
            <a:endParaRPr lang="en-US" sz="1300" dirty="0"/>
          </a:p>
        </p:txBody>
      </p:sp>
      <p:sp>
        <p:nvSpPr>
          <p:cNvPr id="12" name="Shape 9"/>
          <p:cNvSpPr/>
          <p:nvPr/>
        </p:nvSpPr>
        <p:spPr>
          <a:xfrm>
            <a:off x="6278728" y="2423160"/>
            <a:ext cx="5272888" cy="3383280"/>
          </a:xfrm>
          <a:prstGeom prst="roundRect">
            <a:avLst>
              <a:gd name="adj" fmla="val 3243"/>
            </a:avLst>
          </a:prstGeom>
          <a:solidFill>
            <a:srgbClr val="FFFFFF"/>
          </a:solidFill>
          <a:ln/>
          <a:effectLst>
            <a:outerShdw sx="100000" sy="100000" kx="0" ky="0" algn="bl" rotWithShape="0" blurRad="114300" dist="38100" dir="8100000">
              <a:srgbClr val="0B2B33">
                <a:alpha val="14000"/>
              </a:srgbClr>
            </a:outerShdw>
          </a:effectLst>
        </p:spPr>
      </p:sp>
      <p:sp>
        <p:nvSpPr>
          <p:cNvPr id="13" name="Shape 10"/>
          <p:cNvSpPr/>
          <p:nvPr/>
        </p:nvSpPr>
        <p:spPr>
          <a:xfrm>
            <a:off x="6553048" y="2697480"/>
            <a:ext cx="457200" cy="457200"/>
          </a:xfrm>
          <a:prstGeom prst="ellipse">
            <a:avLst/>
          </a:prstGeom>
          <a:solidFill>
            <a:srgbClr val="F2A516"/>
          </a:solidFill>
          <a:ln/>
        </p:spPr>
      </p:sp>
      <p:sp>
        <p:nvSpPr>
          <p:cNvPr id="14" name="Text 11"/>
          <p:cNvSpPr/>
          <p:nvPr/>
        </p:nvSpPr>
        <p:spPr>
          <a:xfrm>
            <a:off x="6553048" y="2697480"/>
            <a:ext cx="457200" cy="457200"/>
          </a:xfrm>
          <a:prstGeom prst="rect">
            <a:avLst/>
          </a:prstGeom>
          <a:noFill/>
          <a:ln/>
        </p:spPr>
        <p:txBody>
          <a:bodyPr wrap="square" lIns="0" tIns="0" rIns="0" bIns="0" rtlCol="0" anchor="ctr"/>
          <a:lstStyle/>
          <a:p>
            <a:pPr algn="ctr" indent="0" marL="0">
              <a:buNone/>
            </a:pPr>
            <a:r>
              <a:rPr lang="en-US" sz="2200" b="1" dirty="0">
                <a:solidFill>
                  <a:srgbClr val="0B2B33"/>
                </a:solidFill>
                <a:latin typeface="Georgia" pitchFamily="34" charset="0"/>
                <a:ea typeface="Georgia" pitchFamily="34" charset="-122"/>
                <a:cs typeface="Georgia" pitchFamily="34" charset="-120"/>
              </a:rPr>
              <a:t>2</a:t>
            </a:r>
            <a:endParaRPr lang="en-US" sz="2200" dirty="0"/>
          </a:p>
        </p:txBody>
      </p:sp>
      <p:sp>
        <p:nvSpPr>
          <p:cNvPr id="15" name="Text 12"/>
          <p:cNvSpPr/>
          <p:nvPr/>
        </p:nvSpPr>
        <p:spPr>
          <a:xfrm>
            <a:off x="7147408" y="2724912"/>
            <a:ext cx="4175608" cy="411480"/>
          </a:xfrm>
          <a:prstGeom prst="rect">
            <a:avLst/>
          </a:prstGeom>
          <a:noFill/>
          <a:ln/>
        </p:spPr>
        <p:txBody>
          <a:bodyPr wrap="square" lIns="0" tIns="0" rIns="0" bIns="0" rtlCol="0" anchor="ctr"/>
          <a:lstStyle/>
          <a:p>
            <a:pPr indent="0" marL="0">
              <a:buNone/>
            </a:pPr>
            <a:r>
              <a:rPr lang="en-US" sz="1400" b="1" dirty="0">
                <a:solidFill>
                  <a:srgbClr val="0B2B33"/>
                </a:solidFill>
                <a:latin typeface="Calibri" pitchFamily="34" charset="0"/>
                <a:ea typeface="Calibri" pitchFamily="34" charset="-122"/>
                <a:cs typeface="Calibri" pitchFamily="34" charset="-120"/>
              </a:rPr>
              <a:t>PARTE 2 · Valuación intrínseca</a:t>
            </a:r>
            <a:endParaRPr lang="en-US" sz="1400" dirty="0"/>
          </a:p>
        </p:txBody>
      </p:sp>
      <p:sp>
        <p:nvSpPr>
          <p:cNvPr id="16" name="Text 13"/>
          <p:cNvSpPr/>
          <p:nvPr/>
        </p:nvSpPr>
        <p:spPr>
          <a:xfrm>
            <a:off x="6598768" y="3383280"/>
            <a:ext cx="4632808" cy="228600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300" dirty="0">
                <a:solidFill>
                  <a:srgbClr val="10282E"/>
                </a:solidFill>
                <a:latin typeface="Calibri" pitchFamily="34" charset="0"/>
                <a:ea typeface="Calibri" pitchFamily="34" charset="-122"/>
                <a:cs typeface="Calibri" pitchFamily="34" charset="-120"/>
              </a:rPr>
              <a:t>FCF proyectados (cátedra) descontados al WACC</a:t>
            </a:r>
            <a:endParaRPr lang="en-US" sz="1300" dirty="0"/>
          </a:p>
          <a:p>
            <a:pPr marL="177800" indent="-177800">
              <a:lnSpc>
                <a:spcPct val="102000"/>
              </a:lnSpc>
              <a:spcAft>
                <a:spcPts val="1100"/>
              </a:spcAft>
              <a:buSzPct val="100000"/>
              <a:buChar char="•"/>
            </a:pPr>
            <a:r>
              <a:rPr lang="en-US" sz="1300" dirty="0">
                <a:solidFill>
                  <a:srgbClr val="10282E"/>
                </a:solidFill>
                <a:latin typeface="Calibri" pitchFamily="34" charset="0"/>
                <a:ea typeface="Calibri" pitchFamily="34" charset="-122"/>
                <a:cs typeface="Calibri" pitchFamily="34" charset="-120"/>
              </a:rPr>
              <a:t>Valor terminal por Gordon-Shapiro</a:t>
            </a:r>
            <a:endParaRPr lang="en-US" sz="1300" dirty="0"/>
          </a:p>
          <a:p>
            <a:pPr marL="177800" indent="-177800">
              <a:lnSpc>
                <a:spcPct val="102000"/>
              </a:lnSpc>
              <a:spcAft>
                <a:spcPts val="1100"/>
              </a:spcAft>
              <a:buSzPct val="100000"/>
              <a:buChar char="•"/>
            </a:pPr>
            <a:r>
              <a:rPr lang="en-US" sz="1300" dirty="0">
                <a:solidFill>
                  <a:srgbClr val="10282E"/>
                </a:solidFill>
                <a:latin typeface="Calibri" pitchFamily="34" charset="0"/>
                <a:ea typeface="Calibri" pitchFamily="34" charset="-122"/>
                <a:cs typeface="Calibri" pitchFamily="34" charset="-120"/>
              </a:rPr>
              <a:t>Enterprise Value → Equity Value → precio/acción</a:t>
            </a:r>
            <a:endParaRPr lang="en-US" sz="1300" dirty="0"/>
          </a:p>
          <a:p>
            <a:pPr marL="177800" indent="-177800">
              <a:lnSpc>
                <a:spcPct val="102000"/>
              </a:lnSpc>
              <a:spcAft>
                <a:spcPts val="1100"/>
              </a:spcAft>
              <a:buSzPct val="100000"/>
              <a:buChar char="•"/>
            </a:pPr>
            <a:r>
              <a:rPr lang="en-US" sz="1300" b="1" dirty="0">
                <a:solidFill>
                  <a:srgbClr val="C77F00"/>
                </a:solidFill>
                <a:latin typeface="Calibri" pitchFamily="34" charset="0"/>
                <a:ea typeface="Calibri" pitchFamily="34" charset="-122"/>
                <a:cs typeface="Calibri" pitchFamily="34" charset="-120"/>
              </a:rPr>
              <a:t>Sensibilidad, escenarios y veredicto</a:t>
            </a:r>
            <a:endParaRPr lang="en-US" sz="1300" dirty="0"/>
          </a:p>
        </p:txBody>
      </p:sp>
      <p:sp>
        <p:nvSpPr>
          <p:cNvPr id="17" name="Text 14"/>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8" name="Text 15"/>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F2A516"/>
          </a:solidFill>
          <a:ln/>
        </p:spPr>
      </p:sp>
      <p:pic>
        <p:nvPicPr>
          <p:cNvPr id="3" name="Image 0" descr="icons/flag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F2A516"/>
                </a:solidFill>
                <a:latin typeface="Calibri" pitchFamily="34" charset="0"/>
                <a:ea typeface="Calibri" pitchFamily="34" charset="-122"/>
                <a:cs typeface="Calibri" pitchFamily="34" charset="-120"/>
              </a:rPr>
              <a:t>OBJETIVOS DEL PROYECTO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Qué nos propusimos demostrar</a:t>
            </a:r>
            <a:endParaRPr lang="en-US" sz="3000" dirty="0"/>
          </a:p>
        </p:txBody>
      </p:sp>
      <p:sp>
        <p:nvSpPr>
          <p:cNvPr id="6" name="Shape 3"/>
          <p:cNvSpPr/>
          <p:nvPr/>
        </p:nvSpPr>
        <p:spPr>
          <a:xfrm>
            <a:off x="640080" y="2011680"/>
            <a:ext cx="3423818" cy="1691640"/>
          </a:xfrm>
          <a:prstGeom prst="roundRect">
            <a:avLst>
              <a:gd name="adj" fmla="val 5405"/>
            </a:avLst>
          </a:prstGeom>
          <a:solidFill>
            <a:srgbClr val="FFFFFF"/>
          </a:solidFill>
          <a:ln/>
          <a:effectLst>
            <a:outerShdw sx="100000" sy="100000" kx="0" ky="0" algn="bl" rotWithShape="0" blurRad="114300" dist="38100" dir="8100000">
              <a:srgbClr val="0B2B33">
                <a:alpha val="14000"/>
              </a:srgbClr>
            </a:outerShdw>
          </a:effectLst>
        </p:spPr>
      </p:sp>
      <p:sp>
        <p:nvSpPr>
          <p:cNvPr id="7" name="Shape 4"/>
          <p:cNvSpPr/>
          <p:nvPr/>
        </p:nvSpPr>
        <p:spPr>
          <a:xfrm>
            <a:off x="896112" y="2267712"/>
            <a:ext cx="502920" cy="502920"/>
          </a:xfrm>
          <a:prstGeom prst="ellipse">
            <a:avLst/>
          </a:prstGeom>
          <a:solidFill>
            <a:srgbClr val="0B2B33"/>
          </a:solidFill>
          <a:ln/>
        </p:spPr>
      </p:sp>
      <p:pic>
        <p:nvPicPr>
          <p:cNvPr id="8" name="Image 1" descr="icons/filter_white.png">    </p:cNvPr>
          <p:cNvPicPr>
            <a:picLocks noChangeAspect="1"/>
          </p:cNvPicPr>
          <p:nvPr/>
        </p:nvPicPr>
        <p:blipFill>
          <a:blip r:embed="rId2"/>
          <a:stretch>
            <a:fillRect/>
          </a:stretch>
        </p:blipFill>
        <p:spPr>
          <a:xfrm>
            <a:off x="1033272" y="2404872"/>
            <a:ext cx="228600" cy="228600"/>
          </a:xfrm>
          <a:prstGeom prst="rect">
            <a:avLst/>
          </a:prstGeom>
        </p:spPr>
      </p:pic>
      <p:sp>
        <p:nvSpPr>
          <p:cNvPr id="9" name="Text 5"/>
          <p:cNvSpPr/>
          <p:nvPr/>
        </p:nvSpPr>
        <p:spPr>
          <a:xfrm>
            <a:off x="896112" y="2852928"/>
            <a:ext cx="2911754" cy="36576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Análisis crítico de flujos</a:t>
            </a:r>
            <a:endParaRPr lang="en-US" sz="1350" dirty="0"/>
          </a:p>
        </p:txBody>
      </p:sp>
      <p:sp>
        <p:nvSpPr>
          <p:cNvPr id="10" name="Text 6"/>
          <p:cNvSpPr/>
          <p:nvPr/>
        </p:nvSpPr>
        <p:spPr>
          <a:xfrm>
            <a:off x="896112" y="3200400"/>
            <a:ext cx="2966618" cy="457200"/>
          </a:xfrm>
          <a:prstGeom prst="rect">
            <a:avLst/>
          </a:prstGeom>
          <a:noFill/>
          <a:ln/>
        </p:spPr>
        <p:txBody>
          <a:bodyPr wrap="square" lIns="0" tIns="0" rIns="0" bIns="0" rtlCol="0" anchor="ctr"/>
          <a:lstStyle/>
          <a:p>
            <a:pPr indent="0" marL="0">
              <a:lnSpc>
                <a:spcPct val="100000"/>
              </a:lnSpc>
              <a:buNone/>
            </a:pPr>
            <a:r>
              <a:rPr lang="en-US" sz="1050" dirty="0">
                <a:solidFill>
                  <a:srgbClr val="5C6F74"/>
                </a:solidFill>
                <a:latin typeface="Calibri" pitchFamily="34" charset="0"/>
                <a:ea typeface="Calibri" pitchFamily="34" charset="-122"/>
                <a:cs typeface="Calibri" pitchFamily="34" charset="-120"/>
              </a:rPr>
              <a:t>Entender la lógica detrás de las proyecciones de analistas, no tomarlas como dogma.</a:t>
            </a:r>
            <a:endParaRPr lang="en-US" sz="1050" dirty="0"/>
          </a:p>
        </p:txBody>
      </p:sp>
      <p:sp>
        <p:nvSpPr>
          <p:cNvPr id="11" name="Shape 7"/>
          <p:cNvSpPr/>
          <p:nvPr/>
        </p:nvSpPr>
        <p:spPr>
          <a:xfrm>
            <a:off x="4383938" y="2011680"/>
            <a:ext cx="3423818" cy="1691640"/>
          </a:xfrm>
          <a:prstGeom prst="roundRect">
            <a:avLst>
              <a:gd name="adj" fmla="val 5405"/>
            </a:avLst>
          </a:prstGeom>
          <a:solidFill>
            <a:srgbClr val="FFFFFF"/>
          </a:solidFill>
          <a:ln/>
          <a:effectLst>
            <a:outerShdw sx="100000" sy="100000" kx="0" ky="0" algn="bl" rotWithShape="0" blurRad="114300" dist="38100" dir="8100000">
              <a:srgbClr val="0B2B33">
                <a:alpha val="14000"/>
              </a:srgbClr>
            </a:outerShdw>
          </a:effectLst>
        </p:spPr>
      </p:sp>
      <p:sp>
        <p:nvSpPr>
          <p:cNvPr id="12" name="Shape 8"/>
          <p:cNvSpPr/>
          <p:nvPr/>
        </p:nvSpPr>
        <p:spPr>
          <a:xfrm>
            <a:off x="4639970" y="2267712"/>
            <a:ext cx="502920" cy="502920"/>
          </a:xfrm>
          <a:prstGeom prst="ellipse">
            <a:avLst/>
          </a:prstGeom>
          <a:solidFill>
            <a:srgbClr val="12A594"/>
          </a:solidFill>
          <a:ln/>
        </p:spPr>
      </p:sp>
      <p:pic>
        <p:nvPicPr>
          <p:cNvPr id="13" name="Image 2" descr="icons/chartbar_white.png">    </p:cNvPr>
          <p:cNvPicPr>
            <a:picLocks noChangeAspect="1"/>
          </p:cNvPicPr>
          <p:nvPr/>
        </p:nvPicPr>
        <p:blipFill>
          <a:blip r:embed="rId3"/>
          <a:stretch>
            <a:fillRect/>
          </a:stretch>
        </p:blipFill>
        <p:spPr>
          <a:xfrm>
            <a:off x="4777130" y="2404872"/>
            <a:ext cx="228600" cy="228600"/>
          </a:xfrm>
          <a:prstGeom prst="rect">
            <a:avLst/>
          </a:prstGeom>
        </p:spPr>
      </p:pic>
      <p:sp>
        <p:nvSpPr>
          <p:cNvPr id="14" name="Text 9"/>
          <p:cNvSpPr/>
          <p:nvPr/>
        </p:nvSpPr>
        <p:spPr>
          <a:xfrm>
            <a:off x="4639970" y="2852928"/>
            <a:ext cx="2911754" cy="36576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Valuación por múltiplos</a:t>
            </a:r>
            <a:endParaRPr lang="en-US" sz="1350" dirty="0"/>
          </a:p>
        </p:txBody>
      </p:sp>
      <p:sp>
        <p:nvSpPr>
          <p:cNvPr id="15" name="Text 10"/>
          <p:cNvSpPr/>
          <p:nvPr/>
        </p:nvSpPr>
        <p:spPr>
          <a:xfrm>
            <a:off x="4639970" y="3200400"/>
            <a:ext cx="2966618" cy="457200"/>
          </a:xfrm>
          <a:prstGeom prst="rect">
            <a:avLst/>
          </a:prstGeom>
          <a:noFill/>
          <a:ln/>
        </p:spPr>
        <p:txBody>
          <a:bodyPr wrap="square" lIns="0" tIns="0" rIns="0" bIns="0" rtlCol="0" anchor="ctr"/>
          <a:lstStyle/>
          <a:p>
            <a:pPr indent="0" marL="0">
              <a:lnSpc>
                <a:spcPct val="100000"/>
              </a:lnSpc>
              <a:buNone/>
            </a:pPr>
            <a:r>
              <a:rPr lang="en-US" sz="1050" dirty="0">
                <a:solidFill>
                  <a:srgbClr val="5C6F74"/>
                </a:solidFill>
                <a:latin typeface="Calibri" pitchFamily="34" charset="0"/>
                <a:ea typeface="Calibri" pitchFamily="34" charset="-122"/>
                <a:cs typeface="Calibri" pitchFamily="34" charset="-120"/>
              </a:rPr>
              <a:t>Usar ratios contables para comparar a Apple contra su industria.</a:t>
            </a:r>
            <a:endParaRPr lang="en-US" sz="1050" dirty="0"/>
          </a:p>
        </p:txBody>
      </p:sp>
      <p:sp>
        <p:nvSpPr>
          <p:cNvPr id="16" name="Shape 11"/>
          <p:cNvSpPr/>
          <p:nvPr/>
        </p:nvSpPr>
        <p:spPr>
          <a:xfrm>
            <a:off x="8127797" y="2011680"/>
            <a:ext cx="3423818" cy="1691640"/>
          </a:xfrm>
          <a:prstGeom prst="roundRect">
            <a:avLst>
              <a:gd name="adj" fmla="val 5405"/>
            </a:avLst>
          </a:prstGeom>
          <a:solidFill>
            <a:srgbClr val="FFFFFF"/>
          </a:solidFill>
          <a:ln/>
          <a:effectLst>
            <a:outerShdw sx="100000" sy="100000" kx="0" ky="0" algn="bl" rotWithShape="0" blurRad="114300" dist="38100" dir="8100000">
              <a:srgbClr val="0B2B33">
                <a:alpha val="14000"/>
              </a:srgbClr>
            </a:outerShdw>
          </a:effectLst>
        </p:spPr>
      </p:sp>
      <p:sp>
        <p:nvSpPr>
          <p:cNvPr id="17" name="Shape 12"/>
          <p:cNvSpPr/>
          <p:nvPr/>
        </p:nvSpPr>
        <p:spPr>
          <a:xfrm>
            <a:off x="8383829" y="2267712"/>
            <a:ext cx="502920" cy="502920"/>
          </a:xfrm>
          <a:prstGeom prst="ellipse">
            <a:avLst/>
          </a:prstGeom>
          <a:solidFill>
            <a:srgbClr val="0B2B33"/>
          </a:solidFill>
          <a:ln/>
        </p:spPr>
      </p:sp>
      <p:pic>
        <p:nvPicPr>
          <p:cNvPr id="18" name="Image 3" descr="icons/percent_white.png">    </p:cNvPr>
          <p:cNvPicPr>
            <a:picLocks noChangeAspect="1"/>
          </p:cNvPicPr>
          <p:nvPr/>
        </p:nvPicPr>
        <p:blipFill>
          <a:blip r:embed="rId4"/>
          <a:stretch>
            <a:fillRect/>
          </a:stretch>
        </p:blipFill>
        <p:spPr>
          <a:xfrm>
            <a:off x="8520989" y="2404872"/>
            <a:ext cx="228600" cy="228600"/>
          </a:xfrm>
          <a:prstGeom prst="rect">
            <a:avLst/>
          </a:prstGeom>
        </p:spPr>
      </p:pic>
      <p:sp>
        <p:nvSpPr>
          <p:cNvPr id="19" name="Text 13"/>
          <p:cNvSpPr/>
          <p:nvPr/>
        </p:nvSpPr>
        <p:spPr>
          <a:xfrm>
            <a:off x="8383829" y="2852928"/>
            <a:ext cx="2911754" cy="36576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Arquitectura de tasas</a:t>
            </a:r>
            <a:endParaRPr lang="en-US" sz="1350" dirty="0"/>
          </a:p>
        </p:txBody>
      </p:sp>
      <p:sp>
        <p:nvSpPr>
          <p:cNvPr id="20" name="Text 14"/>
          <p:cNvSpPr/>
          <p:nvPr/>
        </p:nvSpPr>
        <p:spPr>
          <a:xfrm>
            <a:off x="8383829" y="3200400"/>
            <a:ext cx="2966618" cy="457200"/>
          </a:xfrm>
          <a:prstGeom prst="rect">
            <a:avLst/>
          </a:prstGeom>
          <a:noFill/>
          <a:ln/>
        </p:spPr>
        <p:txBody>
          <a:bodyPr wrap="square" lIns="0" tIns="0" rIns="0" bIns="0" rtlCol="0" anchor="ctr"/>
          <a:lstStyle/>
          <a:p>
            <a:pPr indent="0" marL="0">
              <a:lnSpc>
                <a:spcPct val="100000"/>
              </a:lnSpc>
              <a:buNone/>
            </a:pPr>
            <a:r>
              <a:rPr lang="en-US" sz="1050" dirty="0">
                <a:solidFill>
                  <a:srgbClr val="5C6F74"/>
                </a:solidFill>
                <a:latin typeface="Calibri" pitchFamily="34" charset="0"/>
                <a:ea typeface="Calibri" pitchFamily="34" charset="-122"/>
                <a:cs typeface="Calibri" pitchFamily="34" charset="-120"/>
              </a:rPr>
              <a:t>Determinar con precisión el costo de la deuda (Kd) y del accionista (Ke) vía CAPM.</a:t>
            </a:r>
            <a:endParaRPr lang="en-US" sz="1050" dirty="0"/>
          </a:p>
        </p:txBody>
      </p:sp>
      <p:sp>
        <p:nvSpPr>
          <p:cNvPr id="21" name="Shape 15"/>
          <p:cNvSpPr/>
          <p:nvPr/>
        </p:nvSpPr>
        <p:spPr>
          <a:xfrm>
            <a:off x="640080" y="3977640"/>
            <a:ext cx="3423818" cy="1691640"/>
          </a:xfrm>
          <a:prstGeom prst="roundRect">
            <a:avLst>
              <a:gd name="adj" fmla="val 5405"/>
            </a:avLst>
          </a:prstGeom>
          <a:solidFill>
            <a:srgbClr val="FFFFFF"/>
          </a:solidFill>
          <a:ln/>
          <a:effectLst>
            <a:outerShdw sx="100000" sy="100000" kx="0" ky="0" algn="bl" rotWithShape="0" blurRad="114300" dist="38100" dir="8100000">
              <a:srgbClr val="0B2B33">
                <a:alpha val="14000"/>
              </a:srgbClr>
            </a:outerShdw>
          </a:effectLst>
        </p:spPr>
      </p:sp>
      <p:sp>
        <p:nvSpPr>
          <p:cNvPr id="22" name="Shape 16"/>
          <p:cNvSpPr/>
          <p:nvPr/>
        </p:nvSpPr>
        <p:spPr>
          <a:xfrm>
            <a:off x="896112" y="4233672"/>
            <a:ext cx="502920" cy="502920"/>
          </a:xfrm>
          <a:prstGeom prst="ellipse">
            <a:avLst/>
          </a:prstGeom>
          <a:solidFill>
            <a:srgbClr val="12A594"/>
          </a:solidFill>
          <a:ln/>
        </p:spPr>
      </p:sp>
      <p:pic>
        <p:nvPicPr>
          <p:cNvPr id="23" name="Image 4" descr="icons/scale_white.png">    </p:cNvPr>
          <p:cNvPicPr>
            <a:picLocks noChangeAspect="1"/>
          </p:cNvPicPr>
          <p:nvPr/>
        </p:nvPicPr>
        <p:blipFill>
          <a:blip r:embed="rId5"/>
          <a:stretch>
            <a:fillRect/>
          </a:stretch>
        </p:blipFill>
        <p:spPr>
          <a:xfrm>
            <a:off x="1033272" y="4370832"/>
            <a:ext cx="228600" cy="228600"/>
          </a:xfrm>
          <a:prstGeom prst="rect">
            <a:avLst/>
          </a:prstGeom>
        </p:spPr>
      </p:pic>
      <p:sp>
        <p:nvSpPr>
          <p:cNvPr id="24" name="Text 17"/>
          <p:cNvSpPr/>
          <p:nvPr/>
        </p:nvSpPr>
        <p:spPr>
          <a:xfrm>
            <a:off x="896112" y="4818888"/>
            <a:ext cx="2911754" cy="36576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Cálculo del WACC</a:t>
            </a:r>
            <a:endParaRPr lang="en-US" sz="1350" dirty="0"/>
          </a:p>
        </p:txBody>
      </p:sp>
      <p:sp>
        <p:nvSpPr>
          <p:cNvPr id="25" name="Text 18"/>
          <p:cNvSpPr/>
          <p:nvPr/>
        </p:nvSpPr>
        <p:spPr>
          <a:xfrm>
            <a:off x="896112" y="5166360"/>
            <a:ext cx="2966618" cy="457200"/>
          </a:xfrm>
          <a:prstGeom prst="rect">
            <a:avLst/>
          </a:prstGeom>
          <a:noFill/>
          <a:ln/>
        </p:spPr>
        <p:txBody>
          <a:bodyPr wrap="square" lIns="0" tIns="0" rIns="0" bIns="0" rtlCol="0" anchor="ctr"/>
          <a:lstStyle/>
          <a:p>
            <a:pPr indent="0" marL="0">
              <a:lnSpc>
                <a:spcPct val="100000"/>
              </a:lnSpc>
              <a:buNone/>
            </a:pPr>
            <a:r>
              <a:rPr lang="en-US" sz="1050" dirty="0">
                <a:solidFill>
                  <a:srgbClr val="5C6F74"/>
                </a:solidFill>
                <a:latin typeface="Calibri" pitchFamily="34" charset="0"/>
                <a:ea typeface="Calibri" pitchFamily="34" charset="-122"/>
                <a:cs typeface="Calibri" pitchFamily="34" charset="-120"/>
              </a:rPr>
              <a:t>Tasa de descuento ponderada usando valores de mercado.</a:t>
            </a:r>
            <a:endParaRPr lang="en-US" sz="1050" dirty="0"/>
          </a:p>
        </p:txBody>
      </p:sp>
      <p:sp>
        <p:nvSpPr>
          <p:cNvPr id="26" name="Shape 19"/>
          <p:cNvSpPr/>
          <p:nvPr/>
        </p:nvSpPr>
        <p:spPr>
          <a:xfrm>
            <a:off x="4383938" y="3977640"/>
            <a:ext cx="3423818" cy="1691640"/>
          </a:xfrm>
          <a:prstGeom prst="roundRect">
            <a:avLst>
              <a:gd name="adj" fmla="val 5405"/>
            </a:avLst>
          </a:prstGeom>
          <a:solidFill>
            <a:srgbClr val="FFFFFF"/>
          </a:solidFill>
          <a:ln/>
          <a:effectLst>
            <a:outerShdw sx="100000" sy="100000" kx="0" ky="0" algn="bl" rotWithShape="0" blurRad="114300" dist="38100" dir="8100000">
              <a:srgbClr val="0B2B33">
                <a:alpha val="14000"/>
              </a:srgbClr>
            </a:outerShdw>
          </a:effectLst>
        </p:spPr>
      </p:sp>
      <p:sp>
        <p:nvSpPr>
          <p:cNvPr id="27" name="Shape 20"/>
          <p:cNvSpPr/>
          <p:nvPr/>
        </p:nvSpPr>
        <p:spPr>
          <a:xfrm>
            <a:off x="4639970" y="4233672"/>
            <a:ext cx="502920" cy="502920"/>
          </a:xfrm>
          <a:prstGeom prst="ellipse">
            <a:avLst/>
          </a:prstGeom>
          <a:solidFill>
            <a:srgbClr val="0B2B33"/>
          </a:solidFill>
          <a:ln/>
        </p:spPr>
      </p:sp>
      <p:pic>
        <p:nvPicPr>
          <p:cNvPr id="28" name="Image 5" descr="icons/building_white.png">    </p:cNvPr>
          <p:cNvPicPr>
            <a:picLocks noChangeAspect="1"/>
          </p:cNvPicPr>
          <p:nvPr/>
        </p:nvPicPr>
        <p:blipFill>
          <a:blip r:embed="rId6"/>
          <a:stretch>
            <a:fillRect/>
          </a:stretch>
        </p:blipFill>
        <p:spPr>
          <a:xfrm>
            <a:off x="4777130" y="4370832"/>
            <a:ext cx="228600" cy="228600"/>
          </a:xfrm>
          <a:prstGeom prst="rect">
            <a:avLst/>
          </a:prstGeom>
        </p:spPr>
      </p:pic>
      <p:sp>
        <p:nvSpPr>
          <p:cNvPr id="29" name="Text 21"/>
          <p:cNvSpPr/>
          <p:nvPr/>
        </p:nvSpPr>
        <p:spPr>
          <a:xfrm>
            <a:off x="4639970" y="4818888"/>
            <a:ext cx="2911754" cy="36576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Valuación intrínseca</a:t>
            </a:r>
            <a:endParaRPr lang="en-US" sz="1350" dirty="0"/>
          </a:p>
        </p:txBody>
      </p:sp>
      <p:sp>
        <p:nvSpPr>
          <p:cNvPr id="30" name="Text 22"/>
          <p:cNvSpPr/>
          <p:nvPr/>
        </p:nvSpPr>
        <p:spPr>
          <a:xfrm>
            <a:off x="4639970" y="5166360"/>
            <a:ext cx="2966618" cy="457200"/>
          </a:xfrm>
          <a:prstGeom prst="rect">
            <a:avLst/>
          </a:prstGeom>
          <a:noFill/>
          <a:ln/>
        </p:spPr>
        <p:txBody>
          <a:bodyPr wrap="square" lIns="0" tIns="0" rIns="0" bIns="0" rtlCol="0" anchor="ctr"/>
          <a:lstStyle/>
          <a:p>
            <a:pPr indent="0" marL="0">
              <a:lnSpc>
                <a:spcPct val="100000"/>
              </a:lnSpc>
              <a:buNone/>
            </a:pPr>
            <a:r>
              <a:rPr lang="en-US" sz="1050" dirty="0">
                <a:solidFill>
                  <a:srgbClr val="5C6F74"/>
                </a:solidFill>
                <a:latin typeface="Calibri" pitchFamily="34" charset="0"/>
                <a:ea typeface="Calibri" pitchFamily="34" charset="-122"/>
                <a:cs typeface="Calibri" pitchFamily="34" charset="-120"/>
              </a:rPr>
              <a:t>Calcular Enterprise Value y Equity Value por acción.</a:t>
            </a:r>
            <a:endParaRPr lang="en-US" sz="1050" dirty="0"/>
          </a:p>
        </p:txBody>
      </p:sp>
      <p:sp>
        <p:nvSpPr>
          <p:cNvPr id="31" name="Shape 23"/>
          <p:cNvSpPr/>
          <p:nvPr/>
        </p:nvSpPr>
        <p:spPr>
          <a:xfrm>
            <a:off x="8127797" y="3977640"/>
            <a:ext cx="3423818" cy="1691640"/>
          </a:xfrm>
          <a:prstGeom prst="roundRect">
            <a:avLst>
              <a:gd name="adj" fmla="val 5405"/>
            </a:avLst>
          </a:prstGeom>
          <a:solidFill>
            <a:srgbClr val="FFFFFF"/>
          </a:solidFill>
          <a:ln/>
          <a:effectLst>
            <a:outerShdw sx="100000" sy="100000" kx="0" ky="0" algn="bl" rotWithShape="0" blurRad="114300" dist="38100" dir="8100000">
              <a:srgbClr val="0B2B33">
                <a:alpha val="14000"/>
              </a:srgbClr>
            </a:outerShdw>
          </a:effectLst>
        </p:spPr>
      </p:sp>
      <p:sp>
        <p:nvSpPr>
          <p:cNvPr id="32" name="Shape 24"/>
          <p:cNvSpPr/>
          <p:nvPr/>
        </p:nvSpPr>
        <p:spPr>
          <a:xfrm>
            <a:off x="8383829" y="4233672"/>
            <a:ext cx="502920" cy="502920"/>
          </a:xfrm>
          <a:prstGeom prst="ellipse">
            <a:avLst/>
          </a:prstGeom>
          <a:solidFill>
            <a:srgbClr val="12A594"/>
          </a:solidFill>
          <a:ln/>
        </p:spPr>
      </p:sp>
      <p:pic>
        <p:nvPicPr>
          <p:cNvPr id="33" name="Image 6" descr="icons/dice_white.png">    </p:cNvPr>
          <p:cNvPicPr>
            <a:picLocks noChangeAspect="1"/>
          </p:cNvPicPr>
          <p:nvPr/>
        </p:nvPicPr>
        <p:blipFill>
          <a:blip r:embed="rId7"/>
          <a:stretch>
            <a:fillRect/>
          </a:stretch>
        </p:blipFill>
        <p:spPr>
          <a:xfrm>
            <a:off x="8520989" y="4370832"/>
            <a:ext cx="228600" cy="228600"/>
          </a:xfrm>
          <a:prstGeom prst="rect">
            <a:avLst/>
          </a:prstGeom>
        </p:spPr>
      </p:pic>
      <p:sp>
        <p:nvSpPr>
          <p:cNvPr id="34" name="Text 25"/>
          <p:cNvSpPr/>
          <p:nvPr/>
        </p:nvSpPr>
        <p:spPr>
          <a:xfrm>
            <a:off x="8383829" y="4818888"/>
            <a:ext cx="2911754" cy="36576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Modelado de escenarios</a:t>
            </a:r>
            <a:endParaRPr lang="en-US" sz="1350" dirty="0"/>
          </a:p>
        </p:txBody>
      </p:sp>
      <p:sp>
        <p:nvSpPr>
          <p:cNvPr id="35" name="Text 26"/>
          <p:cNvSpPr/>
          <p:nvPr/>
        </p:nvSpPr>
        <p:spPr>
          <a:xfrm>
            <a:off x="8383829" y="5166360"/>
            <a:ext cx="2966618" cy="457200"/>
          </a:xfrm>
          <a:prstGeom prst="rect">
            <a:avLst/>
          </a:prstGeom>
          <a:noFill/>
          <a:ln/>
        </p:spPr>
        <p:txBody>
          <a:bodyPr wrap="square" lIns="0" tIns="0" rIns="0" bIns="0" rtlCol="0" anchor="ctr"/>
          <a:lstStyle/>
          <a:p>
            <a:pPr indent="0" marL="0">
              <a:lnSpc>
                <a:spcPct val="100000"/>
              </a:lnSpc>
              <a:buNone/>
            </a:pPr>
            <a:r>
              <a:rPr lang="en-US" sz="1050" dirty="0">
                <a:solidFill>
                  <a:srgbClr val="5C6F74"/>
                </a:solidFill>
                <a:latin typeface="Calibri" pitchFamily="34" charset="0"/>
                <a:ea typeface="Calibri" pitchFamily="34" charset="-122"/>
                <a:cs typeface="Calibri" pitchFamily="34" charset="-120"/>
              </a:rPr>
              <a:t>Matrices de sensibilidad y simulaciones en Python.</a:t>
            </a:r>
            <a:endParaRPr lang="en-US" sz="1050" dirty="0"/>
          </a:p>
        </p:txBody>
      </p:sp>
      <p:sp>
        <p:nvSpPr>
          <p:cNvPr id="36" name="Text 27"/>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37" name="Text 28"/>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tag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REGLAS DEL JUEGO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Qué nos dieron · qué decidimos nosotros</a:t>
            </a:r>
            <a:endParaRPr lang="en-US" sz="3000" dirty="0"/>
          </a:p>
        </p:txBody>
      </p:sp>
      <p:sp>
        <p:nvSpPr>
          <p:cNvPr id="6" name="Text 3"/>
          <p:cNvSpPr/>
          <p:nvPr/>
        </p:nvSpPr>
        <p:spPr>
          <a:xfrm>
            <a:off x="640080" y="1783080"/>
            <a:ext cx="10911535" cy="411480"/>
          </a:xfrm>
          <a:prstGeom prst="rect">
            <a:avLst/>
          </a:prstGeom>
          <a:noFill/>
          <a:ln/>
        </p:spPr>
        <p:txBody>
          <a:bodyPr wrap="square" lIns="0" tIns="0" rIns="0" bIns="0" rtlCol="0" anchor="ctr"/>
          <a:lstStyle/>
          <a:p>
            <a:pPr indent="0" marL="0">
              <a:buNone/>
            </a:pPr>
            <a:r>
              <a:rPr lang="en-US" sz="1300" i="1" dirty="0">
                <a:solidFill>
                  <a:srgbClr val="5C6F74"/>
                </a:solidFill>
                <a:latin typeface="Calibri" pitchFamily="34" charset="0"/>
                <a:ea typeface="Calibri" pitchFamily="34" charset="-122"/>
                <a:cs typeface="Calibri" pitchFamily="34" charset="-120"/>
              </a:rPr>
              <a:t>Clave para la defensa: el modelo es nuestro; los flujos no. Separamos con claridad cada input según su origen.</a:t>
            </a:r>
            <a:endParaRPr lang="en-US" sz="1300" dirty="0"/>
          </a:p>
        </p:txBody>
      </p:sp>
      <p:sp>
        <p:nvSpPr>
          <p:cNvPr id="7" name="Shape 4"/>
          <p:cNvSpPr/>
          <p:nvPr/>
        </p:nvSpPr>
        <p:spPr>
          <a:xfrm>
            <a:off x="640080" y="2331720"/>
            <a:ext cx="3423818" cy="3383280"/>
          </a:xfrm>
          <a:prstGeom prst="roundRect">
            <a:avLst>
              <a:gd name="adj" fmla="val 3243"/>
            </a:avLst>
          </a:prstGeom>
          <a:solidFill>
            <a:srgbClr val="FFFFFF"/>
          </a:solidFill>
          <a:ln/>
          <a:effectLst>
            <a:outerShdw sx="100000" sy="100000" kx="0" ky="0" algn="bl" rotWithShape="0" blurRad="114300" dist="38100" dir="8100000">
              <a:srgbClr val="0B2B33">
                <a:alpha val="14000"/>
              </a:srgbClr>
            </a:outerShdw>
          </a:effectLst>
        </p:spPr>
      </p:sp>
      <p:sp>
        <p:nvSpPr>
          <p:cNvPr id="8" name="Shape 5"/>
          <p:cNvSpPr/>
          <p:nvPr/>
        </p:nvSpPr>
        <p:spPr>
          <a:xfrm>
            <a:off x="896112" y="2606040"/>
            <a:ext cx="457200" cy="457200"/>
          </a:xfrm>
          <a:prstGeom prst="ellipse">
            <a:avLst/>
          </a:prstGeom>
          <a:solidFill>
            <a:srgbClr val="12A594"/>
          </a:solidFill>
          <a:ln/>
        </p:spPr>
      </p:sp>
      <p:pic>
        <p:nvPicPr>
          <p:cNvPr id="9" name="Image 1" descr="icons/university_white.png">    </p:cNvPr>
          <p:cNvPicPr>
            <a:picLocks noChangeAspect="1"/>
          </p:cNvPicPr>
          <p:nvPr/>
        </p:nvPicPr>
        <p:blipFill>
          <a:blip r:embed="rId2"/>
          <a:stretch>
            <a:fillRect/>
          </a:stretch>
        </p:blipFill>
        <p:spPr>
          <a:xfrm>
            <a:off x="1014984" y="2724912"/>
            <a:ext cx="219456" cy="219456"/>
          </a:xfrm>
          <a:prstGeom prst="rect">
            <a:avLst/>
          </a:prstGeom>
        </p:spPr>
      </p:pic>
      <p:sp>
        <p:nvSpPr>
          <p:cNvPr id="10" name="Text 6"/>
          <p:cNvSpPr/>
          <p:nvPr/>
        </p:nvSpPr>
        <p:spPr>
          <a:xfrm>
            <a:off x="1463040" y="2642616"/>
            <a:ext cx="2463698" cy="457200"/>
          </a:xfrm>
          <a:prstGeom prst="rect">
            <a:avLst/>
          </a:prstGeom>
          <a:noFill/>
          <a:ln/>
        </p:spPr>
        <p:txBody>
          <a:bodyPr wrap="square" lIns="0" tIns="0" rIns="0" bIns="0" rtlCol="0" anchor="ctr"/>
          <a:lstStyle/>
          <a:p>
            <a:pPr indent="0" marL="0">
              <a:lnSpc>
                <a:spcPct val="95000"/>
              </a:lnSpc>
              <a:buNone/>
            </a:pPr>
            <a:r>
              <a:rPr lang="en-US" sz="1150" b="1" spc="50" kern="0" dirty="0">
                <a:solidFill>
                  <a:srgbClr val="12A594"/>
                </a:solidFill>
                <a:latin typeface="Calibri" pitchFamily="34" charset="0"/>
                <a:ea typeface="Calibri" pitchFamily="34" charset="-122"/>
                <a:cs typeface="Calibri" pitchFamily="34" charset="-120"/>
              </a:rPr>
              <a:t>DATO · CÁTEDRA</a:t>
            </a:r>
            <a:endParaRPr lang="en-US" sz="1150" dirty="0"/>
          </a:p>
        </p:txBody>
      </p:sp>
      <p:sp>
        <p:nvSpPr>
          <p:cNvPr id="11" name="Text 7"/>
          <p:cNvSpPr/>
          <p:nvPr/>
        </p:nvSpPr>
        <p:spPr>
          <a:xfrm>
            <a:off x="914400" y="3291840"/>
            <a:ext cx="2875178" cy="2286000"/>
          </a:xfrm>
          <a:prstGeom prst="rect">
            <a:avLst/>
          </a:prstGeom>
          <a:noFill/>
          <a:ln/>
        </p:spPr>
        <p:txBody>
          <a:bodyPr wrap="square" lIns="0" tIns="0" rIns="0" bIns="0" rtlCol="0" anchor="t"/>
          <a:lstStyle/>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FCF proyectados 2026-2030</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(USD 153.206 M → 218.334 M)</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Valor terminal de referencia</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(Excel cátedra: USD 3,86 T)</a:t>
            </a:r>
            <a:endParaRPr lang="en-US" sz="1150" dirty="0"/>
          </a:p>
        </p:txBody>
      </p:sp>
      <p:sp>
        <p:nvSpPr>
          <p:cNvPr id="12" name="Shape 8"/>
          <p:cNvSpPr/>
          <p:nvPr/>
        </p:nvSpPr>
        <p:spPr>
          <a:xfrm>
            <a:off x="4383938" y="2331720"/>
            <a:ext cx="3423818" cy="3383280"/>
          </a:xfrm>
          <a:prstGeom prst="roundRect">
            <a:avLst>
              <a:gd name="adj" fmla="val 3243"/>
            </a:avLst>
          </a:prstGeom>
          <a:solidFill>
            <a:srgbClr val="FFFFFF"/>
          </a:solidFill>
          <a:ln/>
          <a:effectLst>
            <a:outerShdw sx="100000" sy="100000" kx="0" ky="0" algn="bl" rotWithShape="0" blurRad="114300" dist="38100" dir="8100000">
              <a:srgbClr val="0B2B33">
                <a:alpha val="14000"/>
              </a:srgbClr>
            </a:outerShdw>
          </a:effectLst>
        </p:spPr>
      </p:sp>
      <p:sp>
        <p:nvSpPr>
          <p:cNvPr id="13" name="Shape 9"/>
          <p:cNvSpPr/>
          <p:nvPr/>
        </p:nvSpPr>
        <p:spPr>
          <a:xfrm>
            <a:off x="4639970" y="2606040"/>
            <a:ext cx="457200" cy="457200"/>
          </a:xfrm>
          <a:prstGeom prst="ellipse">
            <a:avLst/>
          </a:prstGeom>
          <a:solidFill>
            <a:srgbClr val="5C6F74"/>
          </a:solidFill>
          <a:ln/>
        </p:spPr>
      </p:sp>
      <p:pic>
        <p:nvPicPr>
          <p:cNvPr id="14" name="Image 2" descr="icons/chartarea_white.png">    </p:cNvPr>
          <p:cNvPicPr>
            <a:picLocks noChangeAspect="1"/>
          </p:cNvPicPr>
          <p:nvPr/>
        </p:nvPicPr>
        <p:blipFill>
          <a:blip r:embed="rId3"/>
          <a:stretch>
            <a:fillRect/>
          </a:stretch>
        </p:blipFill>
        <p:spPr>
          <a:xfrm>
            <a:off x="4758842" y="2724912"/>
            <a:ext cx="219456" cy="219456"/>
          </a:xfrm>
          <a:prstGeom prst="rect">
            <a:avLst/>
          </a:prstGeom>
        </p:spPr>
      </p:pic>
      <p:sp>
        <p:nvSpPr>
          <p:cNvPr id="15" name="Text 10"/>
          <p:cNvSpPr/>
          <p:nvPr/>
        </p:nvSpPr>
        <p:spPr>
          <a:xfrm>
            <a:off x="5206898" y="2642616"/>
            <a:ext cx="2463698" cy="457200"/>
          </a:xfrm>
          <a:prstGeom prst="rect">
            <a:avLst/>
          </a:prstGeom>
          <a:noFill/>
          <a:ln/>
        </p:spPr>
        <p:txBody>
          <a:bodyPr wrap="square" lIns="0" tIns="0" rIns="0" bIns="0" rtlCol="0" anchor="ctr"/>
          <a:lstStyle/>
          <a:p>
            <a:pPr indent="0" marL="0">
              <a:lnSpc>
                <a:spcPct val="95000"/>
              </a:lnSpc>
              <a:buNone/>
            </a:pPr>
            <a:r>
              <a:rPr lang="en-US" sz="1150" b="1" spc="50" kern="0" dirty="0">
                <a:solidFill>
                  <a:srgbClr val="5C6F74"/>
                </a:solidFill>
                <a:latin typeface="Calibri" pitchFamily="34" charset="0"/>
                <a:ea typeface="Calibri" pitchFamily="34" charset="-122"/>
                <a:cs typeface="Calibri" pitchFamily="34" charset="-120"/>
              </a:rPr>
              <a:t>MERCADO · Yahoo / Damodaran</a:t>
            </a:r>
            <a:endParaRPr lang="en-US" sz="1150" dirty="0"/>
          </a:p>
        </p:txBody>
      </p:sp>
      <p:sp>
        <p:nvSpPr>
          <p:cNvPr id="16" name="Text 11"/>
          <p:cNvSpPr/>
          <p:nvPr/>
        </p:nvSpPr>
        <p:spPr>
          <a:xfrm>
            <a:off x="4658258" y="3291840"/>
            <a:ext cx="2875178" cy="2286000"/>
          </a:xfrm>
          <a:prstGeom prst="rect">
            <a:avLst/>
          </a:prstGeom>
          <a:noFill/>
          <a:ln/>
        </p:spPr>
        <p:txBody>
          <a:bodyPr wrap="square" lIns="0" tIns="0" rIns="0" bIns="0" rtlCol="0" anchor="t"/>
          <a:lstStyle/>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Precio USD 312,06 · 14,69 B acciones</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Deuda 98,7 B · caja 132,4 B → caja neta</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Rating Aa1/AA+ → spread 26 bps</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Rf 4,32% · ERP 4,77% (Damodaran abr-26)</a:t>
            </a:r>
            <a:endParaRPr lang="en-US" sz="1150" dirty="0"/>
          </a:p>
        </p:txBody>
      </p:sp>
      <p:sp>
        <p:nvSpPr>
          <p:cNvPr id="17" name="Shape 12"/>
          <p:cNvSpPr/>
          <p:nvPr/>
        </p:nvSpPr>
        <p:spPr>
          <a:xfrm>
            <a:off x="8127797" y="2331720"/>
            <a:ext cx="3423818" cy="3383280"/>
          </a:xfrm>
          <a:prstGeom prst="roundRect">
            <a:avLst>
              <a:gd name="adj" fmla="val 3243"/>
            </a:avLst>
          </a:prstGeom>
          <a:solidFill>
            <a:srgbClr val="FFFFFF"/>
          </a:solidFill>
          <a:ln/>
          <a:effectLst>
            <a:outerShdw sx="100000" sy="100000" kx="0" ky="0" algn="bl" rotWithShape="0" blurRad="114300" dist="38100" dir="8100000">
              <a:srgbClr val="0B2B33">
                <a:alpha val="14000"/>
              </a:srgbClr>
            </a:outerShdw>
          </a:effectLst>
        </p:spPr>
      </p:sp>
      <p:sp>
        <p:nvSpPr>
          <p:cNvPr id="18" name="Shape 13"/>
          <p:cNvSpPr/>
          <p:nvPr/>
        </p:nvSpPr>
        <p:spPr>
          <a:xfrm>
            <a:off x="8383829" y="2606040"/>
            <a:ext cx="457200" cy="457200"/>
          </a:xfrm>
          <a:prstGeom prst="ellipse">
            <a:avLst/>
          </a:prstGeom>
          <a:solidFill>
            <a:srgbClr val="F2A516"/>
          </a:solidFill>
          <a:ln/>
        </p:spPr>
      </p:sp>
      <p:pic>
        <p:nvPicPr>
          <p:cNvPr id="19" name="Image 3" descr="icons/useredit_ink.png">    </p:cNvPr>
          <p:cNvPicPr>
            <a:picLocks noChangeAspect="1"/>
          </p:cNvPicPr>
          <p:nvPr/>
        </p:nvPicPr>
        <p:blipFill>
          <a:blip r:embed="rId4"/>
          <a:stretch>
            <a:fillRect/>
          </a:stretch>
        </p:blipFill>
        <p:spPr>
          <a:xfrm>
            <a:off x="8502701" y="2724912"/>
            <a:ext cx="219456" cy="219456"/>
          </a:xfrm>
          <a:prstGeom prst="rect">
            <a:avLst/>
          </a:prstGeom>
        </p:spPr>
      </p:pic>
      <p:sp>
        <p:nvSpPr>
          <p:cNvPr id="20" name="Text 14"/>
          <p:cNvSpPr/>
          <p:nvPr/>
        </p:nvSpPr>
        <p:spPr>
          <a:xfrm>
            <a:off x="8950757" y="2642616"/>
            <a:ext cx="2463698" cy="457200"/>
          </a:xfrm>
          <a:prstGeom prst="rect">
            <a:avLst/>
          </a:prstGeom>
          <a:noFill/>
          <a:ln/>
        </p:spPr>
        <p:txBody>
          <a:bodyPr wrap="square" lIns="0" tIns="0" rIns="0" bIns="0" rtlCol="0" anchor="ctr"/>
          <a:lstStyle/>
          <a:p>
            <a:pPr indent="0" marL="0">
              <a:lnSpc>
                <a:spcPct val="95000"/>
              </a:lnSpc>
              <a:buNone/>
            </a:pPr>
            <a:r>
              <a:rPr lang="en-US" sz="1150" b="1" spc="50" kern="0" dirty="0">
                <a:solidFill>
                  <a:srgbClr val="C77F00"/>
                </a:solidFill>
                <a:latin typeface="Calibri" pitchFamily="34" charset="0"/>
                <a:ea typeface="Calibri" pitchFamily="34" charset="-122"/>
                <a:cs typeface="Calibri" pitchFamily="34" charset="-120"/>
              </a:rPr>
              <a:t>NUESTRA DECISIÓN</a:t>
            </a:r>
            <a:endParaRPr lang="en-US" sz="1150" dirty="0"/>
          </a:p>
        </p:txBody>
      </p:sp>
      <p:sp>
        <p:nvSpPr>
          <p:cNvPr id="21" name="Text 15"/>
          <p:cNvSpPr/>
          <p:nvPr/>
        </p:nvSpPr>
        <p:spPr>
          <a:xfrm>
            <a:off x="8402117" y="3291840"/>
            <a:ext cx="2875178" cy="2286000"/>
          </a:xfrm>
          <a:prstGeom prst="rect">
            <a:avLst/>
          </a:prstGeom>
          <a:noFill/>
          <a:ln/>
        </p:spPr>
        <p:txBody>
          <a:bodyPr wrap="square" lIns="0" tIns="0" rIns="0" bIns="0" rtlCol="0" anchor="t"/>
          <a:lstStyle/>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g perpetuo = 3,0%</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Beta ajustado por Blume (no reapalancar)</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ERP implícito (forward-looking)</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Kd synthetic + tax efectiva</a:t>
            </a:r>
            <a:endParaRPr lang="en-US" sz="1150" dirty="0"/>
          </a:p>
          <a:p>
            <a:pPr marL="177800" indent="-177800">
              <a:lnSpc>
                <a:spcPct val="98000"/>
              </a:lnSpc>
              <a:spcAft>
                <a:spcPts val="1000"/>
              </a:spcAft>
              <a:buSzPct val="100000"/>
              <a:buChar char="•"/>
            </a:pPr>
            <a:r>
              <a:rPr lang="en-US" sz="1150" dirty="0">
                <a:solidFill>
                  <a:srgbClr val="10282E"/>
                </a:solidFill>
                <a:latin typeface="Calibri" pitchFamily="34" charset="0"/>
                <a:ea typeface="Calibri" pitchFamily="34" charset="-122"/>
                <a:cs typeface="Calibri" pitchFamily="34" charset="-120"/>
              </a:rPr>
              <a:t>Pesos a valor de mercado · escenarios</a:t>
            </a:r>
            <a:endParaRPr lang="en-US" sz="1150" dirty="0"/>
          </a:p>
        </p:txBody>
      </p:sp>
      <p:sp>
        <p:nvSpPr>
          <p:cNvPr id="22" name="Text 16"/>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3" name="Text 17"/>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7589520" y="548640"/>
            <a:ext cx="4754880" cy="5760720"/>
          </a:xfrm>
          <a:prstGeom prst="rect">
            <a:avLst/>
          </a:prstGeom>
          <a:noFill/>
          <a:ln/>
        </p:spPr>
        <p:txBody>
          <a:bodyPr wrap="square" lIns="0" tIns="0" rIns="0" bIns="0" rtlCol="0" anchor="ctr"/>
          <a:lstStyle/>
          <a:p>
            <a:pPr algn="r" indent="0" marL="0">
              <a:buNone/>
            </a:pPr>
            <a:r>
              <a:rPr lang="en-US" sz="30000" b="1" dirty="0">
                <a:solidFill>
                  <a:srgbClr val="0F3A44"/>
                </a:solidFill>
                <a:latin typeface="Georgia" pitchFamily="34" charset="0"/>
                <a:ea typeface="Georgia" pitchFamily="34" charset="-122"/>
                <a:cs typeface="Georgia" pitchFamily="34" charset="-120"/>
              </a:rPr>
              <a:t>01</a:t>
            </a:r>
            <a:endParaRPr lang="en-US" sz="30000" dirty="0"/>
          </a:p>
        </p:txBody>
      </p:sp>
      <p:sp>
        <p:nvSpPr>
          <p:cNvPr id="3" name="Shape 1"/>
          <p:cNvSpPr/>
          <p:nvPr/>
        </p:nvSpPr>
        <p:spPr>
          <a:xfrm>
            <a:off x="640080" y="2148840"/>
            <a:ext cx="960120" cy="960120"/>
          </a:xfrm>
          <a:prstGeom prst="ellipse">
            <a:avLst/>
          </a:prstGeom>
          <a:solidFill>
            <a:srgbClr val="12A594"/>
          </a:solidFill>
          <a:ln/>
        </p:spPr>
      </p:sp>
      <p:pic>
        <p:nvPicPr>
          <p:cNvPr id="4" name="Image 0" descr="icons/globe_white.png">    </p:cNvPr>
          <p:cNvPicPr>
            <a:picLocks noChangeAspect="1"/>
          </p:cNvPicPr>
          <p:nvPr/>
        </p:nvPicPr>
        <p:blipFill>
          <a:blip r:embed="rId1"/>
          <a:stretch>
            <a:fillRect/>
          </a:stretch>
        </p:blipFill>
        <p:spPr>
          <a:xfrm>
            <a:off x="914400" y="2423160"/>
            <a:ext cx="411480" cy="411480"/>
          </a:xfrm>
          <a:prstGeom prst="rect">
            <a:avLst/>
          </a:prstGeom>
        </p:spPr>
      </p:pic>
      <p:sp>
        <p:nvSpPr>
          <p:cNvPr id="5" name="Text 2"/>
          <p:cNvSpPr/>
          <p:nvPr/>
        </p:nvSpPr>
        <p:spPr>
          <a:xfrm>
            <a:off x="640080" y="3337560"/>
            <a:ext cx="731520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BLOQUE 01 · CONTEXTO</a:t>
            </a:r>
            <a:endParaRPr lang="en-US" sz="1300" dirty="0"/>
          </a:p>
        </p:txBody>
      </p:sp>
      <p:sp>
        <p:nvSpPr>
          <p:cNvPr id="6" name="Text 3"/>
          <p:cNvSpPr/>
          <p:nvPr/>
        </p:nvSpPr>
        <p:spPr>
          <a:xfrm>
            <a:off x="640080" y="3703320"/>
            <a:ext cx="7315200" cy="118872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Georgia" pitchFamily="34" charset="0"/>
                <a:ea typeface="Georgia" pitchFamily="34" charset="-122"/>
                <a:cs typeface="Georgia" pitchFamily="34" charset="-120"/>
              </a:rPr>
              <a:t>Apple Inc. en un vistazo</a:t>
            </a:r>
            <a:endParaRPr lang="en-US" sz="3800" dirty="0"/>
          </a:p>
        </p:txBody>
      </p:sp>
      <p:sp>
        <p:nvSpPr>
          <p:cNvPr id="7" name="Text 4"/>
          <p:cNvSpPr/>
          <p:nvPr/>
        </p:nvSpPr>
        <p:spPr>
          <a:xfrm>
            <a:off x="640080" y="5029200"/>
            <a:ext cx="6949440" cy="731520"/>
          </a:xfrm>
          <a:prstGeom prst="rect">
            <a:avLst/>
          </a:prstGeom>
          <a:noFill/>
          <a:ln/>
        </p:spPr>
        <p:txBody>
          <a:bodyPr wrap="square" lIns="0" tIns="0" rIns="0" bIns="0" rtlCol="0" anchor="ctr"/>
          <a:lstStyle/>
          <a:p>
            <a:pPr indent="0" marL="0">
              <a:lnSpc>
                <a:spcPct val="110000"/>
              </a:lnSpc>
              <a:buNone/>
            </a:pPr>
            <a:r>
              <a:rPr lang="en-US" sz="1400" dirty="0">
                <a:solidFill>
                  <a:srgbClr val="9FC3C0"/>
                </a:solidFill>
                <a:latin typeface="Calibri" pitchFamily="34" charset="0"/>
                <a:ea typeface="Calibri" pitchFamily="34" charset="-122"/>
                <a:cs typeface="Calibri" pitchFamily="34" charset="-120"/>
              </a:rPr>
              <a:t>El negocio detrás de los números: de dónde viene la plata y por qué eso fija el múltiplo.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apple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LA EMPRESA</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El gigante que vamos a valuar</a:t>
            </a:r>
            <a:endParaRPr lang="en-US" sz="3000" dirty="0"/>
          </a:p>
        </p:txBody>
      </p:sp>
      <p:sp>
        <p:nvSpPr>
          <p:cNvPr id="6" name="Shape 3"/>
          <p:cNvSpPr/>
          <p:nvPr/>
        </p:nvSpPr>
        <p:spPr>
          <a:xfrm>
            <a:off x="640080" y="2011680"/>
            <a:ext cx="3200400" cy="1280160"/>
          </a:xfrm>
          <a:prstGeom prst="roundRect">
            <a:avLst>
              <a:gd name="adj" fmla="val 7143"/>
            </a:avLst>
          </a:prstGeom>
          <a:solidFill>
            <a:srgbClr val="FFFFFF"/>
          </a:solidFill>
          <a:ln/>
          <a:effectLst>
            <a:outerShdw sx="100000" sy="100000" kx="0" ky="0" algn="bl" rotWithShape="0" blurRad="114300" dist="38100" dir="8100000">
              <a:srgbClr val="0B2B33">
                <a:alpha val="14000"/>
              </a:srgbClr>
            </a:outerShdw>
          </a:effectLst>
        </p:spPr>
      </p:sp>
      <p:sp>
        <p:nvSpPr>
          <p:cNvPr id="7" name="Text 4"/>
          <p:cNvSpPr/>
          <p:nvPr/>
        </p:nvSpPr>
        <p:spPr>
          <a:xfrm>
            <a:off x="914400" y="2176272"/>
            <a:ext cx="2651760" cy="566928"/>
          </a:xfrm>
          <a:prstGeom prst="rect">
            <a:avLst/>
          </a:prstGeom>
          <a:noFill/>
          <a:ln/>
        </p:spPr>
        <p:txBody>
          <a:bodyPr wrap="square" lIns="0" tIns="0" rIns="0" bIns="0" rtlCol="0" anchor="b"/>
          <a:lstStyle/>
          <a:p>
            <a:pPr algn="l" indent="0" marL="0">
              <a:buNone/>
            </a:pPr>
            <a:r>
              <a:rPr lang="en-US" sz="3000" b="1" dirty="0">
                <a:solidFill>
                  <a:srgbClr val="0B2B33"/>
                </a:solidFill>
                <a:latin typeface="Georgia" pitchFamily="34" charset="0"/>
                <a:ea typeface="Georgia" pitchFamily="34" charset="-122"/>
                <a:cs typeface="Georgia" pitchFamily="34" charset="-120"/>
              </a:rPr>
              <a:t>USD 4,58 B</a:t>
            </a:r>
            <a:endParaRPr lang="en-US" sz="3000" dirty="0"/>
          </a:p>
        </p:txBody>
      </p:sp>
      <p:sp>
        <p:nvSpPr>
          <p:cNvPr id="8" name="Text 5"/>
          <p:cNvSpPr/>
          <p:nvPr/>
        </p:nvSpPr>
        <p:spPr>
          <a:xfrm>
            <a:off x="914400" y="2743200"/>
            <a:ext cx="2651760" cy="36576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Capitalización de mercado</a:t>
            </a:r>
            <a:endParaRPr lang="en-US" sz="1100" dirty="0"/>
          </a:p>
        </p:txBody>
      </p:sp>
      <p:sp>
        <p:nvSpPr>
          <p:cNvPr id="9" name="Shape 6"/>
          <p:cNvSpPr/>
          <p:nvPr/>
        </p:nvSpPr>
        <p:spPr>
          <a:xfrm>
            <a:off x="4114800" y="2011680"/>
            <a:ext cx="3200400" cy="1280160"/>
          </a:xfrm>
          <a:prstGeom prst="roundRect">
            <a:avLst>
              <a:gd name="adj" fmla="val 7143"/>
            </a:avLst>
          </a:prstGeom>
          <a:solidFill>
            <a:srgbClr val="FFFFFF"/>
          </a:solidFill>
          <a:ln/>
          <a:effectLst>
            <a:outerShdw sx="100000" sy="100000" kx="0" ky="0" algn="bl" rotWithShape="0" blurRad="114300" dist="38100" dir="8100000">
              <a:srgbClr val="0B2B33">
                <a:alpha val="14000"/>
              </a:srgbClr>
            </a:outerShdw>
          </a:effectLst>
        </p:spPr>
      </p:sp>
      <p:sp>
        <p:nvSpPr>
          <p:cNvPr id="10" name="Text 7"/>
          <p:cNvSpPr/>
          <p:nvPr/>
        </p:nvSpPr>
        <p:spPr>
          <a:xfrm>
            <a:off x="4389120" y="2176272"/>
            <a:ext cx="2651760" cy="566928"/>
          </a:xfrm>
          <a:prstGeom prst="rect">
            <a:avLst/>
          </a:prstGeom>
          <a:noFill/>
          <a:ln/>
        </p:spPr>
        <p:txBody>
          <a:bodyPr wrap="square" lIns="0" tIns="0" rIns="0" bIns="0" rtlCol="0" anchor="b"/>
          <a:lstStyle/>
          <a:p>
            <a:pPr algn="l" indent="0" marL="0">
              <a:buNone/>
            </a:pPr>
            <a:r>
              <a:rPr lang="en-US" sz="3000" b="1" dirty="0">
                <a:solidFill>
                  <a:srgbClr val="E5544E"/>
                </a:solidFill>
                <a:latin typeface="Georgia" pitchFamily="34" charset="0"/>
                <a:ea typeface="Georgia" pitchFamily="34" charset="-122"/>
                <a:cs typeface="Georgia" pitchFamily="34" charset="-120"/>
              </a:rPr>
              <a:t>USD 312,06</a:t>
            </a:r>
            <a:endParaRPr lang="en-US" sz="3000" dirty="0"/>
          </a:p>
        </p:txBody>
      </p:sp>
      <p:sp>
        <p:nvSpPr>
          <p:cNvPr id="11" name="Text 8"/>
          <p:cNvSpPr/>
          <p:nvPr/>
        </p:nvSpPr>
        <p:spPr>
          <a:xfrm>
            <a:off x="4389120" y="2743200"/>
            <a:ext cx="2651760" cy="36576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Precio por acción</a:t>
            </a:r>
            <a:endParaRPr lang="en-US" sz="1100" dirty="0"/>
          </a:p>
        </p:txBody>
      </p:sp>
      <p:sp>
        <p:nvSpPr>
          <p:cNvPr id="12" name="Shape 9"/>
          <p:cNvSpPr/>
          <p:nvPr/>
        </p:nvSpPr>
        <p:spPr>
          <a:xfrm>
            <a:off x="640080" y="3566160"/>
            <a:ext cx="3200400" cy="1280160"/>
          </a:xfrm>
          <a:prstGeom prst="roundRect">
            <a:avLst>
              <a:gd name="adj" fmla="val 7143"/>
            </a:avLst>
          </a:prstGeom>
          <a:solidFill>
            <a:srgbClr val="FFFFFF"/>
          </a:solidFill>
          <a:ln/>
          <a:effectLst>
            <a:outerShdw sx="100000" sy="100000" kx="0" ky="0" algn="bl" rotWithShape="0" blurRad="114300" dist="38100" dir="8100000">
              <a:srgbClr val="0B2B33">
                <a:alpha val="14000"/>
              </a:srgbClr>
            </a:outerShdw>
          </a:effectLst>
        </p:spPr>
      </p:sp>
      <p:sp>
        <p:nvSpPr>
          <p:cNvPr id="13" name="Text 10"/>
          <p:cNvSpPr/>
          <p:nvPr/>
        </p:nvSpPr>
        <p:spPr>
          <a:xfrm>
            <a:off x="914400" y="3730752"/>
            <a:ext cx="2651760" cy="566928"/>
          </a:xfrm>
          <a:prstGeom prst="rect">
            <a:avLst/>
          </a:prstGeom>
          <a:noFill/>
          <a:ln/>
        </p:spPr>
        <p:txBody>
          <a:bodyPr wrap="square" lIns="0" tIns="0" rIns="0" bIns="0" rtlCol="0" anchor="b"/>
          <a:lstStyle/>
          <a:p>
            <a:pPr algn="l" indent="0" marL="0">
              <a:buNone/>
            </a:pPr>
            <a:r>
              <a:rPr lang="en-US" sz="3000" b="1" dirty="0">
                <a:solidFill>
                  <a:srgbClr val="0B2B33"/>
                </a:solidFill>
                <a:latin typeface="Georgia" pitchFamily="34" charset="0"/>
                <a:ea typeface="Georgia" pitchFamily="34" charset="-122"/>
                <a:cs typeface="Georgia" pitchFamily="34" charset="-120"/>
              </a:rPr>
              <a:t>37,7x</a:t>
            </a:r>
            <a:endParaRPr lang="en-US" sz="3000" dirty="0"/>
          </a:p>
        </p:txBody>
      </p:sp>
      <p:sp>
        <p:nvSpPr>
          <p:cNvPr id="14" name="Text 11"/>
          <p:cNvSpPr/>
          <p:nvPr/>
        </p:nvSpPr>
        <p:spPr>
          <a:xfrm>
            <a:off x="914400" y="4297680"/>
            <a:ext cx="2651760" cy="36576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P/E (TTM)</a:t>
            </a:r>
            <a:endParaRPr lang="en-US" sz="1100" dirty="0"/>
          </a:p>
        </p:txBody>
      </p:sp>
      <p:sp>
        <p:nvSpPr>
          <p:cNvPr id="15" name="Shape 12"/>
          <p:cNvSpPr/>
          <p:nvPr/>
        </p:nvSpPr>
        <p:spPr>
          <a:xfrm>
            <a:off x="4114800" y="3566160"/>
            <a:ext cx="3200400" cy="1280160"/>
          </a:xfrm>
          <a:prstGeom prst="roundRect">
            <a:avLst>
              <a:gd name="adj" fmla="val 7143"/>
            </a:avLst>
          </a:prstGeom>
          <a:solidFill>
            <a:srgbClr val="FFFFFF"/>
          </a:solidFill>
          <a:ln/>
          <a:effectLst>
            <a:outerShdw sx="100000" sy="100000" kx="0" ky="0" algn="bl" rotWithShape="0" blurRad="114300" dist="38100" dir="8100000">
              <a:srgbClr val="0B2B33">
                <a:alpha val="14000"/>
              </a:srgbClr>
            </a:outerShdw>
          </a:effectLst>
        </p:spPr>
      </p:sp>
      <p:sp>
        <p:nvSpPr>
          <p:cNvPr id="16" name="Text 13"/>
          <p:cNvSpPr/>
          <p:nvPr/>
        </p:nvSpPr>
        <p:spPr>
          <a:xfrm>
            <a:off x="4389120" y="3730752"/>
            <a:ext cx="2651760" cy="566928"/>
          </a:xfrm>
          <a:prstGeom prst="rect">
            <a:avLst/>
          </a:prstGeom>
          <a:noFill/>
          <a:ln/>
        </p:spPr>
        <p:txBody>
          <a:bodyPr wrap="square" lIns="0" tIns="0" rIns="0" bIns="0" rtlCol="0" anchor="b"/>
          <a:lstStyle/>
          <a:p>
            <a:pPr algn="l" indent="0" marL="0">
              <a:buNone/>
            </a:pPr>
            <a:r>
              <a:rPr lang="en-US" sz="3000" b="1" dirty="0">
                <a:solidFill>
                  <a:srgbClr val="0B2B33"/>
                </a:solidFill>
                <a:latin typeface="Georgia" pitchFamily="34" charset="0"/>
                <a:ea typeface="Georgia" pitchFamily="34" charset="-122"/>
                <a:cs typeface="Georgia" pitchFamily="34" charset="-120"/>
              </a:rPr>
              <a:t>166.000</a:t>
            </a:r>
            <a:endParaRPr lang="en-US" sz="3000" dirty="0"/>
          </a:p>
        </p:txBody>
      </p:sp>
      <p:sp>
        <p:nvSpPr>
          <p:cNvPr id="17" name="Text 14"/>
          <p:cNvSpPr/>
          <p:nvPr/>
        </p:nvSpPr>
        <p:spPr>
          <a:xfrm>
            <a:off x="4389120" y="4297680"/>
            <a:ext cx="2651760" cy="36576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Empleados</a:t>
            </a:r>
            <a:endParaRPr lang="en-US" sz="1100" dirty="0"/>
          </a:p>
        </p:txBody>
      </p:sp>
      <p:sp>
        <p:nvSpPr>
          <p:cNvPr id="18" name="Shape 15"/>
          <p:cNvSpPr/>
          <p:nvPr/>
        </p:nvSpPr>
        <p:spPr>
          <a:xfrm>
            <a:off x="7680960" y="2011680"/>
            <a:ext cx="3870655" cy="3749040"/>
          </a:xfrm>
          <a:prstGeom prst="roundRect">
            <a:avLst>
              <a:gd name="adj" fmla="val 2927"/>
            </a:avLst>
          </a:prstGeom>
          <a:solidFill>
            <a:srgbClr val="0B2B33"/>
          </a:solidFill>
          <a:ln/>
          <a:effectLst>
            <a:outerShdw sx="100000" sy="100000" kx="0" ky="0" algn="bl" rotWithShape="0" blurRad="114300" dist="38100" dir="8100000">
              <a:srgbClr val="0B2B33">
                <a:alpha val="14000"/>
              </a:srgbClr>
            </a:outerShdw>
          </a:effectLst>
        </p:spPr>
      </p:sp>
      <p:sp>
        <p:nvSpPr>
          <p:cNvPr id="19" name="Text 16"/>
          <p:cNvSpPr/>
          <p:nvPr/>
        </p:nvSpPr>
        <p:spPr>
          <a:xfrm>
            <a:off x="8001000" y="2286000"/>
            <a:ext cx="3230575" cy="365760"/>
          </a:xfrm>
          <a:prstGeom prst="rect">
            <a:avLst/>
          </a:prstGeom>
          <a:noFill/>
          <a:ln/>
        </p:spPr>
        <p:txBody>
          <a:bodyPr wrap="square" lIns="0" tIns="0" rIns="0" bIns="0" rtlCol="0" anchor="ctr"/>
          <a:lstStyle/>
          <a:p>
            <a:pPr indent="0" marL="0">
              <a:buNone/>
            </a:pPr>
            <a:r>
              <a:rPr lang="en-US" sz="1200" b="1" spc="100" kern="0" dirty="0">
                <a:solidFill>
                  <a:srgbClr val="12A594"/>
                </a:solidFill>
                <a:latin typeface="Calibri" pitchFamily="34" charset="0"/>
                <a:ea typeface="Calibri" pitchFamily="34" charset="-122"/>
                <a:cs typeface="Calibri" pitchFamily="34" charset="-120"/>
              </a:rPr>
              <a:t>Consumer Electronics · Technology</a:t>
            </a:r>
            <a:endParaRPr lang="en-US" sz="1200" dirty="0"/>
          </a:p>
        </p:txBody>
      </p:sp>
      <p:sp>
        <p:nvSpPr>
          <p:cNvPr id="20" name="Text 17"/>
          <p:cNvSpPr/>
          <p:nvPr/>
        </p:nvSpPr>
        <p:spPr>
          <a:xfrm>
            <a:off x="8001000" y="2651760"/>
            <a:ext cx="3230575" cy="54864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El ecosistema como foso</a:t>
            </a:r>
            <a:endParaRPr lang="en-US" sz="2200" dirty="0"/>
          </a:p>
        </p:txBody>
      </p:sp>
      <p:sp>
        <p:nvSpPr>
          <p:cNvPr id="21" name="Text 18"/>
          <p:cNvSpPr/>
          <p:nvPr/>
        </p:nvSpPr>
        <p:spPr>
          <a:xfrm>
            <a:off x="8001000" y="3383280"/>
            <a:ext cx="3230575" cy="1371600"/>
          </a:xfrm>
          <a:prstGeom prst="rect">
            <a:avLst/>
          </a:prstGeom>
          <a:noFill/>
          <a:ln/>
        </p:spPr>
        <p:txBody>
          <a:bodyPr wrap="square" lIns="0" tIns="0" rIns="0" bIns="0" rtlCol="0" anchor="ctr"/>
          <a:lstStyle/>
          <a:p>
            <a:pPr indent="0" marL="0">
              <a:lnSpc>
                <a:spcPct val="112000"/>
              </a:lnSpc>
              <a:buNone/>
            </a:pPr>
            <a:r>
              <a:rPr lang="en-US" sz="1300" dirty="0">
                <a:solidFill>
                  <a:srgbClr val="9FC3C0"/>
                </a:solidFill>
                <a:latin typeface="Calibri" pitchFamily="34" charset="0"/>
                <a:ea typeface="Calibri" pitchFamily="34" charset="-122"/>
                <a:cs typeface="Calibri" pitchFamily="34" charset="-120"/>
              </a:rPr>
              <a:t>&gt;2.000 millones de dispositivos activos. El iPhone es la puerta de entrada; una vez dentro, Apple monetiza la base instalada con Servicios sin fabricar nada físico.</a:t>
            </a:r>
            <a:endParaRPr lang="en-US" sz="1300" dirty="0"/>
          </a:p>
        </p:txBody>
      </p:sp>
      <p:sp>
        <p:nvSpPr>
          <p:cNvPr id="22" name="Shape 19"/>
          <p:cNvSpPr/>
          <p:nvPr/>
        </p:nvSpPr>
        <p:spPr>
          <a:xfrm>
            <a:off x="8001000" y="5349240"/>
            <a:ext cx="3230575" cy="310896"/>
          </a:xfrm>
          <a:prstGeom prst="roundRect">
            <a:avLst>
              <a:gd name="adj" fmla="val 50000"/>
            </a:avLst>
          </a:prstGeom>
          <a:solidFill>
            <a:srgbClr val="5C6F74"/>
          </a:solidFill>
          <a:ln/>
        </p:spPr>
      </p:sp>
      <p:pic>
        <p:nvPicPr>
          <p:cNvPr id="23" name="Image 1" descr="icons/chartarea_white.png">    </p:cNvPr>
          <p:cNvPicPr>
            <a:picLocks noChangeAspect="1"/>
          </p:cNvPicPr>
          <p:nvPr/>
        </p:nvPicPr>
        <p:blipFill>
          <a:blip r:embed="rId2"/>
          <a:stretch>
            <a:fillRect/>
          </a:stretch>
        </p:blipFill>
        <p:spPr>
          <a:xfrm>
            <a:off x="8110728" y="5422392"/>
            <a:ext cx="164592" cy="164592"/>
          </a:xfrm>
          <a:prstGeom prst="rect">
            <a:avLst/>
          </a:prstGeom>
        </p:spPr>
      </p:pic>
      <p:sp>
        <p:nvSpPr>
          <p:cNvPr id="24" name="Text 20"/>
          <p:cNvSpPr/>
          <p:nvPr/>
        </p:nvSpPr>
        <p:spPr>
          <a:xfrm>
            <a:off x="8330184" y="5349240"/>
            <a:ext cx="2846527" cy="310896"/>
          </a:xfrm>
          <a:prstGeom prst="rect">
            <a:avLst/>
          </a:prstGeom>
          <a:noFill/>
          <a:ln/>
        </p:spPr>
        <p:txBody>
          <a:bodyPr wrap="square" lIns="0" tIns="0" rIns="0" bIns="0" rtlCol="0" anchor="ctr"/>
          <a:lstStyle/>
          <a:p>
            <a:pPr algn="l" indent="0" marL="0">
              <a:buNone/>
            </a:pPr>
            <a:r>
              <a:rPr lang="en-US" sz="950" b="1" spc="50" kern="0" dirty="0">
                <a:solidFill>
                  <a:srgbClr val="FFFFFF"/>
                </a:solidFill>
                <a:latin typeface="Calibri" pitchFamily="34" charset="0"/>
                <a:ea typeface="Calibri" pitchFamily="34" charset="-122"/>
                <a:cs typeface="Calibri" pitchFamily="34" charset="-120"/>
              </a:rPr>
              <a:t>Datos: Yahoo Finance (en vivo)</a:t>
            </a:r>
            <a:endParaRPr lang="en-US" sz="950" dirty="0"/>
          </a:p>
        </p:txBody>
      </p:sp>
      <p:sp>
        <p:nvSpPr>
          <p:cNvPr id="25" name="Text 21"/>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6" name="Text 22"/>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layer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MODELO DE NEGOCIO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Servicios: el verdadero motor de rentabilidad</a:t>
            </a:r>
            <a:endParaRPr lang="en-US" sz="3000" dirty="0"/>
          </a:p>
        </p:txBody>
      </p:sp>
      <p:sp>
        <p:nvSpPr>
          <p:cNvPr id="6" name="Shape 3"/>
          <p:cNvSpPr/>
          <p:nvPr/>
        </p:nvSpPr>
        <p:spPr>
          <a:xfrm>
            <a:off x="640080" y="1965960"/>
            <a:ext cx="5272888" cy="1828800"/>
          </a:xfrm>
          <a:prstGeom prst="roundRect">
            <a:avLst>
              <a:gd name="adj" fmla="val 6000"/>
            </a:avLst>
          </a:prstGeom>
          <a:solidFill>
            <a:srgbClr val="FFFFFF"/>
          </a:solidFill>
          <a:ln/>
          <a:effectLst>
            <a:outerShdw sx="100000" sy="100000" kx="0" ky="0" algn="bl" rotWithShape="0" blurRad="114300" dist="38100" dir="8100000">
              <a:srgbClr val="0B2B33">
                <a:alpha val="14000"/>
              </a:srgbClr>
            </a:outerShdw>
          </a:effectLst>
        </p:spPr>
      </p:sp>
      <p:sp>
        <p:nvSpPr>
          <p:cNvPr id="7" name="Shape 4"/>
          <p:cNvSpPr/>
          <p:nvPr/>
        </p:nvSpPr>
        <p:spPr>
          <a:xfrm>
            <a:off x="914400" y="2240280"/>
            <a:ext cx="502920" cy="502920"/>
          </a:xfrm>
          <a:prstGeom prst="ellipse">
            <a:avLst/>
          </a:prstGeom>
          <a:solidFill>
            <a:srgbClr val="0B2B33"/>
          </a:solidFill>
          <a:ln/>
        </p:spPr>
      </p:sp>
      <p:pic>
        <p:nvPicPr>
          <p:cNvPr id="8" name="Image 1" descr="icons/mobile_white.png">    </p:cNvPr>
          <p:cNvPicPr>
            <a:picLocks noChangeAspect="1"/>
          </p:cNvPicPr>
          <p:nvPr/>
        </p:nvPicPr>
        <p:blipFill>
          <a:blip r:embed="rId2"/>
          <a:stretch>
            <a:fillRect/>
          </a:stretch>
        </p:blipFill>
        <p:spPr>
          <a:xfrm>
            <a:off x="1060704" y="2377440"/>
            <a:ext cx="210312" cy="228600"/>
          </a:xfrm>
          <a:prstGeom prst="rect">
            <a:avLst/>
          </a:prstGeom>
        </p:spPr>
      </p:pic>
      <p:sp>
        <p:nvSpPr>
          <p:cNvPr id="9" name="Text 5"/>
          <p:cNvSpPr/>
          <p:nvPr/>
        </p:nvSpPr>
        <p:spPr>
          <a:xfrm>
            <a:off x="1554480" y="2240280"/>
            <a:ext cx="4084168" cy="502920"/>
          </a:xfrm>
          <a:prstGeom prst="rect">
            <a:avLst/>
          </a:prstGeom>
          <a:noFill/>
          <a:ln/>
        </p:spPr>
        <p:txBody>
          <a:bodyPr wrap="square" lIns="0" tIns="0" rIns="0" bIns="0" rtlCol="0" anchor="ctr"/>
          <a:lstStyle/>
          <a:p>
            <a:pPr indent="0" marL="0">
              <a:buNone/>
            </a:pPr>
            <a:r>
              <a:rPr lang="en-US" sz="1700" b="1" dirty="0">
                <a:solidFill>
                  <a:srgbClr val="0B2B33"/>
                </a:solidFill>
                <a:latin typeface="Calibri" pitchFamily="34" charset="0"/>
                <a:ea typeface="Calibri" pitchFamily="34" charset="-122"/>
                <a:cs typeface="Calibri" pitchFamily="34" charset="-120"/>
              </a:rPr>
              <a:t>Productos  </a:t>
            </a:r>
            <a:pPr indent="0" marL="0">
              <a:buNone/>
            </a:pPr>
            <a:r>
              <a:rPr lang="en-US" sz="1200" dirty="0">
                <a:solidFill>
                  <a:srgbClr val="5C6F74"/>
                </a:solidFill>
                <a:latin typeface="Calibri" pitchFamily="34" charset="0"/>
                <a:ea typeface="Calibri" pitchFamily="34" charset="-122"/>
                <a:cs typeface="Calibri" pitchFamily="34" charset="-120"/>
              </a:rPr>
              <a:t>~74% ventas</a:t>
            </a:r>
            <a:endParaRPr lang="en-US" sz="1700" dirty="0"/>
          </a:p>
        </p:txBody>
      </p:sp>
      <p:sp>
        <p:nvSpPr>
          <p:cNvPr id="10" name="Text 6"/>
          <p:cNvSpPr/>
          <p:nvPr/>
        </p:nvSpPr>
        <p:spPr>
          <a:xfrm>
            <a:off x="932688" y="2880360"/>
            <a:ext cx="4724248" cy="365760"/>
          </a:xfrm>
          <a:prstGeom prst="rect">
            <a:avLst/>
          </a:prstGeom>
          <a:noFill/>
          <a:ln/>
        </p:spPr>
        <p:txBody>
          <a:bodyPr wrap="square" lIns="0" tIns="0" rIns="0" bIns="0" rtlCol="0" anchor="ctr"/>
          <a:lstStyle/>
          <a:p>
            <a:pPr indent="0" marL="0">
              <a:buNone/>
            </a:pPr>
            <a:r>
              <a:rPr lang="en-US" sz="1200" dirty="0">
                <a:solidFill>
                  <a:srgbClr val="10282E"/>
                </a:solidFill>
                <a:latin typeface="Calibri" pitchFamily="34" charset="0"/>
                <a:ea typeface="Calibri" pitchFamily="34" charset="-122"/>
                <a:cs typeface="Calibri" pitchFamily="34" charset="-120"/>
              </a:rPr>
              <a:t>iPhone (~50% del total), Mac, iPad, Watch, AirPods.</a:t>
            </a:r>
            <a:endParaRPr lang="en-US" sz="1200" dirty="0"/>
          </a:p>
        </p:txBody>
      </p:sp>
      <p:sp>
        <p:nvSpPr>
          <p:cNvPr id="11" name="Text 7"/>
          <p:cNvSpPr/>
          <p:nvPr/>
        </p:nvSpPr>
        <p:spPr>
          <a:xfrm>
            <a:off x="932688" y="3273552"/>
            <a:ext cx="4724248" cy="457200"/>
          </a:xfrm>
          <a:prstGeom prst="rect">
            <a:avLst/>
          </a:prstGeom>
          <a:noFill/>
          <a:ln/>
        </p:spPr>
        <p:txBody>
          <a:bodyPr wrap="square" lIns="0" tIns="0" rIns="0" bIns="0" rtlCol="0" anchor="ctr"/>
          <a:lstStyle/>
          <a:p>
            <a:pPr indent="0" marL="0">
              <a:buNone/>
            </a:pPr>
            <a:r>
              <a:rPr lang="en-US" sz="1600" b="1" dirty="0">
                <a:solidFill>
                  <a:srgbClr val="E5544E"/>
                </a:solidFill>
                <a:latin typeface="Calibri" pitchFamily="34" charset="0"/>
                <a:ea typeface="Calibri" pitchFamily="34" charset="-122"/>
                <a:cs typeface="Calibri" pitchFamily="34" charset="-120"/>
              </a:rPr>
              <a:t>~38% </a:t>
            </a:r>
            <a:pPr indent="0" marL="0">
              <a:buNone/>
            </a:pPr>
            <a:r>
              <a:rPr lang="en-US" sz="1150" dirty="0">
                <a:solidFill>
                  <a:srgbClr val="5C6F74"/>
                </a:solidFill>
                <a:latin typeface="Calibri" pitchFamily="34" charset="0"/>
                <a:ea typeface="Calibri" pitchFamily="34" charset="-122"/>
                <a:cs typeface="Calibri" pitchFamily="34" charset="-120"/>
              </a:rPr>
              <a:t>margen bruto — lleva materiales, fábrica, logística.</a:t>
            </a:r>
            <a:endParaRPr lang="en-US" sz="1600" dirty="0"/>
          </a:p>
        </p:txBody>
      </p:sp>
      <p:sp>
        <p:nvSpPr>
          <p:cNvPr id="12" name="Shape 8"/>
          <p:cNvSpPr/>
          <p:nvPr/>
        </p:nvSpPr>
        <p:spPr>
          <a:xfrm>
            <a:off x="6278728" y="1965960"/>
            <a:ext cx="5272888" cy="1828800"/>
          </a:xfrm>
          <a:prstGeom prst="roundRect">
            <a:avLst>
              <a:gd name="adj" fmla="val 6000"/>
            </a:avLst>
          </a:prstGeom>
          <a:solidFill>
            <a:srgbClr val="FFFFFF"/>
          </a:solidFill>
          <a:ln/>
          <a:effectLst>
            <a:outerShdw sx="100000" sy="100000" kx="0" ky="0" algn="bl" rotWithShape="0" blurRad="114300" dist="38100" dir="8100000">
              <a:srgbClr val="0B2B33">
                <a:alpha val="14000"/>
              </a:srgbClr>
            </a:outerShdw>
          </a:effectLst>
        </p:spPr>
      </p:sp>
      <p:sp>
        <p:nvSpPr>
          <p:cNvPr id="13" name="Shape 9"/>
          <p:cNvSpPr/>
          <p:nvPr/>
        </p:nvSpPr>
        <p:spPr>
          <a:xfrm>
            <a:off x="6553048" y="2240280"/>
            <a:ext cx="502920" cy="502920"/>
          </a:xfrm>
          <a:prstGeom prst="ellipse">
            <a:avLst/>
          </a:prstGeom>
          <a:solidFill>
            <a:srgbClr val="12A594"/>
          </a:solidFill>
          <a:ln/>
        </p:spPr>
      </p:sp>
      <p:pic>
        <p:nvPicPr>
          <p:cNvPr id="14" name="Image 2" descr="icons/cloud_white.png">    </p:cNvPr>
          <p:cNvPicPr>
            <a:picLocks noChangeAspect="1"/>
          </p:cNvPicPr>
          <p:nvPr/>
        </p:nvPicPr>
        <p:blipFill>
          <a:blip r:embed="rId3"/>
          <a:stretch>
            <a:fillRect/>
          </a:stretch>
        </p:blipFill>
        <p:spPr>
          <a:xfrm>
            <a:off x="6681064" y="2395728"/>
            <a:ext cx="246888" cy="201168"/>
          </a:xfrm>
          <a:prstGeom prst="rect">
            <a:avLst/>
          </a:prstGeom>
        </p:spPr>
      </p:pic>
      <p:sp>
        <p:nvSpPr>
          <p:cNvPr id="15" name="Text 10"/>
          <p:cNvSpPr/>
          <p:nvPr/>
        </p:nvSpPr>
        <p:spPr>
          <a:xfrm>
            <a:off x="7193128" y="2240280"/>
            <a:ext cx="4084168" cy="502920"/>
          </a:xfrm>
          <a:prstGeom prst="rect">
            <a:avLst/>
          </a:prstGeom>
          <a:noFill/>
          <a:ln/>
        </p:spPr>
        <p:txBody>
          <a:bodyPr wrap="square" lIns="0" tIns="0" rIns="0" bIns="0" rtlCol="0" anchor="ctr"/>
          <a:lstStyle/>
          <a:p>
            <a:pPr indent="0" marL="0">
              <a:buNone/>
            </a:pPr>
            <a:r>
              <a:rPr lang="en-US" sz="1700" b="1" dirty="0">
                <a:solidFill>
                  <a:srgbClr val="0B2B33"/>
                </a:solidFill>
                <a:latin typeface="Calibri" pitchFamily="34" charset="0"/>
                <a:ea typeface="Calibri" pitchFamily="34" charset="-122"/>
                <a:cs typeface="Calibri" pitchFamily="34" charset="-120"/>
              </a:rPr>
              <a:t>Servicios  </a:t>
            </a:r>
            <a:pPr indent="0" marL="0">
              <a:buNone/>
            </a:pPr>
            <a:r>
              <a:rPr lang="en-US" sz="1200" dirty="0">
                <a:solidFill>
                  <a:srgbClr val="5C6F74"/>
                </a:solidFill>
                <a:latin typeface="Calibri" pitchFamily="34" charset="0"/>
                <a:ea typeface="Calibri" pitchFamily="34" charset="-122"/>
                <a:cs typeface="Calibri" pitchFamily="34" charset="-120"/>
              </a:rPr>
              <a:t>~26% ventas</a:t>
            </a:r>
            <a:endParaRPr lang="en-US" sz="1700" dirty="0"/>
          </a:p>
        </p:txBody>
      </p:sp>
      <p:sp>
        <p:nvSpPr>
          <p:cNvPr id="16" name="Text 11"/>
          <p:cNvSpPr/>
          <p:nvPr/>
        </p:nvSpPr>
        <p:spPr>
          <a:xfrm>
            <a:off x="6571336" y="2880360"/>
            <a:ext cx="4724248" cy="365760"/>
          </a:xfrm>
          <a:prstGeom prst="rect">
            <a:avLst/>
          </a:prstGeom>
          <a:noFill/>
          <a:ln/>
        </p:spPr>
        <p:txBody>
          <a:bodyPr wrap="square" lIns="0" tIns="0" rIns="0" bIns="0" rtlCol="0" anchor="ctr"/>
          <a:lstStyle/>
          <a:p>
            <a:pPr indent="0" marL="0">
              <a:buNone/>
            </a:pPr>
            <a:r>
              <a:rPr lang="en-US" sz="1200" dirty="0">
                <a:solidFill>
                  <a:srgbClr val="10282E"/>
                </a:solidFill>
                <a:latin typeface="Calibri" pitchFamily="34" charset="0"/>
                <a:ea typeface="Calibri" pitchFamily="34" charset="-122"/>
                <a:cs typeface="Calibri" pitchFamily="34" charset="-120"/>
              </a:rPr>
              <a:t>App Store, iCloud, Music, TV+, AppleCare, Pay + acuerdo con Google.</a:t>
            </a:r>
            <a:endParaRPr lang="en-US" sz="1200" dirty="0"/>
          </a:p>
        </p:txBody>
      </p:sp>
      <p:sp>
        <p:nvSpPr>
          <p:cNvPr id="17" name="Text 12"/>
          <p:cNvSpPr/>
          <p:nvPr/>
        </p:nvSpPr>
        <p:spPr>
          <a:xfrm>
            <a:off x="6571336" y="3273552"/>
            <a:ext cx="4724248" cy="457200"/>
          </a:xfrm>
          <a:prstGeom prst="rect">
            <a:avLst/>
          </a:prstGeom>
          <a:noFill/>
          <a:ln/>
        </p:spPr>
        <p:txBody>
          <a:bodyPr wrap="square" lIns="0" tIns="0" rIns="0" bIns="0" rtlCol="0" anchor="ctr"/>
          <a:lstStyle/>
          <a:p>
            <a:pPr indent="0" marL="0">
              <a:buNone/>
            </a:pPr>
            <a:r>
              <a:rPr lang="en-US" sz="1600" b="1" dirty="0">
                <a:solidFill>
                  <a:srgbClr val="12A594"/>
                </a:solidFill>
                <a:latin typeface="Calibri" pitchFamily="34" charset="0"/>
                <a:ea typeface="Calibri" pitchFamily="34" charset="-122"/>
                <a:cs typeface="Calibri" pitchFamily="34" charset="-120"/>
              </a:rPr>
              <a:t>~75% </a:t>
            </a:r>
            <a:pPr indent="0" marL="0">
              <a:buNone/>
            </a:pPr>
            <a:r>
              <a:rPr lang="en-US" sz="1150" dirty="0">
                <a:solidFill>
                  <a:srgbClr val="5C6F74"/>
                </a:solidFill>
                <a:latin typeface="Calibri" pitchFamily="34" charset="0"/>
                <a:ea typeface="Calibri" pitchFamily="34" charset="-122"/>
                <a:cs typeface="Calibri" pitchFamily="34" charset="-120"/>
              </a:rPr>
              <a:t>margen bruto — costo marginal casi cero por usuario.</a:t>
            </a:r>
            <a:endParaRPr lang="en-US" sz="1600" dirty="0"/>
          </a:p>
        </p:txBody>
      </p:sp>
      <p:sp>
        <p:nvSpPr>
          <p:cNvPr id="18" name="Shape 13"/>
          <p:cNvSpPr/>
          <p:nvPr/>
        </p:nvSpPr>
        <p:spPr>
          <a:xfrm>
            <a:off x="640080" y="4069080"/>
            <a:ext cx="3423818" cy="1417320"/>
          </a:xfrm>
          <a:prstGeom prst="roundRect">
            <a:avLst>
              <a:gd name="adj" fmla="val 6452"/>
            </a:avLst>
          </a:prstGeom>
          <a:solidFill>
            <a:srgbClr val="EAF4F2"/>
          </a:solidFill>
          <a:ln/>
          <a:effectLst>
            <a:outerShdw sx="100000" sy="100000" kx="0" ky="0" algn="bl" rotWithShape="0" blurRad="114300" dist="38100" dir="8100000">
              <a:srgbClr val="0B2B33">
                <a:alpha val="14000"/>
              </a:srgbClr>
            </a:outerShdw>
          </a:effectLst>
        </p:spPr>
      </p:sp>
      <p:pic>
        <p:nvPicPr>
          <p:cNvPr id="19" name="Image 3" descr="icons/arrowup_teal.png">    </p:cNvPr>
          <p:cNvPicPr>
            <a:picLocks noChangeAspect="1"/>
          </p:cNvPicPr>
          <p:nvPr/>
        </p:nvPicPr>
        <p:blipFill>
          <a:blip r:embed="rId4"/>
          <a:stretch>
            <a:fillRect/>
          </a:stretch>
        </p:blipFill>
        <p:spPr>
          <a:xfrm>
            <a:off x="896112" y="4306824"/>
            <a:ext cx="292608" cy="292608"/>
          </a:xfrm>
          <a:prstGeom prst="rect">
            <a:avLst/>
          </a:prstGeom>
        </p:spPr>
      </p:pic>
      <p:sp>
        <p:nvSpPr>
          <p:cNvPr id="20" name="Text 14"/>
          <p:cNvSpPr/>
          <p:nvPr/>
        </p:nvSpPr>
        <p:spPr>
          <a:xfrm>
            <a:off x="1280160" y="4288536"/>
            <a:ext cx="2600858" cy="365760"/>
          </a:xfrm>
          <a:prstGeom prst="rect">
            <a:avLst/>
          </a:prstGeom>
          <a:noFill/>
          <a:ln/>
        </p:spPr>
        <p:txBody>
          <a:bodyPr wrap="square" lIns="0" tIns="0" rIns="0" bIns="0" rtlCol="0" anchor="ctr"/>
          <a:lstStyle/>
          <a:p>
            <a:pPr indent="0" marL="0">
              <a:buNone/>
            </a:pPr>
            <a:r>
              <a:rPr lang="en-US" sz="1250" b="1" dirty="0">
                <a:solidFill>
                  <a:srgbClr val="0B2B33"/>
                </a:solidFill>
                <a:latin typeface="Calibri" pitchFamily="34" charset="0"/>
                <a:ea typeface="Calibri" pitchFamily="34" charset="-122"/>
                <a:cs typeface="Calibri" pitchFamily="34" charset="-120"/>
              </a:rPr>
              <a:t>Expansión de margen</a:t>
            </a:r>
            <a:endParaRPr lang="en-US" sz="1250" dirty="0"/>
          </a:p>
        </p:txBody>
      </p:sp>
      <p:sp>
        <p:nvSpPr>
          <p:cNvPr id="21" name="Text 15"/>
          <p:cNvSpPr/>
          <p:nvPr/>
        </p:nvSpPr>
        <p:spPr>
          <a:xfrm>
            <a:off x="896112" y="4690872"/>
            <a:ext cx="2966618" cy="731520"/>
          </a:xfrm>
          <a:prstGeom prst="rect">
            <a:avLst/>
          </a:prstGeom>
          <a:noFill/>
          <a:ln/>
        </p:spPr>
        <p:txBody>
          <a:bodyPr wrap="square" lIns="0" tIns="0" rIns="0" bIns="0" rtlCol="0" anchor="ctr"/>
          <a:lstStyle/>
          <a:p>
            <a:pPr indent="0" marL="0">
              <a:lnSpc>
                <a:spcPct val="102000"/>
              </a:lnSpc>
              <a:buNone/>
            </a:pPr>
            <a:r>
              <a:rPr lang="en-US" sz="1050" dirty="0">
                <a:solidFill>
                  <a:srgbClr val="5C6F74"/>
                </a:solidFill>
                <a:latin typeface="Calibri" pitchFamily="34" charset="0"/>
                <a:ea typeface="Calibri" pitchFamily="34" charset="-122"/>
                <a:cs typeface="Calibri" pitchFamily="34" charset="-120"/>
              </a:rPr>
              <a:t>Servicios pasó de ~20% a ~26% del mix: más rentabilidad sin vender más hardware.</a:t>
            </a:r>
            <a:endParaRPr lang="en-US" sz="1050" dirty="0"/>
          </a:p>
        </p:txBody>
      </p:sp>
      <p:sp>
        <p:nvSpPr>
          <p:cNvPr id="22" name="Shape 16"/>
          <p:cNvSpPr/>
          <p:nvPr/>
        </p:nvSpPr>
        <p:spPr>
          <a:xfrm>
            <a:off x="4383938" y="4069080"/>
            <a:ext cx="3423818" cy="1417320"/>
          </a:xfrm>
          <a:prstGeom prst="roundRect">
            <a:avLst>
              <a:gd name="adj" fmla="val 6452"/>
            </a:avLst>
          </a:prstGeom>
          <a:solidFill>
            <a:srgbClr val="EAF4F2"/>
          </a:solidFill>
          <a:ln/>
          <a:effectLst>
            <a:outerShdw sx="100000" sy="100000" kx="0" ky="0" algn="bl" rotWithShape="0" blurRad="114300" dist="38100" dir="8100000">
              <a:srgbClr val="0B2B33">
                <a:alpha val="14000"/>
              </a:srgbClr>
            </a:outerShdw>
          </a:effectLst>
        </p:spPr>
      </p:sp>
      <p:pic>
        <p:nvPicPr>
          <p:cNvPr id="23" name="Image 4" descr="icons/handshake_teal.png">    </p:cNvPr>
          <p:cNvPicPr>
            <a:picLocks noChangeAspect="1"/>
          </p:cNvPicPr>
          <p:nvPr/>
        </p:nvPicPr>
        <p:blipFill>
          <a:blip r:embed="rId5"/>
          <a:stretch>
            <a:fillRect/>
          </a:stretch>
        </p:blipFill>
        <p:spPr>
          <a:xfrm>
            <a:off x="4639970" y="4306824"/>
            <a:ext cx="292608" cy="292608"/>
          </a:xfrm>
          <a:prstGeom prst="rect">
            <a:avLst/>
          </a:prstGeom>
        </p:spPr>
      </p:pic>
      <p:sp>
        <p:nvSpPr>
          <p:cNvPr id="24" name="Text 17"/>
          <p:cNvSpPr/>
          <p:nvPr/>
        </p:nvSpPr>
        <p:spPr>
          <a:xfrm>
            <a:off x="5024018" y="4288536"/>
            <a:ext cx="2600858" cy="365760"/>
          </a:xfrm>
          <a:prstGeom prst="rect">
            <a:avLst/>
          </a:prstGeom>
          <a:noFill/>
          <a:ln/>
        </p:spPr>
        <p:txBody>
          <a:bodyPr wrap="square" lIns="0" tIns="0" rIns="0" bIns="0" rtlCol="0" anchor="ctr"/>
          <a:lstStyle/>
          <a:p>
            <a:pPr indent="0" marL="0">
              <a:buNone/>
            </a:pPr>
            <a:r>
              <a:rPr lang="en-US" sz="1250" b="1" dirty="0">
                <a:solidFill>
                  <a:srgbClr val="0B2B33"/>
                </a:solidFill>
                <a:latin typeface="Calibri" pitchFamily="34" charset="0"/>
                <a:ea typeface="Calibri" pitchFamily="34" charset="-122"/>
                <a:cs typeface="Calibri" pitchFamily="34" charset="-120"/>
              </a:rPr>
              <a:t>Ingresos recurrentes</a:t>
            </a:r>
            <a:endParaRPr lang="en-US" sz="1250" dirty="0"/>
          </a:p>
        </p:txBody>
      </p:sp>
      <p:sp>
        <p:nvSpPr>
          <p:cNvPr id="25" name="Text 18"/>
          <p:cNvSpPr/>
          <p:nvPr/>
        </p:nvSpPr>
        <p:spPr>
          <a:xfrm>
            <a:off x="4639970" y="4690872"/>
            <a:ext cx="2966618" cy="731520"/>
          </a:xfrm>
          <a:prstGeom prst="rect">
            <a:avLst/>
          </a:prstGeom>
          <a:noFill/>
          <a:ln/>
        </p:spPr>
        <p:txBody>
          <a:bodyPr wrap="square" lIns="0" tIns="0" rIns="0" bIns="0" rtlCol="0" anchor="ctr"/>
          <a:lstStyle/>
          <a:p>
            <a:pPr indent="0" marL="0">
              <a:lnSpc>
                <a:spcPct val="102000"/>
              </a:lnSpc>
              <a:buNone/>
            </a:pPr>
            <a:r>
              <a:rPr lang="en-US" sz="1050" dirty="0">
                <a:solidFill>
                  <a:srgbClr val="5C6F74"/>
                </a:solidFill>
                <a:latin typeface="Calibri" pitchFamily="34" charset="0"/>
                <a:ea typeface="Calibri" pitchFamily="34" charset="-122"/>
                <a:cs typeface="Calibri" pitchFamily="34" charset="-120"/>
              </a:rPr>
              <a:t>Suscripciones estables vs. iPhone cíclico → menor riesgo → múltiplo más alto.</a:t>
            </a:r>
            <a:endParaRPr lang="en-US" sz="1050" dirty="0"/>
          </a:p>
        </p:txBody>
      </p:sp>
      <p:sp>
        <p:nvSpPr>
          <p:cNvPr id="26" name="Shape 19"/>
          <p:cNvSpPr/>
          <p:nvPr/>
        </p:nvSpPr>
        <p:spPr>
          <a:xfrm>
            <a:off x="8127797" y="4069080"/>
            <a:ext cx="3423818" cy="1417320"/>
          </a:xfrm>
          <a:prstGeom prst="roundRect">
            <a:avLst>
              <a:gd name="adj" fmla="val 6452"/>
            </a:avLst>
          </a:prstGeom>
          <a:solidFill>
            <a:srgbClr val="EAF4F2"/>
          </a:solidFill>
          <a:ln/>
          <a:effectLst>
            <a:outerShdw sx="100000" sy="100000" kx="0" ky="0" algn="bl" rotWithShape="0" blurRad="114300" dist="38100" dir="8100000">
              <a:srgbClr val="0B2B33">
                <a:alpha val="14000"/>
              </a:srgbClr>
            </a:outerShdw>
          </a:effectLst>
        </p:spPr>
      </p:sp>
      <p:pic>
        <p:nvPicPr>
          <p:cNvPr id="27" name="Image 5" descr="icons/check_teal.png">    </p:cNvPr>
          <p:cNvPicPr>
            <a:picLocks noChangeAspect="1"/>
          </p:cNvPicPr>
          <p:nvPr/>
        </p:nvPicPr>
        <p:blipFill>
          <a:blip r:embed="rId6"/>
          <a:stretch>
            <a:fillRect/>
          </a:stretch>
        </p:blipFill>
        <p:spPr>
          <a:xfrm>
            <a:off x="8383829" y="4306824"/>
            <a:ext cx="292608" cy="292608"/>
          </a:xfrm>
          <a:prstGeom prst="rect">
            <a:avLst/>
          </a:prstGeom>
        </p:spPr>
      </p:pic>
      <p:sp>
        <p:nvSpPr>
          <p:cNvPr id="28" name="Text 20"/>
          <p:cNvSpPr/>
          <p:nvPr/>
        </p:nvSpPr>
        <p:spPr>
          <a:xfrm>
            <a:off x="8767877" y="4288536"/>
            <a:ext cx="2600858" cy="365760"/>
          </a:xfrm>
          <a:prstGeom prst="rect">
            <a:avLst/>
          </a:prstGeom>
          <a:noFill/>
          <a:ln/>
        </p:spPr>
        <p:txBody>
          <a:bodyPr wrap="square" lIns="0" tIns="0" rIns="0" bIns="0" rtlCol="0" anchor="ctr"/>
          <a:lstStyle/>
          <a:p>
            <a:pPr indent="0" marL="0">
              <a:buNone/>
            </a:pPr>
            <a:r>
              <a:rPr lang="en-US" sz="1250" b="1" dirty="0">
                <a:solidFill>
                  <a:srgbClr val="0B2B33"/>
                </a:solidFill>
                <a:latin typeface="Calibri" pitchFamily="34" charset="0"/>
                <a:ea typeface="Calibri" pitchFamily="34" charset="-122"/>
                <a:cs typeface="Calibri" pitchFamily="34" charset="-120"/>
              </a:rPr>
              <a:t>Colchón</a:t>
            </a:r>
            <a:endParaRPr lang="en-US" sz="1250" dirty="0"/>
          </a:p>
        </p:txBody>
      </p:sp>
      <p:sp>
        <p:nvSpPr>
          <p:cNvPr id="29" name="Text 21"/>
          <p:cNvSpPr/>
          <p:nvPr/>
        </p:nvSpPr>
        <p:spPr>
          <a:xfrm>
            <a:off x="8383829" y="4690872"/>
            <a:ext cx="2966618" cy="731520"/>
          </a:xfrm>
          <a:prstGeom prst="rect">
            <a:avLst/>
          </a:prstGeom>
          <a:noFill/>
          <a:ln/>
        </p:spPr>
        <p:txBody>
          <a:bodyPr wrap="square" lIns="0" tIns="0" rIns="0" bIns="0" rtlCol="0" anchor="ctr"/>
          <a:lstStyle/>
          <a:p>
            <a:pPr indent="0" marL="0">
              <a:lnSpc>
                <a:spcPct val="102000"/>
              </a:lnSpc>
              <a:buNone/>
            </a:pPr>
            <a:r>
              <a:rPr lang="en-US" sz="1050" dirty="0">
                <a:solidFill>
                  <a:srgbClr val="5C6F74"/>
                </a:solidFill>
                <a:latin typeface="Calibri" pitchFamily="34" charset="0"/>
                <a:ea typeface="Calibri" pitchFamily="34" charset="-122"/>
                <a:cs typeface="Calibri" pitchFamily="34" charset="-120"/>
              </a:rPr>
              <a:t>Aunque el iPhone se estanque, la base instalada sigue generando Servicios.</a:t>
            </a:r>
            <a:endParaRPr lang="en-US" sz="1050" dirty="0"/>
          </a:p>
        </p:txBody>
      </p:sp>
      <p:sp>
        <p:nvSpPr>
          <p:cNvPr id="30" name="Text 22"/>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31" name="Text 23"/>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search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EL DATO QUE MANDA</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700" b="1" dirty="0">
                <a:solidFill>
                  <a:srgbClr val="0B2B33"/>
                </a:solidFill>
                <a:latin typeface="Georgia" pitchFamily="34" charset="0"/>
                <a:ea typeface="Georgia" pitchFamily="34" charset="-122"/>
                <a:cs typeface="Georgia" pitchFamily="34" charset="-120"/>
              </a:rPr>
              <a:t>En ganancia bruta, Servicios ya pesa casi como todo el iPhone</a:t>
            </a:r>
            <a:endParaRPr lang="en-US" sz="2700" dirty="0"/>
          </a:p>
        </p:txBody>
      </p:sp>
      <p:sp>
        <p:nvSpPr>
          <p:cNvPr id="6" name="Shape 3"/>
          <p:cNvSpPr/>
          <p:nvPr/>
        </p:nvSpPr>
        <p:spPr>
          <a:xfrm>
            <a:off x="640080" y="2148840"/>
            <a:ext cx="6400800" cy="2194560"/>
          </a:xfrm>
          <a:prstGeom prst="roundRect">
            <a:avLst>
              <a:gd name="adj" fmla="val 5000"/>
            </a:avLst>
          </a:prstGeom>
          <a:solidFill>
            <a:srgbClr val="0B2B33"/>
          </a:solidFill>
          <a:ln/>
          <a:effectLst>
            <a:outerShdw sx="100000" sy="100000" kx="0" ky="0" algn="bl" rotWithShape="0" blurRad="114300" dist="38100" dir="8100000">
              <a:srgbClr val="0B2B33">
                <a:alpha val="14000"/>
              </a:srgbClr>
            </a:outerShdw>
          </a:effectLst>
        </p:spPr>
      </p:sp>
      <p:sp>
        <p:nvSpPr>
          <p:cNvPr id="7" name="Text 4"/>
          <p:cNvSpPr/>
          <p:nvPr/>
        </p:nvSpPr>
        <p:spPr>
          <a:xfrm>
            <a:off x="822960" y="2057400"/>
            <a:ext cx="914400" cy="914400"/>
          </a:xfrm>
          <a:prstGeom prst="rect">
            <a:avLst/>
          </a:prstGeom>
          <a:noFill/>
          <a:ln/>
        </p:spPr>
        <p:txBody>
          <a:bodyPr wrap="square" lIns="0" tIns="0" rIns="0" bIns="0" rtlCol="0" anchor="ctr"/>
          <a:lstStyle/>
          <a:p>
            <a:pPr indent="0" marL="0">
              <a:buNone/>
            </a:pPr>
            <a:r>
              <a:rPr lang="en-US" sz="7000" dirty="0">
                <a:solidFill>
                  <a:srgbClr val="12A594"/>
                </a:solidFill>
                <a:latin typeface="Georgia" pitchFamily="34" charset="0"/>
                <a:ea typeface="Georgia" pitchFamily="34" charset="-122"/>
                <a:cs typeface="Georgia" pitchFamily="34" charset="-120"/>
              </a:rPr>
              <a:t>“</a:t>
            </a:r>
            <a:endParaRPr lang="en-US" sz="7000" dirty="0"/>
          </a:p>
        </p:txBody>
      </p:sp>
      <p:sp>
        <p:nvSpPr>
          <p:cNvPr id="8" name="Text 5"/>
          <p:cNvSpPr/>
          <p:nvPr/>
        </p:nvSpPr>
        <p:spPr>
          <a:xfrm>
            <a:off x="1097280" y="2697480"/>
            <a:ext cx="5669280" cy="1188720"/>
          </a:xfrm>
          <a:prstGeom prst="rect">
            <a:avLst/>
          </a:prstGeom>
          <a:noFill/>
          <a:ln/>
        </p:spPr>
        <p:txBody>
          <a:bodyPr wrap="square" lIns="0" tIns="0" rIns="0" bIns="0" rtlCol="0" anchor="ctr"/>
          <a:lstStyle/>
          <a:p>
            <a:pPr indent="0" marL="0">
              <a:lnSpc>
                <a:spcPct val="108000"/>
              </a:lnSpc>
              <a:buNone/>
            </a:pPr>
            <a:r>
              <a:rPr lang="en-US" sz="1900" i="1" dirty="0">
                <a:solidFill>
                  <a:srgbClr val="FFFFFF"/>
                </a:solidFill>
                <a:latin typeface="Georgia" pitchFamily="34" charset="0"/>
                <a:ea typeface="Georgia" pitchFamily="34" charset="-122"/>
                <a:cs typeface="Georgia" pitchFamily="34" charset="-120"/>
              </a:rPr>
              <a:t>Servicios aporta casi tanta ganancia bruta como todo el iPhone, con la mitad de la facturación.</a:t>
            </a:r>
            <a:endParaRPr lang="en-US" sz="1900" dirty="0"/>
          </a:p>
        </p:txBody>
      </p:sp>
      <p:sp>
        <p:nvSpPr>
          <p:cNvPr id="9" name="Text 6"/>
          <p:cNvSpPr/>
          <p:nvPr/>
        </p:nvSpPr>
        <p:spPr>
          <a:xfrm>
            <a:off x="1097280" y="3840480"/>
            <a:ext cx="5669280" cy="365760"/>
          </a:xfrm>
          <a:prstGeom prst="rect">
            <a:avLst/>
          </a:prstGeom>
          <a:noFill/>
          <a:ln/>
        </p:spPr>
        <p:txBody>
          <a:bodyPr wrap="square" lIns="0" tIns="0" rIns="0" bIns="0" rtlCol="0" anchor="ctr"/>
          <a:lstStyle/>
          <a:p>
            <a:pPr indent="0" marL="0">
              <a:buNone/>
            </a:pPr>
            <a:r>
              <a:rPr lang="en-US" sz="1150" dirty="0">
                <a:solidFill>
                  <a:srgbClr val="9FC3C0"/>
                </a:solidFill>
                <a:latin typeface="Calibri" pitchFamily="34" charset="0"/>
                <a:ea typeface="Calibri" pitchFamily="34" charset="-122"/>
                <a:cs typeface="Calibri" pitchFamily="34" charset="-120"/>
              </a:rPr>
              <a:t>Es el principal motor de rentabilidad de Apple — y lo que sostiene su prima de múltiplo.</a:t>
            </a:r>
            <a:endParaRPr lang="en-US" sz="1150" dirty="0"/>
          </a:p>
        </p:txBody>
      </p:sp>
      <p:sp>
        <p:nvSpPr>
          <p:cNvPr id="10" name="Shape 7"/>
          <p:cNvSpPr/>
          <p:nvPr/>
        </p:nvSpPr>
        <p:spPr>
          <a:xfrm>
            <a:off x="7406640" y="2148840"/>
            <a:ext cx="4144975" cy="3657600"/>
          </a:xfrm>
          <a:prstGeom prst="roundRect">
            <a:avLst>
              <a:gd name="adj" fmla="val 3000"/>
            </a:avLst>
          </a:prstGeom>
          <a:solidFill>
            <a:srgbClr val="FDEEEC"/>
          </a:solidFill>
          <a:ln w="12700">
            <a:solidFill>
              <a:srgbClr val="E5544E"/>
            </a:solidFill>
            <a:prstDash val="solid"/>
          </a:ln>
          <a:effectLst>
            <a:outerShdw sx="100000" sy="100000" kx="0" ky="0" algn="bl" rotWithShape="0" blurRad="114300" dist="38100" dir="8100000">
              <a:srgbClr val="0B2B33">
                <a:alpha val="14000"/>
              </a:srgbClr>
            </a:outerShdw>
          </a:effectLst>
        </p:spPr>
      </p:sp>
      <p:sp>
        <p:nvSpPr>
          <p:cNvPr id="11" name="Shape 8"/>
          <p:cNvSpPr/>
          <p:nvPr/>
        </p:nvSpPr>
        <p:spPr>
          <a:xfrm>
            <a:off x="7680960" y="2395728"/>
            <a:ext cx="502920" cy="502920"/>
          </a:xfrm>
          <a:prstGeom prst="ellipse">
            <a:avLst/>
          </a:prstGeom>
          <a:solidFill>
            <a:srgbClr val="E5544E"/>
          </a:solidFill>
          <a:ln/>
        </p:spPr>
      </p:sp>
      <p:pic>
        <p:nvPicPr>
          <p:cNvPr id="12" name="Image 1" descr="icons/gavel_white.png">    </p:cNvPr>
          <p:cNvPicPr>
            <a:picLocks noChangeAspect="1"/>
          </p:cNvPicPr>
          <p:nvPr/>
        </p:nvPicPr>
        <p:blipFill>
          <a:blip r:embed="rId2"/>
          <a:stretch>
            <a:fillRect/>
          </a:stretch>
        </p:blipFill>
        <p:spPr>
          <a:xfrm>
            <a:off x="7818120" y="2532888"/>
            <a:ext cx="228600" cy="228600"/>
          </a:xfrm>
          <a:prstGeom prst="rect">
            <a:avLst/>
          </a:prstGeom>
        </p:spPr>
      </p:pic>
      <p:sp>
        <p:nvSpPr>
          <p:cNvPr id="13" name="Text 9"/>
          <p:cNvSpPr/>
          <p:nvPr/>
        </p:nvSpPr>
        <p:spPr>
          <a:xfrm>
            <a:off x="8302752" y="2377440"/>
            <a:ext cx="3047695" cy="548640"/>
          </a:xfrm>
          <a:prstGeom prst="rect">
            <a:avLst/>
          </a:prstGeom>
          <a:noFill/>
          <a:ln/>
        </p:spPr>
        <p:txBody>
          <a:bodyPr wrap="square" lIns="0" tIns="0" rIns="0" bIns="0" rtlCol="0" anchor="ctr"/>
          <a:lstStyle/>
          <a:p>
            <a:pPr indent="0" marL="0">
              <a:buNone/>
            </a:pPr>
            <a:r>
              <a:rPr lang="en-US" sz="1400" b="1" dirty="0">
                <a:solidFill>
                  <a:srgbClr val="E5544E"/>
                </a:solidFill>
                <a:latin typeface="Calibri" pitchFamily="34" charset="0"/>
                <a:ea typeface="Calibri" pitchFamily="34" charset="-122"/>
                <a:cs typeface="Calibri" pitchFamily="34" charset="-120"/>
              </a:rPr>
              <a:t>Riesgo a monitorear</a:t>
            </a:r>
            <a:endParaRPr lang="en-US" sz="1400" dirty="0"/>
          </a:p>
        </p:txBody>
      </p:sp>
      <p:sp>
        <p:nvSpPr>
          <p:cNvPr id="14" name="Text 10"/>
          <p:cNvSpPr/>
          <p:nvPr/>
        </p:nvSpPr>
        <p:spPr>
          <a:xfrm>
            <a:off x="7699248" y="3063240"/>
            <a:ext cx="3596335" cy="914400"/>
          </a:xfrm>
          <a:prstGeom prst="rect">
            <a:avLst/>
          </a:prstGeom>
          <a:noFill/>
          <a:ln/>
        </p:spPr>
        <p:txBody>
          <a:bodyPr wrap="square" lIns="0" tIns="0" rIns="0" bIns="0" rtlCol="0" anchor="ctr"/>
          <a:lstStyle/>
          <a:p>
            <a:pPr indent="0" marL="0">
              <a:lnSpc>
                <a:spcPct val="108000"/>
              </a:lnSpc>
              <a:buNone/>
            </a:pPr>
            <a:r>
              <a:rPr lang="en-US" sz="1250" dirty="0">
                <a:solidFill>
                  <a:srgbClr val="10282E"/>
                </a:solidFill>
                <a:latin typeface="Calibri" pitchFamily="34" charset="0"/>
                <a:ea typeface="Calibri" pitchFamily="34" charset="-122"/>
                <a:cs typeface="Calibri" pitchFamily="34" charset="-120"/>
              </a:rPr>
              <a:t>El acuerdo con Google (~USD 20 B/año, casi todo margen) lo paga por ser el buscador por defecto en Safari.</a:t>
            </a:r>
            <a:endParaRPr lang="en-US" sz="1250" dirty="0"/>
          </a:p>
        </p:txBody>
      </p:sp>
      <p:sp>
        <p:nvSpPr>
          <p:cNvPr id="15" name="Text 11"/>
          <p:cNvSpPr/>
          <p:nvPr/>
        </p:nvSpPr>
        <p:spPr>
          <a:xfrm>
            <a:off x="7699248" y="4069080"/>
            <a:ext cx="3596335" cy="1463040"/>
          </a:xfrm>
          <a:prstGeom prst="rect">
            <a:avLst/>
          </a:prstGeom>
          <a:noFill/>
          <a:ln/>
        </p:spPr>
        <p:txBody>
          <a:bodyPr wrap="square" lIns="0" tIns="0" rIns="0" bIns="0" rtlCol="0" anchor="ctr"/>
          <a:lstStyle/>
          <a:p>
            <a:pPr indent="0" marL="0">
              <a:lnSpc>
                <a:spcPct val="108000"/>
              </a:lnSpc>
              <a:buNone/>
            </a:pPr>
            <a:r>
              <a:rPr lang="en-US" sz="1250" dirty="0">
                <a:solidFill>
                  <a:srgbClr val="5C6F74"/>
                </a:solidFill>
                <a:latin typeface="Calibri" pitchFamily="34" charset="0"/>
                <a:ea typeface="Calibri" pitchFamily="34" charset="-122"/>
                <a:cs typeface="Calibri" pitchFamily="34" charset="-120"/>
              </a:rPr>
              <a:t>Avalado por la Justicia en sept-2025, pero ya no es exclusivo, se renegocia cada año y Google apeló. Un cambio golpearía la parte más rentable del negocio.</a:t>
            </a:r>
            <a:endParaRPr lang="en-US" sz="1250" dirty="0"/>
          </a:p>
        </p:txBody>
      </p:sp>
      <p:sp>
        <p:nvSpPr>
          <p:cNvPr id="16" name="Text 12"/>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7" name="Text 13"/>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7589520" y="548640"/>
            <a:ext cx="4754880" cy="5760720"/>
          </a:xfrm>
          <a:prstGeom prst="rect">
            <a:avLst/>
          </a:prstGeom>
          <a:noFill/>
          <a:ln/>
        </p:spPr>
        <p:txBody>
          <a:bodyPr wrap="square" lIns="0" tIns="0" rIns="0" bIns="0" rtlCol="0" anchor="ctr"/>
          <a:lstStyle/>
          <a:p>
            <a:pPr algn="r" indent="0" marL="0">
              <a:buNone/>
            </a:pPr>
            <a:r>
              <a:rPr lang="en-US" sz="30000" b="1" dirty="0">
                <a:solidFill>
                  <a:srgbClr val="0F3A44"/>
                </a:solidFill>
                <a:latin typeface="Georgia" pitchFamily="34" charset="0"/>
                <a:ea typeface="Georgia" pitchFamily="34" charset="-122"/>
                <a:cs typeface="Georgia" pitchFamily="34" charset="-120"/>
              </a:rPr>
              <a:t>02</a:t>
            </a:r>
            <a:endParaRPr lang="en-US" sz="30000" dirty="0"/>
          </a:p>
        </p:txBody>
      </p:sp>
      <p:sp>
        <p:nvSpPr>
          <p:cNvPr id="3" name="Shape 1"/>
          <p:cNvSpPr/>
          <p:nvPr/>
        </p:nvSpPr>
        <p:spPr>
          <a:xfrm>
            <a:off x="640080" y="2148840"/>
            <a:ext cx="960120" cy="960120"/>
          </a:xfrm>
          <a:prstGeom prst="ellipse">
            <a:avLst/>
          </a:prstGeom>
          <a:solidFill>
            <a:srgbClr val="12A594"/>
          </a:solidFill>
          <a:ln/>
        </p:spPr>
      </p:sp>
      <p:pic>
        <p:nvPicPr>
          <p:cNvPr id="4" name="Image 0" descr="icons/chartbar_white.png">    </p:cNvPr>
          <p:cNvPicPr>
            <a:picLocks noChangeAspect="1"/>
          </p:cNvPicPr>
          <p:nvPr/>
        </p:nvPicPr>
        <p:blipFill>
          <a:blip r:embed="rId1"/>
          <a:stretch>
            <a:fillRect/>
          </a:stretch>
        </p:blipFill>
        <p:spPr>
          <a:xfrm>
            <a:off x="914400" y="2423160"/>
            <a:ext cx="411480" cy="411480"/>
          </a:xfrm>
          <a:prstGeom prst="rect">
            <a:avLst/>
          </a:prstGeom>
        </p:spPr>
      </p:pic>
      <p:sp>
        <p:nvSpPr>
          <p:cNvPr id="5" name="Text 2"/>
          <p:cNvSpPr/>
          <p:nvPr/>
        </p:nvSpPr>
        <p:spPr>
          <a:xfrm>
            <a:off x="640080" y="3337560"/>
            <a:ext cx="731520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BLOQUE 02 · VALUACIÓN RELATIVA</a:t>
            </a:r>
            <a:endParaRPr lang="en-US" sz="1300" dirty="0"/>
          </a:p>
        </p:txBody>
      </p:sp>
      <p:sp>
        <p:nvSpPr>
          <p:cNvPr id="6" name="Text 3"/>
          <p:cNvSpPr/>
          <p:nvPr/>
        </p:nvSpPr>
        <p:spPr>
          <a:xfrm>
            <a:off x="640080" y="3703320"/>
            <a:ext cx="7315200" cy="118872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Georgia" pitchFamily="34" charset="0"/>
                <a:ea typeface="Georgia" pitchFamily="34" charset="-122"/>
                <a:cs typeface="Georgia" pitchFamily="34" charset="-120"/>
              </a:rPr>
              <a:t>Análisis por múltiplos</a:t>
            </a:r>
            <a:endParaRPr lang="en-US" sz="3800" dirty="0"/>
          </a:p>
        </p:txBody>
      </p:sp>
      <p:sp>
        <p:nvSpPr>
          <p:cNvPr id="7" name="Text 4"/>
          <p:cNvSpPr/>
          <p:nvPr/>
        </p:nvSpPr>
        <p:spPr>
          <a:xfrm>
            <a:off x="640080" y="5029200"/>
            <a:ext cx="6949440" cy="731520"/>
          </a:xfrm>
          <a:prstGeom prst="rect">
            <a:avLst/>
          </a:prstGeom>
          <a:noFill/>
          <a:ln/>
        </p:spPr>
        <p:txBody>
          <a:bodyPr wrap="square" lIns="0" tIns="0" rIns="0" bIns="0" rtlCol="0" anchor="ctr"/>
          <a:lstStyle/>
          <a:p>
            <a:pPr indent="0" marL="0">
              <a:lnSpc>
                <a:spcPct val="110000"/>
              </a:lnSpc>
              <a:buNone/>
            </a:pPr>
            <a:r>
              <a:rPr lang="en-US" sz="1400" dirty="0">
                <a:solidFill>
                  <a:srgbClr val="9FC3C0"/>
                </a:solidFill>
                <a:latin typeface="Calibri" pitchFamily="34" charset="0"/>
                <a:ea typeface="Calibri" pitchFamily="34" charset="-122"/>
                <a:cs typeface="Calibri" pitchFamily="34" charset="-120"/>
              </a:rPr>
              <a:t>Una foto del precio que el mercado le pone hoy a empresas similares. No reemplaza al FFD: es un chequeo de razonabilidad.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calc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MARCO CONCEPTUAL</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Cuatro múltiplos, cuatro preguntas</a:t>
            </a:r>
            <a:endParaRPr lang="en-US" sz="3000" dirty="0"/>
          </a:p>
        </p:txBody>
      </p:sp>
      <p:sp>
        <p:nvSpPr>
          <p:cNvPr id="6" name="Shape 3"/>
          <p:cNvSpPr/>
          <p:nvPr/>
        </p:nvSpPr>
        <p:spPr>
          <a:xfrm>
            <a:off x="640080" y="2057400"/>
            <a:ext cx="10911535" cy="868680"/>
          </a:xfrm>
          <a:prstGeom prst="roundRect">
            <a:avLst>
              <a:gd name="adj" fmla="val 9474"/>
            </a:avLst>
          </a:prstGeom>
          <a:solidFill>
            <a:srgbClr val="FFFFFF"/>
          </a:solidFill>
          <a:ln/>
          <a:effectLst>
            <a:outerShdw sx="100000" sy="100000" kx="0" ky="0" algn="bl" rotWithShape="0" blurRad="114300" dist="38100" dir="8100000">
              <a:srgbClr val="0B2B33">
                <a:alpha val="14000"/>
              </a:srgbClr>
            </a:outerShdw>
          </a:effectLst>
        </p:spPr>
      </p:sp>
      <p:sp>
        <p:nvSpPr>
          <p:cNvPr id="7" name="Shape 4"/>
          <p:cNvSpPr/>
          <p:nvPr/>
        </p:nvSpPr>
        <p:spPr>
          <a:xfrm>
            <a:off x="868680" y="2258568"/>
            <a:ext cx="1737360" cy="457200"/>
          </a:xfrm>
          <a:prstGeom prst="roundRect">
            <a:avLst>
              <a:gd name="adj" fmla="val 16000"/>
            </a:avLst>
          </a:prstGeom>
          <a:solidFill>
            <a:srgbClr val="0B2B33"/>
          </a:solidFill>
          <a:ln/>
        </p:spPr>
      </p:sp>
      <p:sp>
        <p:nvSpPr>
          <p:cNvPr id="8" name="Text 5"/>
          <p:cNvSpPr/>
          <p:nvPr/>
        </p:nvSpPr>
        <p:spPr>
          <a:xfrm>
            <a:off x="868680" y="2258568"/>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P/E</a:t>
            </a:r>
            <a:endParaRPr lang="en-US" sz="1600" dirty="0"/>
          </a:p>
        </p:txBody>
      </p:sp>
      <p:sp>
        <p:nvSpPr>
          <p:cNvPr id="9" name="Text 6"/>
          <p:cNvSpPr/>
          <p:nvPr/>
        </p:nvSpPr>
        <p:spPr>
          <a:xfrm>
            <a:off x="2834640" y="2057400"/>
            <a:ext cx="3017520" cy="868680"/>
          </a:xfrm>
          <a:prstGeom prst="rect">
            <a:avLst/>
          </a:prstGeom>
          <a:noFill/>
          <a:ln/>
        </p:spPr>
        <p:txBody>
          <a:bodyPr wrap="square" lIns="0" tIns="0" rIns="0" bIns="0" rtlCol="0" anchor="ctr"/>
          <a:lstStyle/>
          <a:p>
            <a:pPr indent="0" marL="0">
              <a:buNone/>
            </a:pPr>
            <a:r>
              <a:rPr lang="en-US" sz="1300" b="1" dirty="0">
                <a:solidFill>
                  <a:srgbClr val="0B2B33"/>
                </a:solidFill>
                <a:latin typeface="Calibri" pitchFamily="34" charset="0"/>
                <a:ea typeface="Calibri" pitchFamily="34" charset="-122"/>
                <a:cs typeface="Calibri" pitchFamily="34" charset="-120"/>
              </a:rPr>
              <a:t>Precio / EPS</a:t>
            </a:r>
            <a:endParaRPr lang="en-US" sz="1300" dirty="0"/>
          </a:p>
        </p:txBody>
      </p:sp>
      <p:sp>
        <p:nvSpPr>
          <p:cNvPr id="10" name="Text 7"/>
          <p:cNvSpPr/>
          <p:nvPr/>
        </p:nvSpPr>
        <p:spPr>
          <a:xfrm>
            <a:off x="5943600" y="2057400"/>
            <a:ext cx="5425135" cy="868680"/>
          </a:xfrm>
          <a:prstGeom prst="rect">
            <a:avLst/>
          </a:prstGeom>
          <a:noFill/>
          <a:ln/>
        </p:spPr>
        <p:txBody>
          <a:bodyPr wrap="square" lIns="0" tIns="0" rIns="0" bIns="0" rtlCol="0" anchor="ctr"/>
          <a:lstStyle/>
          <a:p>
            <a:pPr indent="0" marL="0">
              <a:buNone/>
            </a:pPr>
            <a:r>
              <a:rPr lang="en-US" sz="1250" dirty="0">
                <a:solidFill>
                  <a:srgbClr val="5C6F74"/>
                </a:solidFill>
                <a:latin typeface="Calibri" pitchFamily="34" charset="0"/>
                <a:ea typeface="Calibri" pitchFamily="34" charset="-122"/>
                <a:cs typeface="Calibri" pitchFamily="34" charset="-120"/>
              </a:rPr>
              <a:t>Cuántos años de ganancias paga el inversor.</a:t>
            </a:r>
            <a:endParaRPr lang="en-US" sz="1250" dirty="0"/>
          </a:p>
        </p:txBody>
      </p:sp>
      <p:sp>
        <p:nvSpPr>
          <p:cNvPr id="11" name="Shape 8"/>
          <p:cNvSpPr/>
          <p:nvPr/>
        </p:nvSpPr>
        <p:spPr>
          <a:xfrm>
            <a:off x="640080" y="3108960"/>
            <a:ext cx="10911535" cy="868680"/>
          </a:xfrm>
          <a:prstGeom prst="roundRect">
            <a:avLst>
              <a:gd name="adj" fmla="val 9474"/>
            </a:avLst>
          </a:prstGeom>
          <a:solidFill>
            <a:srgbClr val="FFFFFF"/>
          </a:solidFill>
          <a:ln/>
          <a:effectLst>
            <a:outerShdw sx="100000" sy="100000" kx="0" ky="0" algn="bl" rotWithShape="0" blurRad="114300" dist="38100" dir="8100000">
              <a:srgbClr val="0B2B33">
                <a:alpha val="14000"/>
              </a:srgbClr>
            </a:outerShdw>
          </a:effectLst>
        </p:spPr>
      </p:sp>
      <p:sp>
        <p:nvSpPr>
          <p:cNvPr id="12" name="Shape 9"/>
          <p:cNvSpPr/>
          <p:nvPr/>
        </p:nvSpPr>
        <p:spPr>
          <a:xfrm>
            <a:off x="868680" y="3310128"/>
            <a:ext cx="1737360" cy="457200"/>
          </a:xfrm>
          <a:prstGeom prst="roundRect">
            <a:avLst>
              <a:gd name="adj" fmla="val 16000"/>
            </a:avLst>
          </a:prstGeom>
          <a:solidFill>
            <a:srgbClr val="12A594"/>
          </a:solidFill>
          <a:ln/>
        </p:spPr>
      </p:sp>
      <p:sp>
        <p:nvSpPr>
          <p:cNvPr id="13" name="Text 10"/>
          <p:cNvSpPr/>
          <p:nvPr/>
        </p:nvSpPr>
        <p:spPr>
          <a:xfrm>
            <a:off x="868680" y="3310128"/>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EV/EBITDA</a:t>
            </a:r>
            <a:endParaRPr lang="en-US" sz="1600" dirty="0"/>
          </a:p>
        </p:txBody>
      </p:sp>
      <p:sp>
        <p:nvSpPr>
          <p:cNvPr id="14" name="Text 11"/>
          <p:cNvSpPr/>
          <p:nvPr/>
        </p:nvSpPr>
        <p:spPr>
          <a:xfrm>
            <a:off x="2834640" y="3108960"/>
            <a:ext cx="3017520" cy="868680"/>
          </a:xfrm>
          <a:prstGeom prst="rect">
            <a:avLst/>
          </a:prstGeom>
          <a:noFill/>
          <a:ln/>
        </p:spPr>
        <p:txBody>
          <a:bodyPr wrap="square" lIns="0" tIns="0" rIns="0" bIns="0" rtlCol="0" anchor="ctr"/>
          <a:lstStyle/>
          <a:p>
            <a:pPr indent="0" marL="0">
              <a:buNone/>
            </a:pPr>
            <a:r>
              <a:rPr lang="en-US" sz="1300" b="1" dirty="0">
                <a:solidFill>
                  <a:srgbClr val="0B2B33"/>
                </a:solidFill>
                <a:latin typeface="Calibri" pitchFamily="34" charset="0"/>
                <a:ea typeface="Calibri" pitchFamily="34" charset="-122"/>
                <a:cs typeface="Calibri" pitchFamily="34" charset="-120"/>
              </a:rPr>
              <a:t>Enterprise Value / EBITDA</a:t>
            </a:r>
            <a:endParaRPr lang="en-US" sz="1300" dirty="0"/>
          </a:p>
        </p:txBody>
      </p:sp>
      <p:sp>
        <p:nvSpPr>
          <p:cNvPr id="15" name="Text 12"/>
          <p:cNvSpPr/>
          <p:nvPr/>
        </p:nvSpPr>
        <p:spPr>
          <a:xfrm>
            <a:off x="5943600" y="3108960"/>
            <a:ext cx="5425135" cy="868680"/>
          </a:xfrm>
          <a:prstGeom prst="rect">
            <a:avLst/>
          </a:prstGeom>
          <a:noFill/>
          <a:ln/>
        </p:spPr>
        <p:txBody>
          <a:bodyPr wrap="square" lIns="0" tIns="0" rIns="0" bIns="0" rtlCol="0" anchor="ctr"/>
          <a:lstStyle/>
          <a:p>
            <a:pPr indent="0" marL="0">
              <a:buNone/>
            </a:pPr>
            <a:r>
              <a:rPr lang="en-US" sz="1250" dirty="0">
                <a:solidFill>
                  <a:srgbClr val="5C6F74"/>
                </a:solidFill>
                <a:latin typeface="Calibri" pitchFamily="34" charset="0"/>
                <a:ea typeface="Calibri" pitchFamily="34" charset="-122"/>
                <a:cs typeface="Calibri" pitchFamily="34" charset="-120"/>
              </a:rPr>
              <a:t>Independiente de estructura de capital e impuestos.</a:t>
            </a:r>
            <a:endParaRPr lang="en-US" sz="1250" dirty="0"/>
          </a:p>
        </p:txBody>
      </p:sp>
      <p:sp>
        <p:nvSpPr>
          <p:cNvPr id="16" name="Shape 13"/>
          <p:cNvSpPr/>
          <p:nvPr/>
        </p:nvSpPr>
        <p:spPr>
          <a:xfrm>
            <a:off x="640080" y="4160520"/>
            <a:ext cx="10911535" cy="868680"/>
          </a:xfrm>
          <a:prstGeom prst="roundRect">
            <a:avLst>
              <a:gd name="adj" fmla="val 9474"/>
            </a:avLst>
          </a:prstGeom>
          <a:solidFill>
            <a:srgbClr val="FFFFFF"/>
          </a:solidFill>
          <a:ln/>
          <a:effectLst>
            <a:outerShdw sx="100000" sy="100000" kx="0" ky="0" algn="bl" rotWithShape="0" blurRad="114300" dist="38100" dir="8100000">
              <a:srgbClr val="0B2B33">
                <a:alpha val="14000"/>
              </a:srgbClr>
            </a:outerShdw>
          </a:effectLst>
        </p:spPr>
      </p:sp>
      <p:sp>
        <p:nvSpPr>
          <p:cNvPr id="17" name="Shape 14"/>
          <p:cNvSpPr/>
          <p:nvPr/>
        </p:nvSpPr>
        <p:spPr>
          <a:xfrm>
            <a:off x="868680" y="4361688"/>
            <a:ext cx="1737360" cy="457200"/>
          </a:xfrm>
          <a:prstGeom prst="roundRect">
            <a:avLst>
              <a:gd name="adj" fmla="val 16000"/>
            </a:avLst>
          </a:prstGeom>
          <a:solidFill>
            <a:srgbClr val="0B2B33"/>
          </a:solidFill>
          <a:ln/>
        </p:spPr>
      </p:sp>
      <p:sp>
        <p:nvSpPr>
          <p:cNvPr id="18" name="Text 15"/>
          <p:cNvSpPr/>
          <p:nvPr/>
        </p:nvSpPr>
        <p:spPr>
          <a:xfrm>
            <a:off x="868680" y="4361688"/>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P/S</a:t>
            </a:r>
            <a:endParaRPr lang="en-US" sz="1600" dirty="0"/>
          </a:p>
        </p:txBody>
      </p:sp>
      <p:sp>
        <p:nvSpPr>
          <p:cNvPr id="19" name="Text 16"/>
          <p:cNvSpPr/>
          <p:nvPr/>
        </p:nvSpPr>
        <p:spPr>
          <a:xfrm>
            <a:off x="2834640" y="4160520"/>
            <a:ext cx="3017520" cy="868680"/>
          </a:xfrm>
          <a:prstGeom prst="rect">
            <a:avLst/>
          </a:prstGeom>
          <a:noFill/>
          <a:ln/>
        </p:spPr>
        <p:txBody>
          <a:bodyPr wrap="square" lIns="0" tIns="0" rIns="0" bIns="0" rtlCol="0" anchor="ctr"/>
          <a:lstStyle/>
          <a:p>
            <a:pPr indent="0" marL="0">
              <a:buNone/>
            </a:pPr>
            <a:r>
              <a:rPr lang="en-US" sz="1300" b="1" dirty="0">
                <a:solidFill>
                  <a:srgbClr val="0B2B33"/>
                </a:solidFill>
                <a:latin typeface="Calibri" pitchFamily="34" charset="0"/>
                <a:ea typeface="Calibri" pitchFamily="34" charset="-122"/>
                <a:cs typeface="Calibri" pitchFamily="34" charset="-120"/>
              </a:rPr>
              <a:t>Precio / Ventas</a:t>
            </a:r>
            <a:endParaRPr lang="en-US" sz="1300" dirty="0"/>
          </a:p>
        </p:txBody>
      </p:sp>
      <p:sp>
        <p:nvSpPr>
          <p:cNvPr id="20" name="Text 17"/>
          <p:cNvSpPr/>
          <p:nvPr/>
        </p:nvSpPr>
        <p:spPr>
          <a:xfrm>
            <a:off x="5943600" y="4160520"/>
            <a:ext cx="5425135" cy="868680"/>
          </a:xfrm>
          <a:prstGeom prst="rect">
            <a:avLst/>
          </a:prstGeom>
          <a:noFill/>
          <a:ln/>
        </p:spPr>
        <p:txBody>
          <a:bodyPr wrap="square" lIns="0" tIns="0" rIns="0" bIns="0" rtlCol="0" anchor="ctr"/>
          <a:lstStyle/>
          <a:p>
            <a:pPr indent="0" marL="0">
              <a:buNone/>
            </a:pPr>
            <a:r>
              <a:rPr lang="en-US" sz="1250" dirty="0">
                <a:solidFill>
                  <a:srgbClr val="5C6F74"/>
                </a:solidFill>
                <a:latin typeface="Calibri" pitchFamily="34" charset="0"/>
                <a:ea typeface="Calibri" pitchFamily="34" charset="-122"/>
                <a:cs typeface="Calibri" pitchFamily="34" charset="-120"/>
              </a:rPr>
              <a:t>Útil con ganancias volátiles o negativas.</a:t>
            </a:r>
            <a:endParaRPr lang="en-US" sz="1250" dirty="0"/>
          </a:p>
        </p:txBody>
      </p:sp>
      <p:sp>
        <p:nvSpPr>
          <p:cNvPr id="21" name="Shape 18"/>
          <p:cNvSpPr/>
          <p:nvPr/>
        </p:nvSpPr>
        <p:spPr>
          <a:xfrm>
            <a:off x="640080" y="5212080"/>
            <a:ext cx="10911535" cy="868680"/>
          </a:xfrm>
          <a:prstGeom prst="roundRect">
            <a:avLst>
              <a:gd name="adj" fmla="val 9474"/>
            </a:avLst>
          </a:prstGeom>
          <a:solidFill>
            <a:srgbClr val="FFFFFF"/>
          </a:solidFill>
          <a:ln/>
          <a:effectLst>
            <a:outerShdw sx="100000" sy="100000" kx="0" ky="0" algn="bl" rotWithShape="0" blurRad="114300" dist="38100" dir="8100000">
              <a:srgbClr val="0B2B33">
                <a:alpha val="14000"/>
              </a:srgbClr>
            </a:outerShdw>
          </a:effectLst>
        </p:spPr>
      </p:sp>
      <p:sp>
        <p:nvSpPr>
          <p:cNvPr id="22" name="Shape 19"/>
          <p:cNvSpPr/>
          <p:nvPr/>
        </p:nvSpPr>
        <p:spPr>
          <a:xfrm>
            <a:off x="868680" y="5413248"/>
            <a:ext cx="1737360" cy="457200"/>
          </a:xfrm>
          <a:prstGeom prst="roundRect">
            <a:avLst>
              <a:gd name="adj" fmla="val 16000"/>
            </a:avLst>
          </a:prstGeom>
          <a:solidFill>
            <a:srgbClr val="12A594"/>
          </a:solidFill>
          <a:ln/>
        </p:spPr>
      </p:sp>
      <p:sp>
        <p:nvSpPr>
          <p:cNvPr id="23" name="Text 20"/>
          <p:cNvSpPr/>
          <p:nvPr/>
        </p:nvSpPr>
        <p:spPr>
          <a:xfrm>
            <a:off x="868680" y="5413248"/>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P/B</a:t>
            </a:r>
            <a:endParaRPr lang="en-US" sz="1600" dirty="0"/>
          </a:p>
        </p:txBody>
      </p:sp>
      <p:sp>
        <p:nvSpPr>
          <p:cNvPr id="24" name="Text 21"/>
          <p:cNvSpPr/>
          <p:nvPr/>
        </p:nvSpPr>
        <p:spPr>
          <a:xfrm>
            <a:off x="2834640" y="5212080"/>
            <a:ext cx="3017520" cy="868680"/>
          </a:xfrm>
          <a:prstGeom prst="rect">
            <a:avLst/>
          </a:prstGeom>
          <a:noFill/>
          <a:ln/>
        </p:spPr>
        <p:txBody>
          <a:bodyPr wrap="square" lIns="0" tIns="0" rIns="0" bIns="0" rtlCol="0" anchor="ctr"/>
          <a:lstStyle/>
          <a:p>
            <a:pPr indent="0" marL="0">
              <a:buNone/>
            </a:pPr>
            <a:r>
              <a:rPr lang="en-US" sz="1300" b="1" dirty="0">
                <a:solidFill>
                  <a:srgbClr val="0B2B33"/>
                </a:solidFill>
                <a:latin typeface="Calibri" pitchFamily="34" charset="0"/>
                <a:ea typeface="Calibri" pitchFamily="34" charset="-122"/>
                <a:cs typeface="Calibri" pitchFamily="34" charset="-120"/>
              </a:rPr>
              <a:t>Precio / Valor libros</a:t>
            </a:r>
            <a:endParaRPr lang="en-US" sz="1300" dirty="0"/>
          </a:p>
        </p:txBody>
      </p:sp>
      <p:sp>
        <p:nvSpPr>
          <p:cNvPr id="25" name="Text 22"/>
          <p:cNvSpPr/>
          <p:nvPr/>
        </p:nvSpPr>
        <p:spPr>
          <a:xfrm>
            <a:off x="5943600" y="5212080"/>
            <a:ext cx="5425135" cy="868680"/>
          </a:xfrm>
          <a:prstGeom prst="rect">
            <a:avLst/>
          </a:prstGeom>
          <a:noFill/>
          <a:ln/>
        </p:spPr>
        <p:txBody>
          <a:bodyPr wrap="square" lIns="0" tIns="0" rIns="0" bIns="0" rtlCol="0" anchor="ctr"/>
          <a:lstStyle/>
          <a:p>
            <a:pPr indent="0" marL="0">
              <a:buNone/>
            </a:pPr>
            <a:r>
              <a:rPr lang="en-US" sz="1250" dirty="0">
                <a:solidFill>
                  <a:srgbClr val="5C6F74"/>
                </a:solidFill>
                <a:latin typeface="Calibri" pitchFamily="34" charset="0"/>
                <a:ea typeface="Calibri" pitchFamily="34" charset="-122"/>
                <a:cs typeface="Calibri" pitchFamily="34" charset="-120"/>
              </a:rPr>
              <a:t>Cuánto se paga sobre el patrimonio contable.</a:t>
            </a:r>
            <a:endParaRPr lang="en-US" sz="1250" dirty="0"/>
          </a:p>
        </p:txBody>
      </p:sp>
      <p:sp>
        <p:nvSpPr>
          <p:cNvPr id="26" name="Text 23"/>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7" name="Text 24"/>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chartbar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APPLE VS PARES (MSFT, GOOGL, META, AMZN)</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600" b="1" dirty="0">
                <a:solidFill>
                  <a:srgbClr val="0B2B33"/>
                </a:solidFill>
                <a:latin typeface="Georgia" pitchFamily="34" charset="0"/>
                <a:ea typeface="Georgia" pitchFamily="34" charset="-122"/>
                <a:cs typeface="Georgia" pitchFamily="34" charset="-120"/>
              </a:rPr>
              <a:t>Apple cotiza con prima en casi todos los múltiplos</a:t>
            </a:r>
            <a:endParaRPr lang="en-US" sz="2600" dirty="0"/>
          </a:p>
        </p:txBody>
      </p:sp>
      <p:sp>
        <p:nvSpPr>
          <p:cNvPr id="6" name="Shape 3"/>
          <p:cNvSpPr/>
          <p:nvPr/>
        </p:nvSpPr>
        <p:spPr>
          <a:xfrm>
            <a:off x="640080" y="1874520"/>
            <a:ext cx="731520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11_0.png">    </p:cNvPr>
          <p:cNvPicPr>
            <a:picLocks noChangeAspect="1"/>
          </p:cNvPicPr>
          <p:nvPr/>
        </p:nvPicPr>
        <p:blipFill>
          <a:blip r:embed="rId2"/>
          <a:stretch>
            <a:fillRect/>
          </a:stretch>
        </p:blipFill>
        <p:spPr>
          <a:xfrm>
            <a:off x="868680" y="2953042"/>
            <a:ext cx="6858000" cy="1774876"/>
          </a:xfrm>
          <a:prstGeom prst="rect">
            <a:avLst/>
          </a:prstGeom>
        </p:spPr>
      </p:pic>
      <p:sp>
        <p:nvSpPr>
          <p:cNvPr id="8" name="Shape 4"/>
          <p:cNvSpPr/>
          <p:nvPr/>
        </p:nvSpPr>
        <p:spPr>
          <a:xfrm>
            <a:off x="8321040" y="1874520"/>
            <a:ext cx="3230575" cy="1874520"/>
          </a:xfrm>
          <a:prstGeom prst="roundRect">
            <a:avLst>
              <a:gd name="adj" fmla="val 4878"/>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8577072" y="2112264"/>
            <a:ext cx="420624" cy="420624"/>
          </a:xfrm>
          <a:prstGeom prst="ellipse">
            <a:avLst/>
          </a:prstGeom>
          <a:solidFill>
            <a:srgbClr val="12A594"/>
          </a:solidFill>
          <a:ln/>
        </p:spPr>
      </p:sp>
      <p:pic>
        <p:nvPicPr>
          <p:cNvPr id="10" name="Image 2" descr="icons/chartbar_white.png">    </p:cNvPr>
          <p:cNvPicPr>
            <a:picLocks noChangeAspect="1"/>
          </p:cNvPicPr>
          <p:nvPr/>
        </p:nvPicPr>
        <p:blipFill>
          <a:blip r:embed="rId3"/>
          <a:stretch>
            <a:fillRect/>
          </a:stretch>
        </p:blipFill>
        <p:spPr>
          <a:xfrm>
            <a:off x="8677656" y="2212848"/>
            <a:ext cx="219456" cy="219456"/>
          </a:xfrm>
          <a:prstGeom prst="rect">
            <a:avLst/>
          </a:prstGeom>
        </p:spPr>
      </p:pic>
      <p:sp>
        <p:nvSpPr>
          <p:cNvPr id="11" name="Text 6"/>
          <p:cNvSpPr/>
          <p:nvPr/>
        </p:nvSpPr>
        <p:spPr>
          <a:xfrm>
            <a:off x="9180576" y="2093976"/>
            <a:ext cx="215158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Qué muestra</a:t>
            </a:r>
            <a:endParaRPr lang="en-US" sz="1350" dirty="0"/>
          </a:p>
        </p:txBody>
      </p:sp>
      <p:sp>
        <p:nvSpPr>
          <p:cNvPr id="12" name="Text 7"/>
          <p:cNvSpPr/>
          <p:nvPr/>
        </p:nvSpPr>
        <p:spPr>
          <a:xfrm>
            <a:off x="8577072" y="2532888"/>
            <a:ext cx="2755087" cy="10332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En P/E, EV/EBITDA y P/B, Apple aparece a la derecha del promedio de pares: el mercado paga más por cada peso de ganancia, EBITDA o patrimonio.</a:t>
            </a:r>
            <a:endParaRPr lang="en-US" sz="1200" dirty="0"/>
          </a:p>
        </p:txBody>
      </p:sp>
      <p:sp>
        <p:nvSpPr>
          <p:cNvPr id="13" name="Shape 8"/>
          <p:cNvSpPr/>
          <p:nvPr/>
        </p:nvSpPr>
        <p:spPr>
          <a:xfrm>
            <a:off x="8321040" y="3886200"/>
            <a:ext cx="3230575" cy="1920240"/>
          </a:xfrm>
          <a:prstGeom prst="roundRect">
            <a:avLst>
              <a:gd name="adj" fmla="val 4762"/>
            </a:avLst>
          </a:prstGeom>
          <a:solidFill>
            <a:srgbClr val="FFFFFF"/>
          </a:solidFill>
          <a:ln/>
          <a:effectLst>
            <a:outerShdw sx="100000" sy="100000" kx="0" ky="0" algn="bl" rotWithShape="0" blurRad="114300" dist="38100" dir="8100000">
              <a:srgbClr val="0B2B33">
                <a:alpha val="14000"/>
              </a:srgbClr>
            </a:outerShdw>
          </a:effectLst>
        </p:spPr>
      </p:sp>
      <p:sp>
        <p:nvSpPr>
          <p:cNvPr id="14" name="Shape 9"/>
          <p:cNvSpPr/>
          <p:nvPr/>
        </p:nvSpPr>
        <p:spPr>
          <a:xfrm>
            <a:off x="8577072" y="4123944"/>
            <a:ext cx="420624" cy="420624"/>
          </a:xfrm>
          <a:prstGeom prst="ellipse">
            <a:avLst/>
          </a:prstGeom>
          <a:solidFill>
            <a:srgbClr val="F2A516"/>
          </a:solidFill>
          <a:ln/>
        </p:spPr>
      </p:sp>
      <p:pic>
        <p:nvPicPr>
          <p:cNvPr id="15" name="Image 3" descr="icons/bulb_white.png">    </p:cNvPr>
          <p:cNvPicPr>
            <a:picLocks noChangeAspect="1"/>
          </p:cNvPicPr>
          <p:nvPr/>
        </p:nvPicPr>
        <p:blipFill>
          <a:blip r:embed="rId4"/>
          <a:stretch>
            <a:fillRect/>
          </a:stretch>
        </p:blipFill>
        <p:spPr>
          <a:xfrm>
            <a:off x="8677656" y="4224528"/>
            <a:ext cx="219456" cy="219456"/>
          </a:xfrm>
          <a:prstGeom prst="rect">
            <a:avLst/>
          </a:prstGeom>
        </p:spPr>
      </p:pic>
      <p:sp>
        <p:nvSpPr>
          <p:cNvPr id="16" name="Text 10"/>
          <p:cNvSpPr/>
          <p:nvPr/>
        </p:nvSpPr>
        <p:spPr>
          <a:xfrm>
            <a:off x="9180576" y="4105656"/>
            <a:ext cx="215158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Por qué importa</a:t>
            </a:r>
            <a:endParaRPr lang="en-US" sz="1350" dirty="0"/>
          </a:p>
        </p:txBody>
      </p:sp>
      <p:sp>
        <p:nvSpPr>
          <p:cNvPr id="17" name="Text 11"/>
          <p:cNvSpPr/>
          <p:nvPr/>
        </p:nvSpPr>
        <p:spPr>
          <a:xfrm>
            <a:off x="8577072" y="4544568"/>
            <a:ext cx="2755087" cy="107899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Una prima solo se justifica con mejor crecimiento, márgenes y foso competitivo. El FFD pone esa expectativa a prueba con números.</a:t>
            </a:r>
            <a:endParaRPr lang="en-US" sz="1200" dirty="0"/>
          </a:p>
        </p:txBody>
      </p:sp>
      <p:sp>
        <p:nvSpPr>
          <p:cNvPr id="18" name="Text 12"/>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9" name="Text 13"/>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F2A516"/>
          </a:solidFill>
          <a:ln/>
        </p:spPr>
      </p:sp>
      <p:pic>
        <p:nvPicPr>
          <p:cNvPr id="3" name="Image 0" descr="icons/search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F2A516"/>
                </a:solidFill>
                <a:latin typeface="Calibri" pitchFamily="34" charset="0"/>
                <a:ea typeface="Calibri" pitchFamily="34" charset="-122"/>
                <a:cs typeface="Calibri" pitchFamily="34" charset="-120"/>
              </a:rPr>
              <a:t>LECTURA CRÍTICA</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¿Se justifica la prima de Apple?</a:t>
            </a:r>
            <a:endParaRPr lang="en-US" sz="3000" dirty="0"/>
          </a:p>
        </p:txBody>
      </p:sp>
      <p:sp>
        <p:nvSpPr>
          <p:cNvPr id="6" name="Shape 3"/>
          <p:cNvSpPr/>
          <p:nvPr/>
        </p:nvSpPr>
        <p:spPr>
          <a:xfrm>
            <a:off x="640080" y="2057400"/>
            <a:ext cx="3423818" cy="1737360"/>
          </a:xfrm>
          <a:prstGeom prst="roundRect">
            <a:avLst>
              <a:gd name="adj" fmla="val 5263"/>
            </a:avLst>
          </a:prstGeom>
          <a:solidFill>
            <a:srgbClr val="FFFFFF"/>
          </a:solidFill>
          <a:ln/>
          <a:effectLst>
            <a:outerShdw sx="100000" sy="100000" kx="0" ky="0" algn="bl" rotWithShape="0" blurRad="114300" dist="38100" dir="8100000">
              <a:srgbClr val="0B2B33">
                <a:alpha val="14000"/>
              </a:srgbClr>
            </a:outerShdw>
          </a:effectLst>
        </p:spPr>
      </p:sp>
      <p:sp>
        <p:nvSpPr>
          <p:cNvPr id="7" name="Text 4"/>
          <p:cNvSpPr/>
          <p:nvPr/>
        </p:nvSpPr>
        <p:spPr>
          <a:xfrm>
            <a:off x="914400" y="2286000"/>
            <a:ext cx="2875178" cy="640080"/>
          </a:xfrm>
          <a:prstGeom prst="rect">
            <a:avLst/>
          </a:prstGeom>
          <a:noFill/>
          <a:ln/>
        </p:spPr>
        <p:txBody>
          <a:bodyPr wrap="square" lIns="0" tIns="0" rIns="0" bIns="0" rtlCol="0" anchor="b"/>
          <a:lstStyle/>
          <a:p>
            <a:pPr algn="l" indent="0" marL="0">
              <a:buNone/>
            </a:pPr>
            <a:r>
              <a:rPr lang="en-US" sz="3400" b="1" dirty="0">
                <a:solidFill>
                  <a:srgbClr val="12A594"/>
                </a:solidFill>
                <a:latin typeface="Georgia" pitchFamily="34" charset="0"/>
                <a:ea typeface="Georgia" pitchFamily="34" charset="-122"/>
                <a:cs typeface="Georgia" pitchFamily="34" charset="-120"/>
              </a:rPr>
              <a:t>141,5%</a:t>
            </a:r>
            <a:endParaRPr lang="en-US" sz="3400" dirty="0"/>
          </a:p>
        </p:txBody>
      </p:sp>
      <p:sp>
        <p:nvSpPr>
          <p:cNvPr id="8" name="Text 5"/>
          <p:cNvSpPr/>
          <p:nvPr/>
        </p:nvSpPr>
        <p:spPr>
          <a:xfrm>
            <a:off x="914400" y="2926080"/>
            <a:ext cx="2875178" cy="320040"/>
          </a:xfrm>
          <a:prstGeom prst="rect">
            <a:avLst/>
          </a:prstGeom>
          <a:noFill/>
          <a:ln/>
        </p:spPr>
        <p:txBody>
          <a:bodyPr wrap="square" lIns="0" tIns="0" rIns="0" bIns="0" rtlCol="0" anchor="t"/>
          <a:lstStyle/>
          <a:p>
            <a:pPr algn="l" indent="0" marL="0">
              <a:lnSpc>
                <a:spcPct val="98000"/>
              </a:lnSpc>
              <a:buNone/>
            </a:pPr>
            <a:r>
              <a:rPr lang="en-US" sz="1200" dirty="0">
                <a:solidFill>
                  <a:srgbClr val="5C6F74"/>
                </a:solidFill>
                <a:latin typeface="Calibri" pitchFamily="34" charset="0"/>
                <a:ea typeface="Calibri" pitchFamily="34" charset="-122"/>
                <a:cs typeface="Calibri" pitchFamily="34" charset="-120"/>
              </a:rPr>
              <a:t>ROE</a:t>
            </a:r>
            <a:endParaRPr lang="en-US" sz="1200" dirty="0"/>
          </a:p>
        </p:txBody>
      </p:sp>
      <p:sp>
        <p:nvSpPr>
          <p:cNvPr id="9" name="Text 6"/>
          <p:cNvSpPr/>
          <p:nvPr/>
        </p:nvSpPr>
        <p:spPr>
          <a:xfrm>
            <a:off x="914400" y="3246120"/>
            <a:ext cx="2875178" cy="457200"/>
          </a:xfrm>
          <a:prstGeom prst="rect">
            <a:avLst/>
          </a:prstGeom>
          <a:noFill/>
          <a:ln/>
        </p:spPr>
        <p:txBody>
          <a:bodyPr wrap="square" lIns="0" tIns="0" rIns="0" bIns="0" rtlCol="0" anchor="ctr"/>
          <a:lstStyle/>
          <a:p>
            <a:pPr indent="0" marL="0">
              <a:lnSpc>
                <a:spcPct val="100000"/>
              </a:lnSpc>
              <a:buNone/>
            </a:pPr>
            <a:r>
              <a:rPr lang="en-US" sz="1100" i="1" dirty="0">
                <a:solidFill>
                  <a:srgbClr val="5C6F74"/>
                </a:solidFill>
                <a:latin typeface="Calibri" pitchFamily="34" charset="0"/>
                <a:ea typeface="Calibri" pitchFamily="34" charset="-122"/>
                <a:cs typeface="Calibri" pitchFamily="34" charset="-120"/>
              </a:rPr>
              <a:t>vs ~24-39% de los pares</a:t>
            </a:r>
            <a:endParaRPr lang="en-US" sz="1100" dirty="0"/>
          </a:p>
        </p:txBody>
      </p:sp>
      <p:sp>
        <p:nvSpPr>
          <p:cNvPr id="10" name="Shape 7"/>
          <p:cNvSpPr/>
          <p:nvPr/>
        </p:nvSpPr>
        <p:spPr>
          <a:xfrm>
            <a:off x="4383938" y="2057400"/>
            <a:ext cx="3423818" cy="1737360"/>
          </a:xfrm>
          <a:prstGeom prst="roundRect">
            <a:avLst>
              <a:gd name="adj" fmla="val 5263"/>
            </a:avLst>
          </a:prstGeom>
          <a:solidFill>
            <a:srgbClr val="FFFFFF"/>
          </a:solidFill>
          <a:ln/>
          <a:effectLst>
            <a:outerShdw sx="100000" sy="100000" kx="0" ky="0" algn="bl" rotWithShape="0" blurRad="114300" dist="38100" dir="8100000">
              <a:srgbClr val="0B2B33">
                <a:alpha val="14000"/>
              </a:srgbClr>
            </a:outerShdw>
          </a:effectLst>
        </p:spPr>
      </p:sp>
      <p:sp>
        <p:nvSpPr>
          <p:cNvPr id="11" name="Text 8"/>
          <p:cNvSpPr/>
          <p:nvPr/>
        </p:nvSpPr>
        <p:spPr>
          <a:xfrm>
            <a:off x="4658258" y="2286000"/>
            <a:ext cx="2875178" cy="640080"/>
          </a:xfrm>
          <a:prstGeom prst="rect">
            <a:avLst/>
          </a:prstGeom>
          <a:noFill/>
          <a:ln/>
        </p:spPr>
        <p:txBody>
          <a:bodyPr wrap="square" lIns="0" tIns="0" rIns="0" bIns="0" rtlCol="0" anchor="b"/>
          <a:lstStyle/>
          <a:p>
            <a:pPr algn="l" indent="0" marL="0">
              <a:buNone/>
            </a:pPr>
            <a:r>
              <a:rPr lang="en-US" sz="3400" b="1" dirty="0">
                <a:solidFill>
                  <a:srgbClr val="0B2B33"/>
                </a:solidFill>
                <a:latin typeface="Georgia" pitchFamily="34" charset="0"/>
                <a:ea typeface="Georgia" pitchFamily="34" charset="-122"/>
                <a:cs typeface="Georgia" pitchFamily="34" charset="-120"/>
              </a:rPr>
              <a:t>32,3%</a:t>
            </a:r>
            <a:endParaRPr lang="en-US" sz="3400" dirty="0"/>
          </a:p>
        </p:txBody>
      </p:sp>
      <p:sp>
        <p:nvSpPr>
          <p:cNvPr id="12" name="Text 9"/>
          <p:cNvSpPr/>
          <p:nvPr/>
        </p:nvSpPr>
        <p:spPr>
          <a:xfrm>
            <a:off x="4658258" y="2926080"/>
            <a:ext cx="2875178" cy="320040"/>
          </a:xfrm>
          <a:prstGeom prst="rect">
            <a:avLst/>
          </a:prstGeom>
          <a:noFill/>
          <a:ln/>
        </p:spPr>
        <p:txBody>
          <a:bodyPr wrap="square" lIns="0" tIns="0" rIns="0" bIns="0" rtlCol="0" anchor="t"/>
          <a:lstStyle/>
          <a:p>
            <a:pPr algn="l" indent="0" marL="0">
              <a:lnSpc>
                <a:spcPct val="98000"/>
              </a:lnSpc>
              <a:buNone/>
            </a:pPr>
            <a:r>
              <a:rPr lang="en-US" sz="1200" dirty="0">
                <a:solidFill>
                  <a:srgbClr val="5C6F74"/>
                </a:solidFill>
                <a:latin typeface="Calibri" pitchFamily="34" charset="0"/>
                <a:ea typeface="Calibri" pitchFamily="34" charset="-122"/>
                <a:cs typeface="Calibri" pitchFamily="34" charset="-120"/>
              </a:rPr>
              <a:t>Margen operativo</a:t>
            </a:r>
            <a:endParaRPr lang="en-US" sz="1200" dirty="0"/>
          </a:p>
        </p:txBody>
      </p:sp>
      <p:sp>
        <p:nvSpPr>
          <p:cNvPr id="13" name="Text 10"/>
          <p:cNvSpPr/>
          <p:nvPr/>
        </p:nvSpPr>
        <p:spPr>
          <a:xfrm>
            <a:off x="4658258" y="3246120"/>
            <a:ext cx="2875178" cy="457200"/>
          </a:xfrm>
          <a:prstGeom prst="rect">
            <a:avLst/>
          </a:prstGeom>
          <a:noFill/>
          <a:ln/>
        </p:spPr>
        <p:txBody>
          <a:bodyPr wrap="square" lIns="0" tIns="0" rIns="0" bIns="0" rtlCol="0" anchor="ctr"/>
          <a:lstStyle/>
          <a:p>
            <a:pPr indent="0" marL="0">
              <a:lnSpc>
                <a:spcPct val="100000"/>
              </a:lnSpc>
              <a:buNone/>
            </a:pPr>
            <a:r>
              <a:rPr lang="en-US" sz="1100" i="1" dirty="0">
                <a:solidFill>
                  <a:srgbClr val="5C6F74"/>
                </a:solidFill>
                <a:latin typeface="Calibri" pitchFamily="34" charset="0"/>
                <a:ea typeface="Calibri" pitchFamily="34" charset="-122"/>
                <a:cs typeface="Calibri" pitchFamily="34" charset="-120"/>
              </a:rPr>
              <a:t>rentabilidad de primera línea</a:t>
            </a:r>
            <a:endParaRPr lang="en-US" sz="1100" dirty="0"/>
          </a:p>
        </p:txBody>
      </p:sp>
      <p:sp>
        <p:nvSpPr>
          <p:cNvPr id="14" name="Shape 11"/>
          <p:cNvSpPr/>
          <p:nvPr/>
        </p:nvSpPr>
        <p:spPr>
          <a:xfrm>
            <a:off x="8127797" y="2057400"/>
            <a:ext cx="3423818" cy="1737360"/>
          </a:xfrm>
          <a:prstGeom prst="roundRect">
            <a:avLst>
              <a:gd name="adj" fmla="val 5263"/>
            </a:avLst>
          </a:prstGeom>
          <a:solidFill>
            <a:srgbClr val="FFFFFF"/>
          </a:solidFill>
          <a:ln/>
          <a:effectLst>
            <a:outerShdw sx="100000" sy="100000" kx="0" ky="0" algn="bl" rotWithShape="0" blurRad="114300" dist="38100" dir="8100000">
              <a:srgbClr val="0B2B33">
                <a:alpha val="14000"/>
              </a:srgbClr>
            </a:outerShdw>
          </a:effectLst>
        </p:spPr>
      </p:sp>
      <p:sp>
        <p:nvSpPr>
          <p:cNvPr id="15" name="Text 12"/>
          <p:cNvSpPr/>
          <p:nvPr/>
        </p:nvSpPr>
        <p:spPr>
          <a:xfrm>
            <a:off x="8402117" y="2286000"/>
            <a:ext cx="2875178" cy="640080"/>
          </a:xfrm>
          <a:prstGeom prst="rect">
            <a:avLst/>
          </a:prstGeom>
          <a:noFill/>
          <a:ln/>
        </p:spPr>
        <p:txBody>
          <a:bodyPr wrap="square" lIns="0" tIns="0" rIns="0" bIns="0" rtlCol="0" anchor="b"/>
          <a:lstStyle/>
          <a:p>
            <a:pPr algn="l" indent="0" marL="0">
              <a:buNone/>
            </a:pPr>
            <a:r>
              <a:rPr lang="en-US" sz="3400" b="1" dirty="0">
                <a:solidFill>
                  <a:srgbClr val="E5544E"/>
                </a:solidFill>
                <a:latin typeface="Georgia" pitchFamily="34" charset="0"/>
                <a:ea typeface="Georgia" pitchFamily="34" charset="-122"/>
                <a:cs typeface="Georgia" pitchFamily="34" charset="-120"/>
              </a:rPr>
              <a:t>43,0x</a:t>
            </a:r>
            <a:endParaRPr lang="en-US" sz="3400" dirty="0"/>
          </a:p>
        </p:txBody>
      </p:sp>
      <p:sp>
        <p:nvSpPr>
          <p:cNvPr id="16" name="Text 13"/>
          <p:cNvSpPr/>
          <p:nvPr/>
        </p:nvSpPr>
        <p:spPr>
          <a:xfrm>
            <a:off x="8402117" y="2926080"/>
            <a:ext cx="2875178" cy="320040"/>
          </a:xfrm>
          <a:prstGeom prst="rect">
            <a:avLst/>
          </a:prstGeom>
          <a:noFill/>
          <a:ln/>
        </p:spPr>
        <p:txBody>
          <a:bodyPr wrap="square" lIns="0" tIns="0" rIns="0" bIns="0" rtlCol="0" anchor="t"/>
          <a:lstStyle/>
          <a:p>
            <a:pPr algn="l" indent="0" marL="0">
              <a:lnSpc>
                <a:spcPct val="98000"/>
              </a:lnSpc>
              <a:buNone/>
            </a:pPr>
            <a:r>
              <a:rPr lang="en-US" sz="1200" dirty="0">
                <a:solidFill>
                  <a:srgbClr val="5C6F74"/>
                </a:solidFill>
                <a:latin typeface="Calibri" pitchFamily="34" charset="0"/>
                <a:ea typeface="Calibri" pitchFamily="34" charset="-122"/>
                <a:cs typeface="Calibri" pitchFamily="34" charset="-120"/>
              </a:rPr>
              <a:t>P/B</a:t>
            </a:r>
            <a:endParaRPr lang="en-US" sz="1200" dirty="0"/>
          </a:p>
        </p:txBody>
      </p:sp>
      <p:sp>
        <p:nvSpPr>
          <p:cNvPr id="17" name="Text 14"/>
          <p:cNvSpPr/>
          <p:nvPr/>
        </p:nvSpPr>
        <p:spPr>
          <a:xfrm>
            <a:off x="8402117" y="3246120"/>
            <a:ext cx="2875178" cy="457200"/>
          </a:xfrm>
          <a:prstGeom prst="rect">
            <a:avLst/>
          </a:prstGeom>
          <a:noFill/>
          <a:ln/>
        </p:spPr>
        <p:txBody>
          <a:bodyPr wrap="square" lIns="0" tIns="0" rIns="0" bIns="0" rtlCol="0" anchor="ctr"/>
          <a:lstStyle/>
          <a:p>
            <a:pPr indent="0" marL="0">
              <a:lnSpc>
                <a:spcPct val="100000"/>
              </a:lnSpc>
              <a:buNone/>
            </a:pPr>
            <a:r>
              <a:rPr lang="en-US" sz="1100" i="1" dirty="0">
                <a:solidFill>
                  <a:srgbClr val="5C6F74"/>
                </a:solidFill>
                <a:latin typeface="Calibri" pitchFamily="34" charset="0"/>
                <a:ea typeface="Calibri" pitchFamily="34" charset="-122"/>
                <a:cs typeface="Calibri" pitchFamily="34" charset="-120"/>
              </a:rPr>
              <a:t>el mercado paga el intangible: marca y ecosistema</a:t>
            </a:r>
            <a:endParaRPr lang="en-US" sz="1100" dirty="0"/>
          </a:p>
        </p:txBody>
      </p:sp>
      <p:sp>
        <p:nvSpPr>
          <p:cNvPr id="18" name="Shape 15"/>
          <p:cNvSpPr/>
          <p:nvPr/>
        </p:nvSpPr>
        <p:spPr>
          <a:xfrm>
            <a:off x="640080" y="4114800"/>
            <a:ext cx="10911535" cy="1371600"/>
          </a:xfrm>
          <a:prstGeom prst="roundRect">
            <a:avLst>
              <a:gd name="adj" fmla="val 6667"/>
            </a:avLst>
          </a:prstGeom>
          <a:solidFill>
            <a:srgbClr val="EAF4F2"/>
          </a:solidFill>
          <a:ln/>
          <a:effectLst>
            <a:outerShdw sx="100000" sy="100000" kx="0" ky="0" algn="bl" rotWithShape="0" blurRad="114300" dist="38100" dir="8100000">
              <a:srgbClr val="0B2B33">
                <a:alpha val="14000"/>
              </a:srgbClr>
            </a:outerShdw>
          </a:effectLst>
        </p:spPr>
      </p:sp>
      <p:pic>
        <p:nvPicPr>
          <p:cNvPr id="19" name="Image 1" descr="icons/bulb_teal.png">    </p:cNvPr>
          <p:cNvPicPr>
            <a:picLocks noChangeAspect="1"/>
          </p:cNvPicPr>
          <p:nvPr/>
        </p:nvPicPr>
        <p:blipFill>
          <a:blip r:embed="rId2"/>
          <a:stretch>
            <a:fillRect/>
          </a:stretch>
        </p:blipFill>
        <p:spPr>
          <a:xfrm>
            <a:off x="960120" y="4370832"/>
            <a:ext cx="411480" cy="411480"/>
          </a:xfrm>
          <a:prstGeom prst="rect">
            <a:avLst/>
          </a:prstGeom>
        </p:spPr>
      </p:pic>
      <p:sp>
        <p:nvSpPr>
          <p:cNvPr id="20" name="Text 16"/>
          <p:cNvSpPr/>
          <p:nvPr/>
        </p:nvSpPr>
        <p:spPr>
          <a:xfrm>
            <a:off x="1554480" y="4315968"/>
            <a:ext cx="9722815" cy="411480"/>
          </a:xfrm>
          <a:prstGeom prst="rect">
            <a:avLst/>
          </a:prstGeom>
          <a:noFill/>
          <a:ln/>
        </p:spPr>
        <p:txBody>
          <a:bodyPr wrap="square" lIns="0" tIns="0" rIns="0" bIns="0" rtlCol="0" anchor="ctr"/>
          <a:lstStyle/>
          <a:p>
            <a:pPr indent="0" marL="0">
              <a:buNone/>
            </a:pPr>
            <a:r>
              <a:rPr lang="en-US" sz="1450" b="1" dirty="0">
                <a:solidFill>
                  <a:srgbClr val="0B2B33"/>
                </a:solidFill>
                <a:latin typeface="Calibri" pitchFamily="34" charset="0"/>
                <a:ea typeface="Calibri" pitchFamily="34" charset="-122"/>
                <a:cs typeface="Calibri" pitchFamily="34" charset="-120"/>
              </a:rPr>
              <a:t>La prima tiene fundamento — pero no es gratis.</a:t>
            </a:r>
            <a:endParaRPr lang="en-US" sz="1450" dirty="0"/>
          </a:p>
        </p:txBody>
      </p:sp>
      <p:sp>
        <p:nvSpPr>
          <p:cNvPr id="21" name="Text 17"/>
          <p:cNvSpPr/>
          <p:nvPr/>
        </p:nvSpPr>
        <p:spPr>
          <a:xfrm>
            <a:off x="1554480" y="4736592"/>
            <a:ext cx="9722815" cy="731520"/>
          </a:xfrm>
          <a:prstGeom prst="rect">
            <a:avLst/>
          </a:prstGeom>
          <a:noFill/>
          <a:ln/>
        </p:spPr>
        <p:txBody>
          <a:bodyPr wrap="square" lIns="0" tIns="0" rIns="0" bIns="0" rtlCol="0" anchor="ctr"/>
          <a:lstStyle/>
          <a:p>
            <a:pPr indent="0" marL="0">
              <a:lnSpc>
                <a:spcPct val="105000"/>
              </a:lnSpc>
              <a:buNone/>
            </a:pPr>
            <a:r>
              <a:rPr lang="en-US" sz="1200" dirty="0">
                <a:solidFill>
                  <a:srgbClr val="5C6F74"/>
                </a:solidFill>
                <a:latin typeface="Calibri" pitchFamily="34" charset="0"/>
                <a:ea typeface="Calibri" pitchFamily="34" charset="-122"/>
                <a:cs typeface="Calibri" pitchFamily="34" charset="-120"/>
              </a:rPr>
              <a:t>Apple combina ROE excepcional, márgenes altos y switching costs durables, lo que respalda múltiplos superiores. La pregunta del trabajo es si la prima actual ya descuenta demasiado crecimiento futuro: eso lo responde el FFD.</a:t>
            </a:r>
            <a:endParaRPr lang="en-US" sz="1200" dirty="0"/>
          </a:p>
        </p:txBody>
      </p:sp>
      <p:sp>
        <p:nvSpPr>
          <p:cNvPr id="22" name="Text 18"/>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3" name="Text 19"/>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7589520" y="548640"/>
            <a:ext cx="4754880" cy="5760720"/>
          </a:xfrm>
          <a:prstGeom prst="rect">
            <a:avLst/>
          </a:prstGeom>
          <a:noFill/>
          <a:ln/>
        </p:spPr>
        <p:txBody>
          <a:bodyPr wrap="square" lIns="0" tIns="0" rIns="0" bIns="0" rtlCol="0" anchor="ctr"/>
          <a:lstStyle/>
          <a:p>
            <a:pPr algn="r" indent="0" marL="0">
              <a:buNone/>
            </a:pPr>
            <a:r>
              <a:rPr lang="en-US" sz="30000" b="1" dirty="0">
                <a:solidFill>
                  <a:srgbClr val="0F3A44"/>
                </a:solidFill>
                <a:latin typeface="Georgia" pitchFamily="34" charset="0"/>
                <a:ea typeface="Georgia" pitchFamily="34" charset="-122"/>
                <a:cs typeface="Georgia" pitchFamily="34" charset="-120"/>
              </a:rPr>
              <a:t>03</a:t>
            </a:r>
            <a:endParaRPr lang="en-US" sz="30000" dirty="0"/>
          </a:p>
        </p:txBody>
      </p:sp>
      <p:sp>
        <p:nvSpPr>
          <p:cNvPr id="3" name="Shape 1"/>
          <p:cNvSpPr/>
          <p:nvPr/>
        </p:nvSpPr>
        <p:spPr>
          <a:xfrm>
            <a:off x="640080" y="2148840"/>
            <a:ext cx="960120" cy="960120"/>
          </a:xfrm>
          <a:prstGeom prst="ellipse">
            <a:avLst/>
          </a:prstGeom>
          <a:solidFill>
            <a:srgbClr val="12A594"/>
          </a:solidFill>
          <a:ln/>
        </p:spPr>
      </p:sp>
      <p:pic>
        <p:nvPicPr>
          <p:cNvPr id="4" name="Image 0" descr="icons/percent_white.png">    </p:cNvPr>
          <p:cNvPicPr>
            <a:picLocks noChangeAspect="1"/>
          </p:cNvPicPr>
          <p:nvPr/>
        </p:nvPicPr>
        <p:blipFill>
          <a:blip r:embed="rId1"/>
          <a:stretch>
            <a:fillRect/>
          </a:stretch>
        </p:blipFill>
        <p:spPr>
          <a:xfrm>
            <a:off x="914400" y="2423160"/>
            <a:ext cx="411480" cy="411480"/>
          </a:xfrm>
          <a:prstGeom prst="rect">
            <a:avLst/>
          </a:prstGeom>
        </p:spPr>
      </p:pic>
      <p:sp>
        <p:nvSpPr>
          <p:cNvPr id="5" name="Text 2"/>
          <p:cNvSpPr/>
          <p:nvPr/>
        </p:nvSpPr>
        <p:spPr>
          <a:xfrm>
            <a:off x="640080" y="3337560"/>
            <a:ext cx="731520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BLOQUE 03 · COSTO DE CAPITAL</a:t>
            </a:r>
            <a:endParaRPr lang="en-US" sz="1300" dirty="0"/>
          </a:p>
        </p:txBody>
      </p:sp>
      <p:sp>
        <p:nvSpPr>
          <p:cNvPr id="6" name="Text 3"/>
          <p:cNvSpPr/>
          <p:nvPr/>
        </p:nvSpPr>
        <p:spPr>
          <a:xfrm>
            <a:off x="640080" y="3703320"/>
            <a:ext cx="7315200" cy="118872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Georgia" pitchFamily="34" charset="0"/>
                <a:ea typeface="Georgia" pitchFamily="34" charset="-122"/>
                <a:cs typeface="Georgia" pitchFamily="34" charset="-120"/>
              </a:rPr>
              <a:t>Arquitectura de tasas</a:t>
            </a:r>
            <a:endParaRPr lang="en-US" sz="3800" dirty="0"/>
          </a:p>
        </p:txBody>
      </p:sp>
      <p:sp>
        <p:nvSpPr>
          <p:cNvPr id="7" name="Text 4"/>
          <p:cNvSpPr/>
          <p:nvPr/>
        </p:nvSpPr>
        <p:spPr>
          <a:xfrm>
            <a:off x="640080" y="5029200"/>
            <a:ext cx="6949440" cy="731520"/>
          </a:xfrm>
          <a:prstGeom prst="rect">
            <a:avLst/>
          </a:prstGeom>
          <a:noFill/>
          <a:ln/>
        </p:spPr>
        <p:txBody>
          <a:bodyPr wrap="square" lIns="0" tIns="0" rIns="0" bIns="0" rtlCol="0" anchor="ctr"/>
          <a:lstStyle/>
          <a:p>
            <a:pPr indent="0" marL="0">
              <a:lnSpc>
                <a:spcPct val="110000"/>
              </a:lnSpc>
              <a:buNone/>
            </a:pPr>
            <a:r>
              <a:rPr lang="en-US" sz="1400" dirty="0">
                <a:solidFill>
                  <a:srgbClr val="9FC3C0"/>
                </a:solidFill>
                <a:latin typeface="Calibri" pitchFamily="34" charset="0"/>
                <a:ea typeface="Calibri" pitchFamily="34" charset="-122"/>
                <a:cs typeface="Calibri" pitchFamily="34" charset="-120"/>
              </a:rPr>
              <a:t>Kd, Ke y el camino al WACC. Acá viven varias de nuestras decisiones metodológicas más importantes.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chartarea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UNA SOLA FUENTE DE VERDAD</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600" b="1" dirty="0">
                <a:solidFill>
                  <a:srgbClr val="0B2B33"/>
                </a:solidFill>
                <a:latin typeface="Georgia" pitchFamily="34" charset="0"/>
                <a:ea typeface="Georgia" pitchFamily="34" charset="-122"/>
                <a:cs typeface="Georgia" pitchFamily="34" charset="-120"/>
              </a:rPr>
              <a:t>Parámetros de mercado: snapshot Damodaran abr-2026</a:t>
            </a:r>
            <a:endParaRPr lang="en-US" sz="2600" dirty="0"/>
          </a:p>
        </p:txBody>
      </p:sp>
      <p:sp>
        <p:nvSpPr>
          <p:cNvPr id="6" name="Shape 3"/>
          <p:cNvSpPr/>
          <p:nvPr/>
        </p:nvSpPr>
        <p:spPr>
          <a:xfrm>
            <a:off x="640080" y="2103120"/>
            <a:ext cx="3423818" cy="1554480"/>
          </a:xfrm>
          <a:prstGeom prst="roundRect">
            <a:avLst>
              <a:gd name="adj" fmla="val 5882"/>
            </a:avLst>
          </a:prstGeom>
          <a:solidFill>
            <a:srgbClr val="FFFFFF"/>
          </a:solidFill>
          <a:ln/>
          <a:effectLst>
            <a:outerShdw sx="100000" sy="100000" kx="0" ky="0" algn="bl" rotWithShape="0" blurRad="114300" dist="38100" dir="8100000">
              <a:srgbClr val="0B2B33">
                <a:alpha val="14000"/>
              </a:srgbClr>
            </a:outerShdw>
          </a:effectLst>
        </p:spPr>
      </p:sp>
      <p:sp>
        <p:nvSpPr>
          <p:cNvPr id="7" name="Text 4"/>
          <p:cNvSpPr/>
          <p:nvPr/>
        </p:nvSpPr>
        <p:spPr>
          <a:xfrm>
            <a:off x="914400" y="2359152"/>
            <a:ext cx="2875178" cy="685800"/>
          </a:xfrm>
          <a:prstGeom prst="rect">
            <a:avLst/>
          </a:prstGeom>
          <a:noFill/>
          <a:ln/>
        </p:spPr>
        <p:txBody>
          <a:bodyPr wrap="square" lIns="0" tIns="0" rIns="0" bIns="0" rtlCol="0" anchor="b"/>
          <a:lstStyle/>
          <a:p>
            <a:pPr algn="l" indent="0" marL="0">
              <a:buNone/>
            </a:pPr>
            <a:r>
              <a:rPr lang="en-US" sz="3800" b="1" dirty="0">
                <a:solidFill>
                  <a:srgbClr val="0B2B33"/>
                </a:solidFill>
                <a:latin typeface="Georgia" pitchFamily="34" charset="0"/>
                <a:ea typeface="Georgia" pitchFamily="34" charset="-122"/>
                <a:cs typeface="Georgia" pitchFamily="34" charset="-120"/>
              </a:rPr>
              <a:t>4,32%</a:t>
            </a:r>
            <a:endParaRPr lang="en-US" sz="3800" dirty="0"/>
          </a:p>
        </p:txBody>
      </p:sp>
      <p:sp>
        <p:nvSpPr>
          <p:cNvPr id="8" name="Text 5"/>
          <p:cNvSpPr/>
          <p:nvPr/>
        </p:nvSpPr>
        <p:spPr>
          <a:xfrm>
            <a:off x="914400" y="3044952"/>
            <a:ext cx="2875178" cy="502920"/>
          </a:xfrm>
          <a:prstGeom prst="rect">
            <a:avLst/>
          </a:prstGeom>
          <a:noFill/>
          <a:ln/>
        </p:spPr>
        <p:txBody>
          <a:bodyPr wrap="square" lIns="0" tIns="0" rIns="0" bIns="0" rtlCol="0" anchor="t"/>
          <a:lstStyle/>
          <a:p>
            <a:pPr algn="l" indent="0" marL="0">
              <a:lnSpc>
                <a:spcPct val="98000"/>
              </a:lnSpc>
              <a:buNone/>
            </a:pPr>
            <a:r>
              <a:rPr lang="en-US" sz="1150" dirty="0">
                <a:solidFill>
                  <a:srgbClr val="5C6F74"/>
                </a:solidFill>
                <a:latin typeface="Calibri" pitchFamily="34" charset="0"/>
                <a:ea typeface="Calibri" pitchFamily="34" charset="-122"/>
                <a:cs typeface="Calibri" pitchFamily="34" charset="-120"/>
              </a:rPr>
              <a:t>Risk-free (US Treasury 10Y)</a:t>
            </a:r>
            <a:endParaRPr lang="en-US" sz="1150" dirty="0"/>
          </a:p>
        </p:txBody>
      </p:sp>
      <p:sp>
        <p:nvSpPr>
          <p:cNvPr id="9" name="Shape 6"/>
          <p:cNvSpPr/>
          <p:nvPr/>
        </p:nvSpPr>
        <p:spPr>
          <a:xfrm>
            <a:off x="4383938" y="2103120"/>
            <a:ext cx="3423818" cy="1554480"/>
          </a:xfrm>
          <a:prstGeom prst="roundRect">
            <a:avLst>
              <a:gd name="adj" fmla="val 5882"/>
            </a:avLst>
          </a:prstGeom>
          <a:solidFill>
            <a:srgbClr val="FFFFFF"/>
          </a:solidFill>
          <a:ln/>
          <a:effectLst>
            <a:outerShdw sx="100000" sy="100000" kx="0" ky="0" algn="bl" rotWithShape="0" blurRad="114300" dist="38100" dir="8100000">
              <a:srgbClr val="0B2B33">
                <a:alpha val="14000"/>
              </a:srgbClr>
            </a:outerShdw>
          </a:effectLst>
        </p:spPr>
      </p:sp>
      <p:sp>
        <p:nvSpPr>
          <p:cNvPr id="10" name="Text 7"/>
          <p:cNvSpPr/>
          <p:nvPr/>
        </p:nvSpPr>
        <p:spPr>
          <a:xfrm>
            <a:off x="4658258" y="2359152"/>
            <a:ext cx="2875178" cy="685800"/>
          </a:xfrm>
          <a:prstGeom prst="rect">
            <a:avLst/>
          </a:prstGeom>
          <a:noFill/>
          <a:ln/>
        </p:spPr>
        <p:txBody>
          <a:bodyPr wrap="square" lIns="0" tIns="0" rIns="0" bIns="0" rtlCol="0" anchor="b"/>
          <a:lstStyle/>
          <a:p>
            <a:pPr algn="l" indent="0" marL="0">
              <a:buNone/>
            </a:pPr>
            <a:r>
              <a:rPr lang="en-US" sz="3800" b="1" dirty="0">
                <a:solidFill>
                  <a:srgbClr val="12A594"/>
                </a:solidFill>
                <a:latin typeface="Georgia" pitchFamily="34" charset="0"/>
                <a:ea typeface="Georgia" pitchFamily="34" charset="-122"/>
                <a:cs typeface="Georgia" pitchFamily="34" charset="-120"/>
              </a:rPr>
              <a:t>4,77%</a:t>
            </a:r>
            <a:endParaRPr lang="en-US" sz="3800" dirty="0"/>
          </a:p>
        </p:txBody>
      </p:sp>
      <p:sp>
        <p:nvSpPr>
          <p:cNvPr id="11" name="Text 8"/>
          <p:cNvSpPr/>
          <p:nvPr/>
        </p:nvSpPr>
        <p:spPr>
          <a:xfrm>
            <a:off x="4658258" y="3044952"/>
            <a:ext cx="2875178" cy="502920"/>
          </a:xfrm>
          <a:prstGeom prst="rect">
            <a:avLst/>
          </a:prstGeom>
          <a:noFill/>
          <a:ln/>
        </p:spPr>
        <p:txBody>
          <a:bodyPr wrap="square" lIns="0" tIns="0" rIns="0" bIns="0" rtlCol="0" anchor="t"/>
          <a:lstStyle/>
          <a:p>
            <a:pPr algn="l" indent="0" marL="0">
              <a:lnSpc>
                <a:spcPct val="98000"/>
              </a:lnSpc>
              <a:buNone/>
            </a:pPr>
            <a:r>
              <a:rPr lang="en-US" sz="1150" dirty="0">
                <a:solidFill>
                  <a:srgbClr val="5C6F74"/>
                </a:solidFill>
                <a:latin typeface="Calibri" pitchFamily="34" charset="0"/>
                <a:ea typeface="Calibri" pitchFamily="34" charset="-122"/>
                <a:cs typeface="Calibri" pitchFamily="34" charset="-120"/>
              </a:rPr>
              <a:t>ERP implícito (forward-looking)</a:t>
            </a:r>
            <a:endParaRPr lang="en-US" sz="1150" dirty="0"/>
          </a:p>
        </p:txBody>
      </p:sp>
      <p:sp>
        <p:nvSpPr>
          <p:cNvPr id="12" name="Shape 9"/>
          <p:cNvSpPr/>
          <p:nvPr/>
        </p:nvSpPr>
        <p:spPr>
          <a:xfrm>
            <a:off x="8127797" y="2103120"/>
            <a:ext cx="3423818" cy="1554480"/>
          </a:xfrm>
          <a:prstGeom prst="roundRect">
            <a:avLst>
              <a:gd name="adj" fmla="val 5882"/>
            </a:avLst>
          </a:prstGeom>
          <a:solidFill>
            <a:srgbClr val="FFFFFF"/>
          </a:solidFill>
          <a:ln/>
          <a:effectLst>
            <a:outerShdw sx="100000" sy="100000" kx="0" ky="0" algn="bl" rotWithShape="0" blurRad="114300" dist="38100" dir="8100000">
              <a:srgbClr val="0B2B33">
                <a:alpha val="14000"/>
              </a:srgbClr>
            </a:outerShdw>
          </a:effectLst>
        </p:spPr>
      </p:sp>
      <p:sp>
        <p:nvSpPr>
          <p:cNvPr id="13" name="Text 10"/>
          <p:cNvSpPr/>
          <p:nvPr/>
        </p:nvSpPr>
        <p:spPr>
          <a:xfrm>
            <a:off x="8402117" y="2359152"/>
            <a:ext cx="2875178" cy="685800"/>
          </a:xfrm>
          <a:prstGeom prst="rect">
            <a:avLst/>
          </a:prstGeom>
          <a:noFill/>
          <a:ln/>
        </p:spPr>
        <p:txBody>
          <a:bodyPr wrap="square" lIns="0" tIns="0" rIns="0" bIns="0" rtlCol="0" anchor="b"/>
          <a:lstStyle/>
          <a:p>
            <a:pPr algn="l" indent="0" marL="0">
              <a:buNone/>
            </a:pPr>
            <a:r>
              <a:rPr lang="en-US" sz="3800" b="1" dirty="0">
                <a:solidFill>
                  <a:srgbClr val="C77F00"/>
                </a:solidFill>
                <a:latin typeface="Georgia" pitchFamily="34" charset="0"/>
                <a:ea typeface="Georgia" pitchFamily="34" charset="-122"/>
                <a:cs typeface="Georgia" pitchFamily="34" charset="-120"/>
              </a:rPr>
              <a:t>26 bps</a:t>
            </a:r>
            <a:endParaRPr lang="en-US" sz="3800" dirty="0"/>
          </a:p>
        </p:txBody>
      </p:sp>
      <p:sp>
        <p:nvSpPr>
          <p:cNvPr id="14" name="Text 11"/>
          <p:cNvSpPr/>
          <p:nvPr/>
        </p:nvSpPr>
        <p:spPr>
          <a:xfrm>
            <a:off x="8402117" y="3044952"/>
            <a:ext cx="2875178" cy="502920"/>
          </a:xfrm>
          <a:prstGeom prst="rect">
            <a:avLst/>
          </a:prstGeom>
          <a:noFill/>
          <a:ln/>
        </p:spPr>
        <p:txBody>
          <a:bodyPr wrap="square" lIns="0" tIns="0" rIns="0" bIns="0" rtlCol="0" anchor="t"/>
          <a:lstStyle/>
          <a:p>
            <a:pPr algn="l" indent="0" marL="0">
              <a:lnSpc>
                <a:spcPct val="98000"/>
              </a:lnSpc>
              <a:buNone/>
            </a:pPr>
            <a:r>
              <a:rPr lang="en-US" sz="1150" dirty="0">
                <a:solidFill>
                  <a:srgbClr val="5C6F74"/>
                </a:solidFill>
                <a:latin typeface="Calibri" pitchFamily="34" charset="0"/>
                <a:ea typeface="Calibri" pitchFamily="34" charset="-122"/>
                <a:cs typeface="Calibri" pitchFamily="34" charset="-120"/>
              </a:rPr>
              <a:t>Default spread (rating Aa1)</a:t>
            </a:r>
            <a:endParaRPr lang="en-US" sz="1150" dirty="0"/>
          </a:p>
        </p:txBody>
      </p:sp>
      <p:sp>
        <p:nvSpPr>
          <p:cNvPr id="15" name="Shape 12"/>
          <p:cNvSpPr/>
          <p:nvPr/>
        </p:nvSpPr>
        <p:spPr>
          <a:xfrm>
            <a:off x="640080" y="4023360"/>
            <a:ext cx="10911535" cy="1508760"/>
          </a:xfrm>
          <a:prstGeom prst="roundRect">
            <a:avLst>
              <a:gd name="adj" fmla="val 6061"/>
            </a:avLst>
          </a:prstGeom>
          <a:solidFill>
            <a:srgbClr val="0B2B33"/>
          </a:solidFill>
          <a:ln/>
          <a:effectLst>
            <a:outerShdw sx="100000" sy="100000" kx="0" ky="0" algn="bl" rotWithShape="0" blurRad="114300" dist="38100" dir="8100000">
              <a:srgbClr val="0B2B33">
                <a:alpha val="14000"/>
              </a:srgbClr>
            </a:outerShdw>
          </a:effectLst>
        </p:spPr>
      </p:sp>
      <p:sp>
        <p:nvSpPr>
          <p:cNvPr id="16" name="Shape 13"/>
          <p:cNvSpPr/>
          <p:nvPr/>
        </p:nvSpPr>
        <p:spPr>
          <a:xfrm>
            <a:off x="960120" y="4297680"/>
            <a:ext cx="502920" cy="502920"/>
          </a:xfrm>
          <a:prstGeom prst="ellipse">
            <a:avLst/>
          </a:prstGeom>
          <a:solidFill>
            <a:srgbClr val="F2A516"/>
          </a:solidFill>
          <a:ln/>
        </p:spPr>
      </p:sp>
      <p:pic>
        <p:nvPicPr>
          <p:cNvPr id="17" name="Image 1" descr="icons/useredit_ink.png">    </p:cNvPr>
          <p:cNvPicPr>
            <a:picLocks noChangeAspect="1"/>
          </p:cNvPicPr>
          <p:nvPr/>
        </p:nvPicPr>
        <p:blipFill>
          <a:blip r:embed="rId2"/>
          <a:stretch>
            <a:fillRect/>
          </a:stretch>
        </p:blipFill>
        <p:spPr>
          <a:xfrm>
            <a:off x="1097280" y="4434840"/>
            <a:ext cx="228600" cy="228600"/>
          </a:xfrm>
          <a:prstGeom prst="rect">
            <a:avLst/>
          </a:prstGeom>
        </p:spPr>
      </p:pic>
      <p:sp>
        <p:nvSpPr>
          <p:cNvPr id="18" name="Text 14"/>
          <p:cNvSpPr/>
          <p:nvPr/>
        </p:nvSpPr>
        <p:spPr>
          <a:xfrm>
            <a:off x="1600200" y="4224528"/>
            <a:ext cx="9722815" cy="457200"/>
          </a:xfrm>
          <a:prstGeom prst="rect">
            <a:avLst/>
          </a:prstGeom>
          <a:noFill/>
          <a:ln/>
        </p:spPr>
        <p:txBody>
          <a:bodyPr wrap="square" lIns="0" tIns="0" rIns="0" bIns="0" rtlCol="0" anchor="ctr"/>
          <a:lstStyle/>
          <a:p>
            <a:pPr indent="0" marL="0">
              <a:buNone/>
            </a:pPr>
            <a:r>
              <a:rPr lang="en-US" sz="1400" b="1" dirty="0">
                <a:solidFill>
                  <a:srgbClr val="F2A516"/>
                </a:solidFill>
                <a:latin typeface="Calibri" pitchFamily="34" charset="0"/>
                <a:ea typeface="Calibri" pitchFamily="34" charset="-122"/>
                <a:cs typeface="Calibri" pitchFamily="34" charset="-120"/>
              </a:rPr>
              <a:t>Nuestra decisión: fijar un snapshot para que la valuación sea reproducible</a:t>
            </a:r>
            <a:endParaRPr lang="en-US" sz="1400" dirty="0"/>
          </a:p>
        </p:txBody>
      </p:sp>
      <p:sp>
        <p:nvSpPr>
          <p:cNvPr id="19" name="Text 15"/>
          <p:cNvSpPr/>
          <p:nvPr/>
        </p:nvSpPr>
        <p:spPr>
          <a:xfrm>
            <a:off x="1600200" y="4736592"/>
            <a:ext cx="9631375" cy="731520"/>
          </a:xfrm>
          <a:prstGeom prst="rect">
            <a:avLst/>
          </a:prstGeom>
          <a:noFill/>
          <a:ln/>
        </p:spPr>
        <p:txBody>
          <a:bodyPr wrap="square" lIns="0" tIns="0" rIns="0" bIns="0" rtlCol="0" anchor="ctr"/>
          <a:lstStyle/>
          <a:p>
            <a:pPr indent="0" marL="0">
              <a:lnSpc>
                <a:spcPct val="106000"/>
              </a:lnSpc>
              <a:buNone/>
            </a:pPr>
            <a:r>
              <a:rPr lang="en-US" sz="1200" dirty="0">
                <a:solidFill>
                  <a:srgbClr val="9FC3C0"/>
                </a:solidFill>
                <a:latin typeface="Calibri" pitchFamily="34" charset="0"/>
                <a:ea typeface="Calibri" pitchFamily="34" charset="-122"/>
                <a:cs typeface="Calibri" pitchFamily="34" charset="-120"/>
              </a:rPr>
              <a:t>Rf y ERP provienen del mismo modelo de Damodaran (ERPApril26). Los datos vivos (precio, deuda, acciones) se bajan de Yahoo Finance, así que el precio objetivo puede variar levemente según el día de corrida.</a:t>
            </a:r>
            <a:endParaRPr lang="en-US" sz="1200" dirty="0"/>
          </a:p>
        </p:txBody>
      </p:sp>
      <p:sp>
        <p:nvSpPr>
          <p:cNvPr id="20" name="Text 16"/>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1" name="Text 17"/>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coins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COSTO DE LA DEUDA (KD)</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El método synthetic y el escudo fiscal</a:t>
            </a:r>
            <a:endParaRPr lang="en-US" sz="3000" dirty="0"/>
          </a:p>
        </p:txBody>
      </p:sp>
      <p:sp>
        <p:nvSpPr>
          <p:cNvPr id="6" name="Shape 3"/>
          <p:cNvSpPr/>
          <p:nvPr/>
        </p:nvSpPr>
        <p:spPr>
          <a:xfrm>
            <a:off x="640080" y="1874520"/>
            <a:ext cx="658368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17_1.png">    </p:cNvPr>
          <p:cNvPicPr>
            <a:picLocks noChangeAspect="1"/>
          </p:cNvPicPr>
          <p:nvPr/>
        </p:nvPicPr>
        <p:blipFill>
          <a:blip r:embed="rId2"/>
          <a:stretch>
            <a:fillRect/>
          </a:stretch>
        </p:blipFill>
        <p:spPr>
          <a:xfrm>
            <a:off x="896112" y="2508686"/>
            <a:ext cx="6071616" cy="2663589"/>
          </a:xfrm>
          <a:prstGeom prst="rect">
            <a:avLst/>
          </a:prstGeom>
        </p:spPr>
      </p:pic>
      <p:sp>
        <p:nvSpPr>
          <p:cNvPr id="8" name="Shape 4"/>
          <p:cNvSpPr/>
          <p:nvPr/>
        </p:nvSpPr>
        <p:spPr>
          <a:xfrm>
            <a:off x="7589520" y="1874520"/>
            <a:ext cx="3962095" cy="1783080"/>
          </a:xfrm>
          <a:prstGeom prst="roundRect">
            <a:avLst>
              <a:gd name="adj" fmla="val 5128"/>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7845552" y="2112264"/>
            <a:ext cx="420624" cy="420624"/>
          </a:xfrm>
          <a:prstGeom prst="ellipse">
            <a:avLst/>
          </a:prstGeom>
          <a:solidFill>
            <a:srgbClr val="12A594"/>
          </a:solidFill>
          <a:ln/>
        </p:spPr>
      </p:sp>
      <p:pic>
        <p:nvPicPr>
          <p:cNvPr id="10" name="Image 2" descr="icons/coins_white.png">    </p:cNvPr>
          <p:cNvPicPr>
            <a:picLocks noChangeAspect="1"/>
          </p:cNvPicPr>
          <p:nvPr/>
        </p:nvPicPr>
        <p:blipFill>
          <a:blip r:embed="rId3"/>
          <a:stretch>
            <a:fillRect/>
          </a:stretch>
        </p:blipFill>
        <p:spPr>
          <a:xfrm>
            <a:off x="7946136" y="2212848"/>
            <a:ext cx="219456" cy="219456"/>
          </a:xfrm>
          <a:prstGeom prst="rect">
            <a:avLst/>
          </a:prstGeom>
        </p:spPr>
      </p:pic>
      <p:sp>
        <p:nvSpPr>
          <p:cNvPr id="11" name="Text 6"/>
          <p:cNvSpPr/>
          <p:nvPr/>
        </p:nvSpPr>
        <p:spPr>
          <a:xfrm>
            <a:off x="8449056" y="2093976"/>
            <a:ext cx="288310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Kd = Rf + spread</a:t>
            </a:r>
            <a:endParaRPr lang="en-US" sz="1350" dirty="0"/>
          </a:p>
        </p:txBody>
      </p:sp>
      <p:sp>
        <p:nvSpPr>
          <p:cNvPr id="12" name="Text 7"/>
          <p:cNvSpPr/>
          <p:nvPr/>
        </p:nvSpPr>
        <p:spPr>
          <a:xfrm>
            <a:off x="7845552" y="2532888"/>
            <a:ext cx="3486607" cy="94183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Synthetic: 4,32% + 26 bps = 4,58%. Apple tiene rating de máxima calidad (Aa1/AA+), así que paga muy poco sobre el Treasury.</a:t>
            </a:r>
            <a:endParaRPr lang="en-US" sz="1200" dirty="0"/>
          </a:p>
        </p:txBody>
      </p:sp>
      <p:sp>
        <p:nvSpPr>
          <p:cNvPr id="13" name="Shape 8"/>
          <p:cNvSpPr/>
          <p:nvPr/>
        </p:nvSpPr>
        <p:spPr>
          <a:xfrm>
            <a:off x="7589520" y="3794760"/>
            <a:ext cx="3962095" cy="2011680"/>
          </a:xfrm>
          <a:prstGeom prst="roundRect">
            <a:avLst>
              <a:gd name="adj" fmla="val 4545"/>
            </a:avLst>
          </a:prstGeom>
          <a:solidFill>
            <a:srgbClr val="FFFFFF"/>
          </a:solidFill>
          <a:ln/>
          <a:effectLst>
            <a:outerShdw sx="100000" sy="100000" kx="0" ky="0" algn="bl" rotWithShape="0" blurRad="114300" dist="38100" dir="8100000">
              <a:srgbClr val="0B2B33">
                <a:alpha val="14000"/>
              </a:srgbClr>
            </a:outerShdw>
          </a:effectLst>
        </p:spPr>
      </p:sp>
      <p:sp>
        <p:nvSpPr>
          <p:cNvPr id="14" name="Shape 9"/>
          <p:cNvSpPr/>
          <p:nvPr/>
        </p:nvSpPr>
        <p:spPr>
          <a:xfrm>
            <a:off x="7845552" y="4032504"/>
            <a:ext cx="420624" cy="420624"/>
          </a:xfrm>
          <a:prstGeom prst="ellipse">
            <a:avLst/>
          </a:prstGeom>
          <a:solidFill>
            <a:srgbClr val="F2A516"/>
          </a:solidFill>
          <a:ln/>
        </p:spPr>
      </p:sp>
      <p:pic>
        <p:nvPicPr>
          <p:cNvPr id="15" name="Image 3" descr="icons/useredit_white.png">    </p:cNvPr>
          <p:cNvPicPr>
            <a:picLocks noChangeAspect="1"/>
          </p:cNvPicPr>
          <p:nvPr/>
        </p:nvPicPr>
        <p:blipFill>
          <a:blip r:embed="rId4"/>
          <a:stretch>
            <a:fillRect/>
          </a:stretch>
        </p:blipFill>
        <p:spPr>
          <a:xfrm>
            <a:off x="7946136" y="4133088"/>
            <a:ext cx="219456" cy="219456"/>
          </a:xfrm>
          <a:prstGeom prst="rect">
            <a:avLst/>
          </a:prstGeom>
        </p:spPr>
      </p:pic>
      <p:sp>
        <p:nvSpPr>
          <p:cNvPr id="16" name="Text 10"/>
          <p:cNvSpPr/>
          <p:nvPr/>
        </p:nvSpPr>
        <p:spPr>
          <a:xfrm>
            <a:off x="8449056" y="4014216"/>
            <a:ext cx="288310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Decisiones nuestras</a:t>
            </a:r>
            <a:endParaRPr lang="en-US" sz="1350" dirty="0"/>
          </a:p>
        </p:txBody>
      </p:sp>
      <p:sp>
        <p:nvSpPr>
          <p:cNvPr id="17" name="Text 11"/>
          <p:cNvSpPr/>
          <p:nvPr/>
        </p:nvSpPr>
        <p:spPr>
          <a:xfrm>
            <a:off x="7845552" y="4453128"/>
            <a:ext cx="3486607" cy="117043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Usamos el costo marginal de fondeo hoy (no el contable, que mezcla deuda vieja) y la tasa impositiva efectiva promedio 4 años (17,66%), no la marginal. Resultado: Kd después de impuestos = 3,77%.</a:t>
            </a:r>
            <a:endParaRPr lang="en-US" sz="1200" dirty="0"/>
          </a:p>
        </p:txBody>
      </p:sp>
      <p:sp>
        <p:nvSpPr>
          <p:cNvPr id="18" name="Text 12"/>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9" name="Text 13"/>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chartline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CAPM · ESTIMACIÓN DE BETA</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Regresión propia: AAPL contra el S&amp;P 500</a:t>
            </a:r>
            <a:endParaRPr lang="en-US" sz="3000" dirty="0"/>
          </a:p>
        </p:txBody>
      </p:sp>
      <p:sp>
        <p:nvSpPr>
          <p:cNvPr id="6" name="Shape 3"/>
          <p:cNvSpPr/>
          <p:nvPr/>
        </p:nvSpPr>
        <p:spPr>
          <a:xfrm>
            <a:off x="640080" y="1874520"/>
            <a:ext cx="694944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22_0.png">    </p:cNvPr>
          <p:cNvPicPr>
            <a:picLocks noChangeAspect="1"/>
          </p:cNvPicPr>
          <p:nvPr/>
        </p:nvPicPr>
        <p:blipFill>
          <a:blip r:embed="rId2"/>
          <a:stretch>
            <a:fillRect/>
          </a:stretch>
        </p:blipFill>
        <p:spPr>
          <a:xfrm>
            <a:off x="1430036" y="2103120"/>
            <a:ext cx="5369528" cy="3474720"/>
          </a:xfrm>
          <a:prstGeom prst="rect">
            <a:avLst/>
          </a:prstGeom>
        </p:spPr>
      </p:pic>
      <p:sp>
        <p:nvSpPr>
          <p:cNvPr id="8" name="Shape 4"/>
          <p:cNvSpPr/>
          <p:nvPr/>
        </p:nvSpPr>
        <p:spPr>
          <a:xfrm>
            <a:off x="7955280" y="1874520"/>
            <a:ext cx="3596335" cy="1783080"/>
          </a:xfrm>
          <a:prstGeom prst="roundRect">
            <a:avLst>
              <a:gd name="adj" fmla="val 5128"/>
            </a:avLst>
          </a:prstGeom>
          <a:solidFill>
            <a:srgbClr val="FFFFFF"/>
          </a:solidFill>
          <a:ln/>
          <a:effectLst>
            <a:outerShdw sx="100000" sy="100000" kx="0" ky="0" algn="bl" rotWithShape="0" blurRad="114300" dist="38100" dir="8100000">
              <a:srgbClr val="0B2B33">
                <a:alpha val="14000"/>
              </a:srgbClr>
            </a:outerShdw>
          </a:effectLst>
        </p:spPr>
      </p:sp>
      <p:sp>
        <p:nvSpPr>
          <p:cNvPr id="9" name="Text 5"/>
          <p:cNvSpPr/>
          <p:nvPr/>
        </p:nvSpPr>
        <p:spPr>
          <a:xfrm>
            <a:off x="8229600" y="2057400"/>
            <a:ext cx="3047695" cy="566928"/>
          </a:xfrm>
          <a:prstGeom prst="rect">
            <a:avLst/>
          </a:prstGeom>
          <a:noFill/>
          <a:ln/>
        </p:spPr>
        <p:txBody>
          <a:bodyPr wrap="square" lIns="0" tIns="0" rIns="0" bIns="0" rtlCol="0" anchor="b"/>
          <a:lstStyle/>
          <a:p>
            <a:pPr algn="l" indent="0" marL="0">
              <a:buNone/>
            </a:pPr>
            <a:r>
              <a:rPr lang="en-US" sz="3000" b="1" dirty="0">
                <a:solidFill>
                  <a:srgbClr val="0B2B33"/>
                </a:solidFill>
                <a:latin typeface="Georgia" pitchFamily="34" charset="0"/>
                <a:ea typeface="Georgia" pitchFamily="34" charset="-122"/>
                <a:cs typeface="Georgia" pitchFamily="34" charset="-120"/>
              </a:rPr>
              <a:t>β = 1,084</a:t>
            </a:r>
            <a:endParaRPr lang="en-US" sz="3000" dirty="0"/>
          </a:p>
        </p:txBody>
      </p:sp>
      <p:sp>
        <p:nvSpPr>
          <p:cNvPr id="10" name="Text 6"/>
          <p:cNvSpPr/>
          <p:nvPr/>
        </p:nvSpPr>
        <p:spPr>
          <a:xfrm>
            <a:off x="8229600" y="2624328"/>
            <a:ext cx="3047695" cy="54864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Beta apalancado (OLS, 5 años mensual, 59 obs.)</a:t>
            </a:r>
            <a:endParaRPr lang="en-US" sz="1100" dirty="0"/>
          </a:p>
        </p:txBody>
      </p:sp>
      <p:sp>
        <p:nvSpPr>
          <p:cNvPr id="11" name="Shape 7"/>
          <p:cNvSpPr/>
          <p:nvPr/>
        </p:nvSpPr>
        <p:spPr>
          <a:xfrm>
            <a:off x="7955280" y="3794760"/>
            <a:ext cx="3596335" cy="2011680"/>
          </a:xfrm>
          <a:prstGeom prst="roundRect">
            <a:avLst>
              <a:gd name="adj" fmla="val 4545"/>
            </a:avLst>
          </a:prstGeom>
          <a:solidFill>
            <a:srgbClr val="FFFFFF"/>
          </a:solidFill>
          <a:ln/>
          <a:effectLst>
            <a:outerShdw sx="100000" sy="100000" kx="0" ky="0" algn="bl" rotWithShape="0" blurRad="114300" dist="38100" dir="8100000">
              <a:srgbClr val="0B2B33">
                <a:alpha val="14000"/>
              </a:srgbClr>
            </a:outerShdw>
          </a:effectLst>
        </p:spPr>
      </p:sp>
      <p:sp>
        <p:nvSpPr>
          <p:cNvPr id="12" name="Shape 8"/>
          <p:cNvSpPr/>
          <p:nvPr/>
        </p:nvSpPr>
        <p:spPr>
          <a:xfrm>
            <a:off x="8211312" y="4032504"/>
            <a:ext cx="420624" cy="420624"/>
          </a:xfrm>
          <a:prstGeom prst="ellipse">
            <a:avLst/>
          </a:prstGeom>
          <a:solidFill>
            <a:srgbClr val="12A594"/>
          </a:solidFill>
          <a:ln/>
        </p:spPr>
      </p:sp>
      <p:pic>
        <p:nvPicPr>
          <p:cNvPr id="13" name="Image 2" descr="icons/chartline_white.png">    </p:cNvPr>
          <p:cNvPicPr>
            <a:picLocks noChangeAspect="1"/>
          </p:cNvPicPr>
          <p:nvPr/>
        </p:nvPicPr>
        <p:blipFill>
          <a:blip r:embed="rId3"/>
          <a:stretch>
            <a:fillRect/>
          </a:stretch>
        </p:blipFill>
        <p:spPr>
          <a:xfrm>
            <a:off x="8311896" y="4133088"/>
            <a:ext cx="219456" cy="219456"/>
          </a:xfrm>
          <a:prstGeom prst="rect">
            <a:avLst/>
          </a:prstGeom>
        </p:spPr>
      </p:pic>
      <p:sp>
        <p:nvSpPr>
          <p:cNvPr id="14" name="Text 9"/>
          <p:cNvSpPr/>
          <p:nvPr/>
        </p:nvSpPr>
        <p:spPr>
          <a:xfrm>
            <a:off x="8814816" y="4014216"/>
            <a:ext cx="251734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R² = 0,485</a:t>
            </a:r>
            <a:endParaRPr lang="en-US" sz="1350" dirty="0"/>
          </a:p>
        </p:txBody>
      </p:sp>
      <p:sp>
        <p:nvSpPr>
          <p:cNvPr id="15" name="Text 10"/>
          <p:cNvSpPr/>
          <p:nvPr/>
        </p:nvSpPr>
        <p:spPr>
          <a:xfrm>
            <a:off x="8211312" y="4453128"/>
            <a:ext cx="3120847" cy="117043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El mercado explica ~48,5% de la varianza de Apple. β &gt; 1: la acción amplifica los movimientos del índice. Es el punto de partida del costo del accionista.</a:t>
            </a:r>
            <a:endParaRPr lang="en-US" sz="1200" dirty="0"/>
          </a:p>
        </p:txBody>
      </p:sp>
      <p:sp>
        <p:nvSpPr>
          <p:cNvPr id="16" name="Text 11"/>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7" name="Text 12"/>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F2A516"/>
          </a:solidFill>
          <a:ln/>
        </p:spPr>
      </p:sp>
      <p:pic>
        <p:nvPicPr>
          <p:cNvPr id="3" name="Image 0" descr="icons/useredit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F2A516"/>
                </a:solidFill>
                <a:latin typeface="Calibri" pitchFamily="34" charset="0"/>
                <a:ea typeface="Calibri" pitchFamily="34" charset="-122"/>
                <a:cs typeface="Calibri" pitchFamily="34" charset="-120"/>
              </a:rPr>
              <a:t>DECISIÓN METODOLÓGICA CLAVE</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600" b="1" dirty="0">
                <a:solidFill>
                  <a:srgbClr val="0B2B33"/>
                </a:solidFill>
                <a:latin typeface="Georgia" pitchFamily="34" charset="0"/>
                <a:ea typeface="Georgia" pitchFamily="34" charset="-122"/>
                <a:cs typeface="Georgia" pitchFamily="34" charset="-120"/>
              </a:rPr>
              <a:t>Por qué usamos el Beta de Blume, no el crudo</a:t>
            </a:r>
            <a:endParaRPr lang="en-US" sz="2600" dirty="0"/>
          </a:p>
        </p:txBody>
      </p:sp>
      <p:sp>
        <p:nvSpPr>
          <p:cNvPr id="6" name="Shape 3"/>
          <p:cNvSpPr/>
          <p:nvPr/>
        </p:nvSpPr>
        <p:spPr>
          <a:xfrm>
            <a:off x="640080" y="2011680"/>
            <a:ext cx="5272888" cy="1463040"/>
          </a:xfrm>
          <a:prstGeom prst="roundRect">
            <a:avLst>
              <a:gd name="adj" fmla="val 6250"/>
            </a:avLst>
          </a:prstGeom>
          <a:solidFill>
            <a:srgbClr val="FFFFFF"/>
          </a:solidFill>
          <a:ln/>
          <a:effectLst>
            <a:outerShdw sx="100000" sy="100000" kx="0" ky="0" algn="bl" rotWithShape="0" blurRad="114300" dist="38100" dir="8100000">
              <a:srgbClr val="0B2B33">
                <a:alpha val="14000"/>
              </a:srgbClr>
            </a:outerShdw>
          </a:effectLst>
        </p:spPr>
      </p:sp>
      <p:sp>
        <p:nvSpPr>
          <p:cNvPr id="7" name="Text 4"/>
          <p:cNvSpPr/>
          <p:nvPr/>
        </p:nvSpPr>
        <p:spPr>
          <a:xfrm>
            <a:off x="914400" y="2194560"/>
            <a:ext cx="4724248" cy="640080"/>
          </a:xfrm>
          <a:prstGeom prst="rect">
            <a:avLst/>
          </a:prstGeom>
          <a:noFill/>
          <a:ln/>
        </p:spPr>
        <p:txBody>
          <a:bodyPr wrap="square" lIns="0" tIns="0" rIns="0" bIns="0" rtlCol="0" anchor="b"/>
          <a:lstStyle/>
          <a:p>
            <a:pPr algn="l" indent="0" marL="0">
              <a:buNone/>
            </a:pPr>
            <a:r>
              <a:rPr lang="en-US" sz="3400" b="1" dirty="0">
                <a:solidFill>
                  <a:srgbClr val="5C6F74"/>
                </a:solidFill>
                <a:latin typeface="Georgia" pitchFamily="34" charset="0"/>
                <a:ea typeface="Georgia" pitchFamily="34" charset="-122"/>
                <a:cs typeface="Georgia" pitchFamily="34" charset="-120"/>
              </a:rPr>
              <a:t>1,084</a:t>
            </a:r>
            <a:endParaRPr lang="en-US" sz="3400" dirty="0"/>
          </a:p>
        </p:txBody>
      </p:sp>
      <p:sp>
        <p:nvSpPr>
          <p:cNvPr id="8" name="Text 5"/>
          <p:cNvSpPr/>
          <p:nvPr/>
        </p:nvSpPr>
        <p:spPr>
          <a:xfrm>
            <a:off x="914400" y="2834640"/>
            <a:ext cx="4724248" cy="365760"/>
          </a:xfrm>
          <a:prstGeom prst="rect">
            <a:avLst/>
          </a:prstGeom>
          <a:noFill/>
          <a:ln/>
        </p:spPr>
        <p:txBody>
          <a:bodyPr wrap="square" lIns="0" tIns="0" rIns="0" bIns="0" rtlCol="0" anchor="t"/>
          <a:lstStyle/>
          <a:p>
            <a:pPr algn="l" indent="0" marL="0">
              <a:lnSpc>
                <a:spcPct val="98000"/>
              </a:lnSpc>
              <a:buNone/>
            </a:pPr>
            <a:r>
              <a:rPr lang="en-US" sz="1150" dirty="0">
                <a:solidFill>
                  <a:srgbClr val="5C6F74"/>
                </a:solidFill>
                <a:latin typeface="Calibri" pitchFamily="34" charset="0"/>
                <a:ea typeface="Calibri" pitchFamily="34" charset="-122"/>
                <a:cs typeface="Calibri" pitchFamily="34" charset="-120"/>
              </a:rPr>
              <a:t>β crudo (regresión OLS)</a:t>
            </a:r>
            <a:endParaRPr lang="en-US" sz="1150" dirty="0"/>
          </a:p>
        </p:txBody>
      </p:sp>
      <p:sp>
        <p:nvSpPr>
          <p:cNvPr id="9" name="Shape 6"/>
          <p:cNvSpPr/>
          <p:nvPr/>
        </p:nvSpPr>
        <p:spPr>
          <a:xfrm>
            <a:off x="6278728" y="2011680"/>
            <a:ext cx="5272888" cy="1463040"/>
          </a:xfrm>
          <a:prstGeom prst="roundRect">
            <a:avLst>
              <a:gd name="adj" fmla="val 6250"/>
            </a:avLst>
          </a:prstGeom>
          <a:solidFill>
            <a:srgbClr val="0B2B33"/>
          </a:solidFill>
          <a:ln/>
          <a:effectLst>
            <a:outerShdw sx="100000" sy="100000" kx="0" ky="0" algn="bl" rotWithShape="0" blurRad="114300" dist="38100" dir="8100000">
              <a:srgbClr val="0B2B33">
                <a:alpha val="14000"/>
              </a:srgbClr>
            </a:outerShdw>
          </a:effectLst>
        </p:spPr>
      </p:sp>
      <p:sp>
        <p:nvSpPr>
          <p:cNvPr id="10" name="Text 7"/>
          <p:cNvSpPr/>
          <p:nvPr/>
        </p:nvSpPr>
        <p:spPr>
          <a:xfrm>
            <a:off x="6553048" y="2194560"/>
            <a:ext cx="4724248" cy="640080"/>
          </a:xfrm>
          <a:prstGeom prst="rect">
            <a:avLst/>
          </a:prstGeom>
          <a:noFill/>
          <a:ln/>
        </p:spPr>
        <p:txBody>
          <a:bodyPr wrap="square" lIns="0" tIns="0" rIns="0" bIns="0" rtlCol="0" anchor="b"/>
          <a:lstStyle/>
          <a:p>
            <a:pPr algn="l" indent="0" marL="0">
              <a:buNone/>
            </a:pPr>
            <a:r>
              <a:rPr lang="en-US" sz="3400" b="1" dirty="0">
                <a:solidFill>
                  <a:srgbClr val="F2A516"/>
                </a:solidFill>
                <a:latin typeface="Georgia" pitchFamily="34" charset="0"/>
                <a:ea typeface="Georgia" pitchFamily="34" charset="-122"/>
                <a:cs typeface="Georgia" pitchFamily="34" charset="-120"/>
              </a:rPr>
              <a:t>1,056</a:t>
            </a:r>
            <a:endParaRPr lang="en-US" sz="3400" dirty="0"/>
          </a:p>
        </p:txBody>
      </p:sp>
      <p:sp>
        <p:nvSpPr>
          <p:cNvPr id="11" name="Text 8"/>
          <p:cNvSpPr/>
          <p:nvPr/>
        </p:nvSpPr>
        <p:spPr>
          <a:xfrm>
            <a:off x="6553048" y="2834640"/>
            <a:ext cx="4724248" cy="365760"/>
          </a:xfrm>
          <a:prstGeom prst="rect">
            <a:avLst/>
          </a:prstGeom>
          <a:noFill/>
          <a:ln/>
        </p:spPr>
        <p:txBody>
          <a:bodyPr wrap="square" lIns="0" tIns="0" rIns="0" bIns="0" rtlCol="0" anchor="t"/>
          <a:lstStyle/>
          <a:p>
            <a:pPr algn="l" indent="0" marL="0">
              <a:lnSpc>
                <a:spcPct val="98000"/>
              </a:lnSpc>
              <a:buNone/>
            </a:pPr>
            <a:r>
              <a:rPr lang="en-US" sz="1150" dirty="0">
                <a:solidFill>
                  <a:srgbClr val="9FC3C0"/>
                </a:solidFill>
                <a:latin typeface="Calibri" pitchFamily="34" charset="0"/>
                <a:ea typeface="Calibri" pitchFamily="34" charset="-122"/>
                <a:cs typeface="Calibri" pitchFamily="34" charset="-120"/>
              </a:rPr>
              <a:t>β de Blume → el que usamos en Ke</a:t>
            </a:r>
            <a:endParaRPr lang="en-US" sz="1150" dirty="0"/>
          </a:p>
        </p:txBody>
      </p:sp>
      <p:sp>
        <p:nvSpPr>
          <p:cNvPr id="12" name="Shape 9"/>
          <p:cNvSpPr/>
          <p:nvPr/>
        </p:nvSpPr>
        <p:spPr>
          <a:xfrm>
            <a:off x="640080" y="3657600"/>
            <a:ext cx="5272888" cy="1828800"/>
          </a:xfrm>
          <a:prstGeom prst="roundRect">
            <a:avLst>
              <a:gd name="adj" fmla="val 5000"/>
            </a:avLst>
          </a:prstGeom>
          <a:solidFill>
            <a:srgbClr val="FFFFFF"/>
          </a:solidFill>
          <a:ln/>
          <a:effectLst>
            <a:outerShdw sx="100000" sy="100000" kx="0" ky="0" algn="bl" rotWithShape="0" blurRad="114300" dist="38100" dir="8100000">
              <a:srgbClr val="0B2B33">
                <a:alpha val="14000"/>
              </a:srgbClr>
            </a:outerShdw>
          </a:effectLst>
        </p:spPr>
      </p:sp>
      <p:sp>
        <p:nvSpPr>
          <p:cNvPr id="13" name="Shape 10"/>
          <p:cNvSpPr/>
          <p:nvPr/>
        </p:nvSpPr>
        <p:spPr>
          <a:xfrm>
            <a:off x="896112" y="3895344"/>
            <a:ext cx="420624" cy="420624"/>
          </a:xfrm>
          <a:prstGeom prst="ellipse">
            <a:avLst/>
          </a:prstGeom>
          <a:solidFill>
            <a:srgbClr val="F2A516"/>
          </a:solidFill>
          <a:ln/>
        </p:spPr>
      </p:sp>
      <p:pic>
        <p:nvPicPr>
          <p:cNvPr id="14" name="Image 1" descr="icons/useredit_white.png">    </p:cNvPr>
          <p:cNvPicPr>
            <a:picLocks noChangeAspect="1"/>
          </p:cNvPicPr>
          <p:nvPr/>
        </p:nvPicPr>
        <p:blipFill>
          <a:blip r:embed="rId2"/>
          <a:stretch>
            <a:fillRect/>
          </a:stretch>
        </p:blipFill>
        <p:spPr>
          <a:xfrm>
            <a:off x="996696" y="3995928"/>
            <a:ext cx="219456" cy="219456"/>
          </a:xfrm>
          <a:prstGeom prst="rect">
            <a:avLst/>
          </a:prstGeom>
        </p:spPr>
      </p:pic>
      <p:sp>
        <p:nvSpPr>
          <p:cNvPr id="15" name="Text 11"/>
          <p:cNvSpPr/>
          <p:nvPr/>
        </p:nvSpPr>
        <p:spPr>
          <a:xfrm>
            <a:off x="1499616" y="3877056"/>
            <a:ext cx="4193896"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Blume: 0,67·β + 0,33</a:t>
            </a:r>
            <a:endParaRPr lang="en-US" sz="1350" dirty="0"/>
          </a:p>
        </p:txBody>
      </p:sp>
      <p:sp>
        <p:nvSpPr>
          <p:cNvPr id="16" name="Text 12"/>
          <p:cNvSpPr/>
          <p:nvPr/>
        </p:nvSpPr>
        <p:spPr>
          <a:xfrm>
            <a:off x="896112" y="4315968"/>
            <a:ext cx="4797400" cy="98755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Un beta de una sola regresión tiene error de estimación y tiende a revertir hacia 1. El ajuste de Blume corrige ese sesgo — es el estándar que reporta Bloomberg.</a:t>
            </a:r>
            <a:endParaRPr lang="en-US" sz="1200" dirty="0"/>
          </a:p>
        </p:txBody>
      </p:sp>
      <p:sp>
        <p:nvSpPr>
          <p:cNvPr id="17" name="Shape 13"/>
          <p:cNvSpPr/>
          <p:nvPr/>
        </p:nvSpPr>
        <p:spPr>
          <a:xfrm>
            <a:off x="6278728" y="3657600"/>
            <a:ext cx="5272888" cy="1828800"/>
          </a:xfrm>
          <a:prstGeom prst="roundRect">
            <a:avLst>
              <a:gd name="adj" fmla="val 5000"/>
            </a:avLst>
          </a:prstGeom>
          <a:solidFill>
            <a:srgbClr val="FFFFFF"/>
          </a:solidFill>
          <a:ln/>
          <a:effectLst>
            <a:outerShdw sx="100000" sy="100000" kx="0" ky="0" algn="bl" rotWithShape="0" blurRad="114300" dist="38100" dir="8100000">
              <a:srgbClr val="0B2B33">
                <a:alpha val="14000"/>
              </a:srgbClr>
            </a:outerShdw>
          </a:effectLst>
        </p:spPr>
      </p:sp>
      <p:sp>
        <p:nvSpPr>
          <p:cNvPr id="18" name="Shape 14"/>
          <p:cNvSpPr/>
          <p:nvPr/>
        </p:nvSpPr>
        <p:spPr>
          <a:xfrm>
            <a:off x="6534760" y="3895344"/>
            <a:ext cx="420624" cy="420624"/>
          </a:xfrm>
          <a:prstGeom prst="ellipse">
            <a:avLst/>
          </a:prstGeom>
          <a:solidFill>
            <a:srgbClr val="12A594"/>
          </a:solidFill>
          <a:ln/>
        </p:spPr>
      </p:sp>
      <p:pic>
        <p:nvPicPr>
          <p:cNvPr id="19" name="Image 2" descr="icons/check_white.png">    </p:cNvPr>
          <p:cNvPicPr>
            <a:picLocks noChangeAspect="1"/>
          </p:cNvPicPr>
          <p:nvPr/>
        </p:nvPicPr>
        <p:blipFill>
          <a:blip r:embed="rId3"/>
          <a:stretch>
            <a:fillRect/>
          </a:stretch>
        </p:blipFill>
        <p:spPr>
          <a:xfrm>
            <a:off x="6635344" y="3995928"/>
            <a:ext cx="219456" cy="219456"/>
          </a:xfrm>
          <a:prstGeom prst="rect">
            <a:avLst/>
          </a:prstGeom>
        </p:spPr>
      </p:pic>
      <p:sp>
        <p:nvSpPr>
          <p:cNvPr id="20" name="Text 15"/>
          <p:cNvSpPr/>
          <p:nvPr/>
        </p:nvSpPr>
        <p:spPr>
          <a:xfrm>
            <a:off x="7138264" y="3877056"/>
            <a:ext cx="4193896"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No reapalancamos</a:t>
            </a:r>
            <a:endParaRPr lang="en-US" sz="1350" dirty="0"/>
          </a:p>
        </p:txBody>
      </p:sp>
      <p:sp>
        <p:nvSpPr>
          <p:cNvPr id="21" name="Text 16"/>
          <p:cNvSpPr/>
          <p:nvPr/>
        </p:nvSpPr>
        <p:spPr>
          <a:xfrm>
            <a:off x="6534760" y="4315968"/>
            <a:ext cx="4797400" cy="98755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Con D/E ≈ 2,2%, desapalancar (Hamada) casi no mueve el beta: β_U ≈ 1,065. Lo calculamos solo como chequeo y valuamos a la estructura de capital actual.</a:t>
            </a:r>
            <a:endParaRPr lang="en-US" sz="1200" dirty="0"/>
          </a:p>
        </p:txBody>
      </p:sp>
      <p:sp>
        <p:nvSpPr>
          <p:cNvPr id="22" name="Text 17"/>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3" name="Text 18"/>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percent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COSTO DEL ACCIONISTA (KE)</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CAPM: lo que exige un inversor en Apple</a:t>
            </a:r>
            <a:endParaRPr lang="en-US" sz="3000" dirty="0"/>
          </a:p>
        </p:txBody>
      </p:sp>
      <p:sp>
        <p:nvSpPr>
          <p:cNvPr id="6" name="Shape 3"/>
          <p:cNvSpPr/>
          <p:nvPr/>
        </p:nvSpPr>
        <p:spPr>
          <a:xfrm>
            <a:off x="640080" y="1874520"/>
            <a:ext cx="658368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27_0.png">    </p:cNvPr>
          <p:cNvPicPr>
            <a:picLocks noChangeAspect="1"/>
          </p:cNvPicPr>
          <p:nvPr/>
        </p:nvPicPr>
        <p:blipFill>
          <a:blip r:embed="rId2"/>
          <a:stretch>
            <a:fillRect/>
          </a:stretch>
        </p:blipFill>
        <p:spPr>
          <a:xfrm>
            <a:off x="896112" y="2339459"/>
            <a:ext cx="6071616" cy="3002043"/>
          </a:xfrm>
          <a:prstGeom prst="rect">
            <a:avLst/>
          </a:prstGeom>
        </p:spPr>
      </p:pic>
      <p:sp>
        <p:nvSpPr>
          <p:cNvPr id="8" name="Shape 4"/>
          <p:cNvSpPr/>
          <p:nvPr/>
        </p:nvSpPr>
        <p:spPr>
          <a:xfrm>
            <a:off x="7589520" y="1874520"/>
            <a:ext cx="3962095" cy="1371600"/>
          </a:xfrm>
          <a:prstGeom prst="roundRect">
            <a:avLst>
              <a:gd name="adj" fmla="val 6667"/>
            </a:avLst>
          </a:prstGeom>
          <a:solidFill>
            <a:srgbClr val="0B2B33"/>
          </a:solidFill>
          <a:ln/>
          <a:effectLst>
            <a:outerShdw sx="100000" sy="100000" kx="0" ky="0" algn="bl" rotWithShape="0" blurRad="114300" dist="38100" dir="8100000">
              <a:srgbClr val="0B2B33">
                <a:alpha val="14000"/>
              </a:srgbClr>
            </a:outerShdw>
          </a:effectLst>
        </p:spPr>
      </p:sp>
      <p:sp>
        <p:nvSpPr>
          <p:cNvPr id="9" name="Text 5"/>
          <p:cNvSpPr/>
          <p:nvPr/>
        </p:nvSpPr>
        <p:spPr>
          <a:xfrm>
            <a:off x="7863840" y="2057400"/>
            <a:ext cx="3413455" cy="548640"/>
          </a:xfrm>
          <a:prstGeom prst="rect">
            <a:avLst/>
          </a:prstGeom>
          <a:noFill/>
          <a:ln/>
        </p:spPr>
        <p:txBody>
          <a:bodyPr wrap="square" lIns="0" tIns="0" rIns="0" bIns="0" rtlCol="0" anchor="ctr"/>
          <a:lstStyle/>
          <a:p>
            <a:pPr indent="0" marL="0">
              <a:buNone/>
            </a:pPr>
            <a:r>
              <a:rPr lang="en-US" sz="3000" dirty="0">
                <a:solidFill>
                  <a:srgbClr val="9FC3C0"/>
                </a:solidFill>
                <a:latin typeface="Georgia" pitchFamily="34" charset="0"/>
                <a:ea typeface="Georgia" pitchFamily="34" charset="-122"/>
                <a:cs typeface="Georgia" pitchFamily="34" charset="-120"/>
              </a:rPr>
              <a:t>Ke = </a:t>
            </a:r>
            <a:pPr indent="0" marL="0">
              <a:buNone/>
            </a:pPr>
            <a:r>
              <a:rPr lang="en-US" sz="3000" b="1" dirty="0">
                <a:solidFill>
                  <a:srgbClr val="12A594"/>
                </a:solidFill>
                <a:latin typeface="Georgia" pitchFamily="34" charset="0"/>
                <a:ea typeface="Georgia" pitchFamily="34" charset="-122"/>
                <a:cs typeface="Georgia" pitchFamily="34" charset="-120"/>
              </a:rPr>
              <a:t>9,36%</a:t>
            </a:r>
            <a:endParaRPr lang="en-US" sz="3000" dirty="0"/>
          </a:p>
        </p:txBody>
      </p:sp>
      <p:sp>
        <p:nvSpPr>
          <p:cNvPr id="10" name="Text 6"/>
          <p:cNvSpPr/>
          <p:nvPr/>
        </p:nvSpPr>
        <p:spPr>
          <a:xfrm>
            <a:off x="7863840" y="2651760"/>
            <a:ext cx="3413455" cy="365760"/>
          </a:xfrm>
          <a:prstGeom prst="rect">
            <a:avLst/>
          </a:prstGeom>
          <a:noFill/>
          <a:ln/>
        </p:spPr>
        <p:txBody>
          <a:bodyPr wrap="square" lIns="0" tIns="0" rIns="0" bIns="0" rtlCol="0" anchor="ctr"/>
          <a:lstStyle/>
          <a:p>
            <a:pPr indent="0" marL="0">
              <a:buNone/>
            </a:pPr>
            <a:r>
              <a:rPr lang="en-US" sz="1250" dirty="0">
                <a:solidFill>
                  <a:srgbClr val="9FC3C0"/>
                </a:solidFill>
                <a:latin typeface="Calibri" pitchFamily="34" charset="0"/>
                <a:ea typeface="Calibri" pitchFamily="34" charset="-122"/>
                <a:cs typeface="Calibri" pitchFamily="34" charset="-120"/>
              </a:rPr>
              <a:t>4,32%  +  1,056 × 4,77%</a:t>
            </a:r>
            <a:endParaRPr lang="en-US" sz="1250" dirty="0"/>
          </a:p>
        </p:txBody>
      </p:sp>
      <p:sp>
        <p:nvSpPr>
          <p:cNvPr id="11" name="Shape 7"/>
          <p:cNvSpPr/>
          <p:nvPr/>
        </p:nvSpPr>
        <p:spPr>
          <a:xfrm>
            <a:off x="7589520" y="3383280"/>
            <a:ext cx="3962095" cy="2423160"/>
          </a:xfrm>
          <a:prstGeom prst="roundRect">
            <a:avLst>
              <a:gd name="adj" fmla="val 3774"/>
            </a:avLst>
          </a:prstGeom>
          <a:solidFill>
            <a:srgbClr val="FFFFFF"/>
          </a:solidFill>
          <a:ln/>
          <a:effectLst>
            <a:outerShdw sx="100000" sy="100000" kx="0" ky="0" algn="bl" rotWithShape="0" blurRad="114300" dist="38100" dir="8100000">
              <a:srgbClr val="0B2B33">
                <a:alpha val="14000"/>
              </a:srgbClr>
            </a:outerShdw>
          </a:effectLst>
        </p:spPr>
      </p:sp>
      <p:sp>
        <p:nvSpPr>
          <p:cNvPr id="12" name="Shape 8"/>
          <p:cNvSpPr/>
          <p:nvPr/>
        </p:nvSpPr>
        <p:spPr>
          <a:xfrm>
            <a:off x="7845552" y="3621024"/>
            <a:ext cx="420624" cy="420624"/>
          </a:xfrm>
          <a:prstGeom prst="ellipse">
            <a:avLst/>
          </a:prstGeom>
          <a:solidFill>
            <a:srgbClr val="F2A516"/>
          </a:solidFill>
          <a:ln/>
        </p:spPr>
      </p:sp>
      <p:pic>
        <p:nvPicPr>
          <p:cNvPr id="13" name="Image 2" descr="icons/useredit_white.png">    </p:cNvPr>
          <p:cNvPicPr>
            <a:picLocks noChangeAspect="1"/>
          </p:cNvPicPr>
          <p:nvPr/>
        </p:nvPicPr>
        <p:blipFill>
          <a:blip r:embed="rId3"/>
          <a:stretch>
            <a:fillRect/>
          </a:stretch>
        </p:blipFill>
        <p:spPr>
          <a:xfrm>
            <a:off x="7946136" y="3721608"/>
            <a:ext cx="219456" cy="219456"/>
          </a:xfrm>
          <a:prstGeom prst="rect">
            <a:avLst/>
          </a:prstGeom>
        </p:spPr>
      </p:pic>
      <p:sp>
        <p:nvSpPr>
          <p:cNvPr id="14" name="Text 9"/>
          <p:cNvSpPr/>
          <p:nvPr/>
        </p:nvSpPr>
        <p:spPr>
          <a:xfrm>
            <a:off x="8449056" y="3602736"/>
            <a:ext cx="288310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Por qué ERP implícito</a:t>
            </a:r>
            <a:endParaRPr lang="en-US" sz="1350" dirty="0"/>
          </a:p>
        </p:txBody>
      </p:sp>
      <p:sp>
        <p:nvSpPr>
          <p:cNvPr id="15" name="Text 10"/>
          <p:cNvSpPr/>
          <p:nvPr/>
        </p:nvSpPr>
        <p:spPr>
          <a:xfrm>
            <a:off x="7845552" y="4041648"/>
            <a:ext cx="3486607" cy="158191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El histórico (~5,5%) refleja el pasado; el implícito lo deriva Damodaran del precio actual del S&amp;P y sus flujos esperados — es lo que el mercado descuenta hacia adelante, lo relevante para valuar.</a:t>
            </a:r>
            <a:endParaRPr lang="en-US" sz="1200" dirty="0"/>
          </a:p>
        </p:txBody>
      </p:sp>
      <p:sp>
        <p:nvSpPr>
          <p:cNvPr id="16" name="Text 11"/>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7" name="Text 12"/>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7589520" y="548640"/>
            <a:ext cx="4754880" cy="5760720"/>
          </a:xfrm>
          <a:prstGeom prst="rect">
            <a:avLst/>
          </a:prstGeom>
          <a:noFill/>
          <a:ln/>
        </p:spPr>
        <p:txBody>
          <a:bodyPr wrap="square" lIns="0" tIns="0" rIns="0" bIns="0" rtlCol="0" anchor="ctr"/>
          <a:lstStyle/>
          <a:p>
            <a:pPr algn="r" indent="0" marL="0">
              <a:buNone/>
            </a:pPr>
            <a:r>
              <a:rPr lang="en-US" sz="30000" b="1" dirty="0">
                <a:solidFill>
                  <a:srgbClr val="0F3A44"/>
                </a:solidFill>
                <a:latin typeface="Georgia" pitchFamily="34" charset="0"/>
                <a:ea typeface="Georgia" pitchFamily="34" charset="-122"/>
                <a:cs typeface="Georgia" pitchFamily="34" charset="-120"/>
              </a:rPr>
              <a:t>04</a:t>
            </a:r>
            <a:endParaRPr lang="en-US" sz="30000" dirty="0"/>
          </a:p>
        </p:txBody>
      </p:sp>
      <p:sp>
        <p:nvSpPr>
          <p:cNvPr id="3" name="Shape 1"/>
          <p:cNvSpPr/>
          <p:nvPr/>
        </p:nvSpPr>
        <p:spPr>
          <a:xfrm>
            <a:off x="640080" y="2148840"/>
            <a:ext cx="960120" cy="960120"/>
          </a:xfrm>
          <a:prstGeom prst="ellipse">
            <a:avLst/>
          </a:prstGeom>
          <a:solidFill>
            <a:srgbClr val="12A594"/>
          </a:solidFill>
          <a:ln/>
        </p:spPr>
      </p:sp>
      <p:pic>
        <p:nvPicPr>
          <p:cNvPr id="4" name="Image 0" descr="icons/scale_white.png">    </p:cNvPr>
          <p:cNvPicPr>
            <a:picLocks noChangeAspect="1"/>
          </p:cNvPicPr>
          <p:nvPr/>
        </p:nvPicPr>
        <p:blipFill>
          <a:blip r:embed="rId1"/>
          <a:stretch>
            <a:fillRect/>
          </a:stretch>
        </p:blipFill>
        <p:spPr>
          <a:xfrm>
            <a:off x="914400" y="2423160"/>
            <a:ext cx="411480" cy="411480"/>
          </a:xfrm>
          <a:prstGeom prst="rect">
            <a:avLst/>
          </a:prstGeom>
        </p:spPr>
      </p:pic>
      <p:sp>
        <p:nvSpPr>
          <p:cNvPr id="5" name="Text 2"/>
          <p:cNvSpPr/>
          <p:nvPr/>
        </p:nvSpPr>
        <p:spPr>
          <a:xfrm>
            <a:off x="640080" y="3337560"/>
            <a:ext cx="731520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BLOQUE 04 · TASA DE DESCUENTO</a:t>
            </a:r>
            <a:endParaRPr lang="en-US" sz="1300" dirty="0"/>
          </a:p>
        </p:txBody>
      </p:sp>
      <p:sp>
        <p:nvSpPr>
          <p:cNvPr id="6" name="Text 3"/>
          <p:cNvSpPr/>
          <p:nvPr/>
        </p:nvSpPr>
        <p:spPr>
          <a:xfrm>
            <a:off x="640080" y="3703320"/>
            <a:ext cx="7315200" cy="118872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Georgia" pitchFamily="34" charset="0"/>
                <a:ea typeface="Georgia" pitchFamily="34" charset="-122"/>
                <a:cs typeface="Georgia" pitchFamily="34" charset="-120"/>
              </a:rPr>
              <a:t>WACC — el cálculo final</a:t>
            </a:r>
            <a:endParaRPr lang="en-US" sz="3800" dirty="0"/>
          </a:p>
        </p:txBody>
      </p:sp>
      <p:sp>
        <p:nvSpPr>
          <p:cNvPr id="7" name="Text 4"/>
          <p:cNvSpPr/>
          <p:nvPr/>
        </p:nvSpPr>
        <p:spPr>
          <a:xfrm>
            <a:off x="640080" y="5029200"/>
            <a:ext cx="6949440" cy="731520"/>
          </a:xfrm>
          <a:prstGeom prst="rect">
            <a:avLst/>
          </a:prstGeom>
          <a:noFill/>
          <a:ln/>
        </p:spPr>
        <p:txBody>
          <a:bodyPr wrap="square" lIns="0" tIns="0" rIns="0" bIns="0" rtlCol="0" anchor="ctr"/>
          <a:lstStyle/>
          <a:p>
            <a:pPr indent="0" marL="0">
              <a:lnSpc>
                <a:spcPct val="110000"/>
              </a:lnSpc>
              <a:buNone/>
            </a:pPr>
            <a:r>
              <a:rPr lang="en-US" sz="1400" dirty="0">
                <a:solidFill>
                  <a:srgbClr val="9FC3C0"/>
                </a:solidFill>
                <a:latin typeface="Calibri" pitchFamily="34" charset="0"/>
                <a:ea typeface="Calibri" pitchFamily="34" charset="-122"/>
                <a:cs typeface="Calibri" pitchFamily="34" charset="-120"/>
              </a:rPr>
              <a:t>Ponderamos Ke y Kd por su peso a valor de mercado. Esta es la tasa con la que descontaremos todo.</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scale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RESULTADO DE LA PARTE 1</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WACC = 9,24%</a:t>
            </a:r>
            <a:endParaRPr lang="en-US" sz="3000" dirty="0"/>
          </a:p>
        </p:txBody>
      </p:sp>
      <p:sp>
        <p:nvSpPr>
          <p:cNvPr id="6" name="Shape 3"/>
          <p:cNvSpPr/>
          <p:nvPr/>
        </p:nvSpPr>
        <p:spPr>
          <a:xfrm>
            <a:off x="640080" y="1874520"/>
            <a:ext cx="694944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30_0.png">    </p:cNvPr>
          <p:cNvPicPr>
            <a:picLocks noChangeAspect="1"/>
          </p:cNvPicPr>
          <p:nvPr/>
        </p:nvPicPr>
        <p:blipFill>
          <a:blip r:embed="rId2"/>
          <a:stretch>
            <a:fillRect/>
          </a:stretch>
        </p:blipFill>
        <p:spPr>
          <a:xfrm>
            <a:off x="868680" y="2460240"/>
            <a:ext cx="6492240" cy="2760480"/>
          </a:xfrm>
          <a:prstGeom prst="rect">
            <a:avLst/>
          </a:prstGeom>
        </p:spPr>
      </p:pic>
      <p:sp>
        <p:nvSpPr>
          <p:cNvPr id="8" name="Shape 4"/>
          <p:cNvSpPr/>
          <p:nvPr/>
        </p:nvSpPr>
        <p:spPr>
          <a:xfrm>
            <a:off x="7955280" y="1874520"/>
            <a:ext cx="3596335" cy="566928"/>
          </a:xfrm>
          <a:prstGeom prst="roundRect">
            <a:avLst>
              <a:gd name="adj" fmla="val 11290"/>
            </a:avLst>
          </a:prstGeom>
          <a:solidFill>
            <a:srgbClr val="FFFFFF"/>
          </a:solidFill>
          <a:ln w="12700">
            <a:solidFill>
              <a:srgbClr val="DCE6E6"/>
            </a:solidFill>
            <a:prstDash val="solid"/>
          </a:ln>
        </p:spPr>
      </p:sp>
      <p:sp>
        <p:nvSpPr>
          <p:cNvPr id="9" name="Text 5"/>
          <p:cNvSpPr/>
          <p:nvPr/>
        </p:nvSpPr>
        <p:spPr>
          <a:xfrm>
            <a:off x="8183880" y="1874520"/>
            <a:ext cx="2133295" cy="566928"/>
          </a:xfrm>
          <a:prstGeom prst="rect">
            <a:avLst/>
          </a:prstGeom>
          <a:noFill/>
          <a:ln/>
        </p:spPr>
        <p:txBody>
          <a:bodyPr wrap="square" lIns="0" tIns="0" rIns="0" bIns="0" rtlCol="0" anchor="ctr"/>
          <a:lstStyle/>
          <a:p>
            <a:pPr indent="0" marL="0">
              <a:buNone/>
            </a:pPr>
            <a:r>
              <a:rPr lang="en-US" sz="1300" dirty="0">
                <a:solidFill>
                  <a:srgbClr val="10282E"/>
                </a:solidFill>
                <a:latin typeface="Calibri" pitchFamily="34" charset="0"/>
                <a:ea typeface="Calibri" pitchFamily="34" charset="-122"/>
                <a:cs typeface="Calibri" pitchFamily="34" charset="-120"/>
              </a:rPr>
              <a:t>Ke</a:t>
            </a:r>
            <a:endParaRPr lang="en-US" sz="1300" dirty="0"/>
          </a:p>
        </p:txBody>
      </p:sp>
      <p:sp>
        <p:nvSpPr>
          <p:cNvPr id="10" name="Text 6"/>
          <p:cNvSpPr/>
          <p:nvPr/>
        </p:nvSpPr>
        <p:spPr>
          <a:xfrm>
            <a:off x="10088575" y="1874520"/>
            <a:ext cx="1234440" cy="566928"/>
          </a:xfrm>
          <a:prstGeom prst="rect">
            <a:avLst/>
          </a:prstGeom>
          <a:noFill/>
          <a:ln/>
        </p:spPr>
        <p:txBody>
          <a:bodyPr wrap="square" lIns="0" tIns="0" rIns="0" bIns="0" rtlCol="0" anchor="ctr"/>
          <a:lstStyle/>
          <a:p>
            <a:pPr algn="r" indent="0" marL="0">
              <a:buNone/>
            </a:pPr>
            <a:r>
              <a:rPr lang="en-US" sz="1600" b="1" dirty="0">
                <a:solidFill>
                  <a:srgbClr val="12A594"/>
                </a:solidFill>
                <a:latin typeface="Georgia" pitchFamily="34" charset="0"/>
                <a:ea typeface="Georgia" pitchFamily="34" charset="-122"/>
                <a:cs typeface="Georgia" pitchFamily="34" charset="-120"/>
              </a:rPr>
              <a:t>9,36%</a:t>
            </a:r>
            <a:endParaRPr lang="en-US" sz="1600" dirty="0"/>
          </a:p>
        </p:txBody>
      </p:sp>
      <p:sp>
        <p:nvSpPr>
          <p:cNvPr id="11" name="Shape 7"/>
          <p:cNvSpPr/>
          <p:nvPr/>
        </p:nvSpPr>
        <p:spPr>
          <a:xfrm>
            <a:off x="7955280" y="2532888"/>
            <a:ext cx="3596335" cy="566928"/>
          </a:xfrm>
          <a:prstGeom prst="roundRect">
            <a:avLst>
              <a:gd name="adj" fmla="val 11290"/>
            </a:avLst>
          </a:prstGeom>
          <a:solidFill>
            <a:srgbClr val="FFFFFF"/>
          </a:solidFill>
          <a:ln w="12700">
            <a:solidFill>
              <a:srgbClr val="DCE6E6"/>
            </a:solidFill>
            <a:prstDash val="solid"/>
          </a:ln>
        </p:spPr>
      </p:sp>
      <p:sp>
        <p:nvSpPr>
          <p:cNvPr id="12" name="Text 8"/>
          <p:cNvSpPr/>
          <p:nvPr/>
        </p:nvSpPr>
        <p:spPr>
          <a:xfrm>
            <a:off x="8183880" y="2532888"/>
            <a:ext cx="2133295" cy="566928"/>
          </a:xfrm>
          <a:prstGeom prst="rect">
            <a:avLst/>
          </a:prstGeom>
          <a:noFill/>
          <a:ln/>
        </p:spPr>
        <p:txBody>
          <a:bodyPr wrap="square" lIns="0" tIns="0" rIns="0" bIns="0" rtlCol="0" anchor="ctr"/>
          <a:lstStyle/>
          <a:p>
            <a:pPr indent="0" marL="0">
              <a:buNone/>
            </a:pPr>
            <a:r>
              <a:rPr lang="en-US" sz="1300" dirty="0">
                <a:solidFill>
                  <a:srgbClr val="10282E"/>
                </a:solidFill>
                <a:latin typeface="Calibri" pitchFamily="34" charset="0"/>
                <a:ea typeface="Calibri" pitchFamily="34" charset="-122"/>
                <a:cs typeface="Calibri" pitchFamily="34" charset="-120"/>
              </a:rPr>
              <a:t>Kd (1−T)</a:t>
            </a:r>
            <a:endParaRPr lang="en-US" sz="1300" dirty="0"/>
          </a:p>
        </p:txBody>
      </p:sp>
      <p:sp>
        <p:nvSpPr>
          <p:cNvPr id="13" name="Text 9"/>
          <p:cNvSpPr/>
          <p:nvPr/>
        </p:nvSpPr>
        <p:spPr>
          <a:xfrm>
            <a:off x="10088575" y="2532888"/>
            <a:ext cx="1234440" cy="566928"/>
          </a:xfrm>
          <a:prstGeom prst="rect">
            <a:avLst/>
          </a:prstGeom>
          <a:noFill/>
          <a:ln/>
        </p:spPr>
        <p:txBody>
          <a:bodyPr wrap="square" lIns="0" tIns="0" rIns="0" bIns="0" rtlCol="0" anchor="ctr"/>
          <a:lstStyle/>
          <a:p>
            <a:pPr algn="r" indent="0" marL="0">
              <a:buNone/>
            </a:pPr>
            <a:r>
              <a:rPr lang="en-US" sz="1600" b="1" dirty="0">
                <a:solidFill>
                  <a:srgbClr val="5C6F74"/>
                </a:solidFill>
                <a:latin typeface="Georgia" pitchFamily="34" charset="0"/>
                <a:ea typeface="Georgia" pitchFamily="34" charset="-122"/>
                <a:cs typeface="Georgia" pitchFamily="34" charset="-120"/>
              </a:rPr>
              <a:t>3,77%</a:t>
            </a:r>
            <a:endParaRPr lang="en-US" sz="1600" dirty="0"/>
          </a:p>
        </p:txBody>
      </p:sp>
      <p:sp>
        <p:nvSpPr>
          <p:cNvPr id="14" name="Shape 10"/>
          <p:cNvSpPr/>
          <p:nvPr/>
        </p:nvSpPr>
        <p:spPr>
          <a:xfrm>
            <a:off x="7955280" y="3191256"/>
            <a:ext cx="3596335" cy="566928"/>
          </a:xfrm>
          <a:prstGeom prst="roundRect">
            <a:avLst>
              <a:gd name="adj" fmla="val 11290"/>
            </a:avLst>
          </a:prstGeom>
          <a:solidFill>
            <a:srgbClr val="FFFFFF"/>
          </a:solidFill>
          <a:ln w="12700">
            <a:solidFill>
              <a:srgbClr val="DCE6E6"/>
            </a:solidFill>
            <a:prstDash val="solid"/>
          </a:ln>
        </p:spPr>
      </p:sp>
      <p:sp>
        <p:nvSpPr>
          <p:cNvPr id="15" name="Text 11"/>
          <p:cNvSpPr/>
          <p:nvPr/>
        </p:nvSpPr>
        <p:spPr>
          <a:xfrm>
            <a:off x="8183880" y="3191256"/>
            <a:ext cx="2133295" cy="566928"/>
          </a:xfrm>
          <a:prstGeom prst="rect">
            <a:avLst/>
          </a:prstGeom>
          <a:noFill/>
          <a:ln/>
        </p:spPr>
        <p:txBody>
          <a:bodyPr wrap="square" lIns="0" tIns="0" rIns="0" bIns="0" rtlCol="0" anchor="ctr"/>
          <a:lstStyle/>
          <a:p>
            <a:pPr indent="0" marL="0">
              <a:buNone/>
            </a:pPr>
            <a:r>
              <a:rPr lang="en-US" sz="1300" dirty="0">
                <a:solidFill>
                  <a:srgbClr val="10282E"/>
                </a:solidFill>
                <a:latin typeface="Calibri" pitchFamily="34" charset="0"/>
                <a:ea typeface="Calibri" pitchFamily="34" charset="-122"/>
                <a:cs typeface="Calibri" pitchFamily="34" charset="-120"/>
              </a:rPr>
              <a:t>Peso equity</a:t>
            </a:r>
            <a:endParaRPr lang="en-US" sz="1300" dirty="0"/>
          </a:p>
        </p:txBody>
      </p:sp>
      <p:sp>
        <p:nvSpPr>
          <p:cNvPr id="16" name="Text 12"/>
          <p:cNvSpPr/>
          <p:nvPr/>
        </p:nvSpPr>
        <p:spPr>
          <a:xfrm>
            <a:off x="10088575" y="3191256"/>
            <a:ext cx="1234440" cy="566928"/>
          </a:xfrm>
          <a:prstGeom prst="rect">
            <a:avLst/>
          </a:prstGeom>
          <a:noFill/>
          <a:ln/>
        </p:spPr>
        <p:txBody>
          <a:bodyPr wrap="square" lIns="0" tIns="0" rIns="0" bIns="0" rtlCol="0" anchor="ctr"/>
          <a:lstStyle/>
          <a:p>
            <a:pPr algn="r" indent="0" marL="0">
              <a:buNone/>
            </a:pPr>
            <a:r>
              <a:rPr lang="en-US" sz="1600" b="1" dirty="0">
                <a:solidFill>
                  <a:srgbClr val="0B2B33"/>
                </a:solidFill>
                <a:latin typeface="Georgia" pitchFamily="34" charset="0"/>
                <a:ea typeface="Georgia" pitchFamily="34" charset="-122"/>
                <a:cs typeface="Georgia" pitchFamily="34" charset="-120"/>
              </a:rPr>
              <a:t>97,9%</a:t>
            </a:r>
            <a:endParaRPr lang="en-US" sz="1600" dirty="0"/>
          </a:p>
        </p:txBody>
      </p:sp>
      <p:sp>
        <p:nvSpPr>
          <p:cNvPr id="17" name="Shape 13"/>
          <p:cNvSpPr/>
          <p:nvPr/>
        </p:nvSpPr>
        <p:spPr>
          <a:xfrm>
            <a:off x="7955280" y="3849624"/>
            <a:ext cx="3596335" cy="566928"/>
          </a:xfrm>
          <a:prstGeom prst="roundRect">
            <a:avLst>
              <a:gd name="adj" fmla="val 11290"/>
            </a:avLst>
          </a:prstGeom>
          <a:solidFill>
            <a:srgbClr val="FFFFFF"/>
          </a:solidFill>
          <a:ln w="12700">
            <a:solidFill>
              <a:srgbClr val="DCE6E6"/>
            </a:solidFill>
            <a:prstDash val="solid"/>
          </a:ln>
        </p:spPr>
      </p:sp>
      <p:sp>
        <p:nvSpPr>
          <p:cNvPr id="18" name="Text 14"/>
          <p:cNvSpPr/>
          <p:nvPr/>
        </p:nvSpPr>
        <p:spPr>
          <a:xfrm>
            <a:off x="8183880" y="3849624"/>
            <a:ext cx="2133295" cy="566928"/>
          </a:xfrm>
          <a:prstGeom prst="rect">
            <a:avLst/>
          </a:prstGeom>
          <a:noFill/>
          <a:ln/>
        </p:spPr>
        <p:txBody>
          <a:bodyPr wrap="square" lIns="0" tIns="0" rIns="0" bIns="0" rtlCol="0" anchor="ctr"/>
          <a:lstStyle/>
          <a:p>
            <a:pPr indent="0" marL="0">
              <a:buNone/>
            </a:pPr>
            <a:r>
              <a:rPr lang="en-US" sz="1300" dirty="0">
                <a:solidFill>
                  <a:srgbClr val="10282E"/>
                </a:solidFill>
                <a:latin typeface="Calibri" pitchFamily="34" charset="0"/>
                <a:ea typeface="Calibri" pitchFamily="34" charset="-122"/>
                <a:cs typeface="Calibri" pitchFamily="34" charset="-120"/>
              </a:rPr>
              <a:t>Peso deuda</a:t>
            </a:r>
            <a:endParaRPr lang="en-US" sz="1300" dirty="0"/>
          </a:p>
        </p:txBody>
      </p:sp>
      <p:sp>
        <p:nvSpPr>
          <p:cNvPr id="19" name="Text 15"/>
          <p:cNvSpPr/>
          <p:nvPr/>
        </p:nvSpPr>
        <p:spPr>
          <a:xfrm>
            <a:off x="10088575" y="3849624"/>
            <a:ext cx="1234440" cy="566928"/>
          </a:xfrm>
          <a:prstGeom prst="rect">
            <a:avLst/>
          </a:prstGeom>
          <a:noFill/>
          <a:ln/>
        </p:spPr>
        <p:txBody>
          <a:bodyPr wrap="square" lIns="0" tIns="0" rIns="0" bIns="0" rtlCol="0" anchor="ctr"/>
          <a:lstStyle/>
          <a:p>
            <a:pPr algn="r" indent="0" marL="0">
              <a:buNone/>
            </a:pPr>
            <a:r>
              <a:rPr lang="en-US" sz="1600" b="1" dirty="0">
                <a:solidFill>
                  <a:srgbClr val="0B2B33"/>
                </a:solidFill>
                <a:latin typeface="Georgia" pitchFamily="34" charset="0"/>
                <a:ea typeface="Georgia" pitchFamily="34" charset="-122"/>
                <a:cs typeface="Georgia" pitchFamily="34" charset="-120"/>
              </a:rPr>
              <a:t>2,1%</a:t>
            </a:r>
            <a:endParaRPr lang="en-US" sz="1600" dirty="0"/>
          </a:p>
        </p:txBody>
      </p:sp>
      <p:sp>
        <p:nvSpPr>
          <p:cNvPr id="20" name="Shape 16"/>
          <p:cNvSpPr/>
          <p:nvPr/>
        </p:nvSpPr>
        <p:spPr>
          <a:xfrm>
            <a:off x="7955280" y="4553712"/>
            <a:ext cx="3596335" cy="1097280"/>
          </a:xfrm>
          <a:prstGeom prst="roundRect">
            <a:avLst>
              <a:gd name="adj" fmla="val 8333"/>
            </a:avLst>
          </a:prstGeom>
          <a:solidFill>
            <a:srgbClr val="0B2B33"/>
          </a:solidFill>
          <a:ln/>
          <a:effectLst>
            <a:outerShdw sx="100000" sy="100000" kx="0" ky="0" algn="bl" rotWithShape="0" blurRad="114300" dist="38100" dir="8100000">
              <a:srgbClr val="0B2B33">
                <a:alpha val="14000"/>
              </a:srgbClr>
            </a:outerShdw>
          </a:effectLst>
        </p:spPr>
      </p:sp>
      <p:sp>
        <p:nvSpPr>
          <p:cNvPr id="21" name="Text 17"/>
          <p:cNvSpPr/>
          <p:nvPr/>
        </p:nvSpPr>
        <p:spPr>
          <a:xfrm>
            <a:off x="8183880" y="4690872"/>
            <a:ext cx="3139135" cy="365760"/>
          </a:xfrm>
          <a:prstGeom prst="rect">
            <a:avLst/>
          </a:prstGeom>
          <a:noFill/>
          <a:ln/>
        </p:spPr>
        <p:txBody>
          <a:bodyPr wrap="square" lIns="0" tIns="0" rIns="0" bIns="0" rtlCol="0" anchor="ctr"/>
          <a:lstStyle/>
          <a:p>
            <a:pPr indent="0" marL="0">
              <a:buNone/>
            </a:pPr>
            <a:r>
              <a:rPr lang="en-US" sz="1200" b="1" dirty="0">
                <a:solidFill>
                  <a:srgbClr val="F2A516"/>
                </a:solidFill>
                <a:latin typeface="Calibri" pitchFamily="34" charset="0"/>
                <a:ea typeface="Calibri" pitchFamily="34" charset="-122"/>
                <a:cs typeface="Calibri" pitchFamily="34" charset="-120"/>
              </a:rPr>
              <a:t>Pesos a valor de mercado</a:t>
            </a:r>
            <a:endParaRPr lang="en-US" sz="1200" dirty="0"/>
          </a:p>
        </p:txBody>
      </p:sp>
      <p:sp>
        <p:nvSpPr>
          <p:cNvPr id="22" name="Text 18"/>
          <p:cNvSpPr/>
          <p:nvPr/>
        </p:nvSpPr>
        <p:spPr>
          <a:xfrm>
            <a:off x="8183880" y="5010912"/>
            <a:ext cx="3139135" cy="640080"/>
          </a:xfrm>
          <a:prstGeom prst="rect">
            <a:avLst/>
          </a:prstGeom>
          <a:noFill/>
          <a:ln/>
        </p:spPr>
        <p:txBody>
          <a:bodyPr wrap="square" lIns="0" tIns="0" rIns="0" bIns="0" rtlCol="0" anchor="ctr"/>
          <a:lstStyle/>
          <a:p>
            <a:pPr indent="0" marL="0">
              <a:lnSpc>
                <a:spcPct val="105000"/>
              </a:lnSpc>
              <a:buNone/>
            </a:pPr>
            <a:r>
              <a:rPr lang="en-US" sz="1100" dirty="0">
                <a:solidFill>
                  <a:srgbClr val="9FC3C0"/>
                </a:solidFill>
                <a:latin typeface="Calibri" pitchFamily="34" charset="0"/>
                <a:ea typeface="Calibri" pitchFamily="34" charset="-122"/>
                <a:cs typeface="Calibri" pitchFamily="34" charset="-120"/>
              </a:rPr>
              <a:t>Apple es ~98% equity: el WACC está dominado por el Ke. Por eso Beta y ERP son las palancas que más lo mueven.</a:t>
            </a:r>
            <a:endParaRPr lang="en-US" sz="1100" dirty="0"/>
          </a:p>
        </p:txBody>
      </p:sp>
      <p:sp>
        <p:nvSpPr>
          <p:cNvPr id="23" name="Text 19"/>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4" name="Text 20"/>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grid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SENSIBILIDAD DE LA TASA</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¿Cuánto se mueve el WACC ante β y ERP?</a:t>
            </a:r>
            <a:endParaRPr lang="en-US" sz="3000" dirty="0"/>
          </a:p>
        </p:txBody>
      </p:sp>
      <p:sp>
        <p:nvSpPr>
          <p:cNvPr id="6" name="Shape 3"/>
          <p:cNvSpPr/>
          <p:nvPr/>
        </p:nvSpPr>
        <p:spPr>
          <a:xfrm>
            <a:off x="640080" y="1874520"/>
            <a:ext cx="676656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32_0.png">    </p:cNvPr>
          <p:cNvPicPr>
            <a:picLocks noChangeAspect="1"/>
          </p:cNvPicPr>
          <p:nvPr/>
        </p:nvPicPr>
        <p:blipFill>
          <a:blip r:embed="rId2"/>
          <a:stretch>
            <a:fillRect/>
          </a:stretch>
        </p:blipFill>
        <p:spPr>
          <a:xfrm>
            <a:off x="1482471" y="2103120"/>
            <a:ext cx="5081778" cy="3474720"/>
          </a:xfrm>
          <a:prstGeom prst="rect">
            <a:avLst/>
          </a:prstGeom>
        </p:spPr>
      </p:pic>
      <p:sp>
        <p:nvSpPr>
          <p:cNvPr id="8" name="Shape 4"/>
          <p:cNvSpPr/>
          <p:nvPr/>
        </p:nvSpPr>
        <p:spPr>
          <a:xfrm>
            <a:off x="7772400" y="1874520"/>
            <a:ext cx="3779215" cy="1874520"/>
          </a:xfrm>
          <a:prstGeom prst="roundRect">
            <a:avLst>
              <a:gd name="adj" fmla="val 4878"/>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8028432" y="2112264"/>
            <a:ext cx="420624" cy="420624"/>
          </a:xfrm>
          <a:prstGeom prst="ellipse">
            <a:avLst/>
          </a:prstGeom>
          <a:solidFill>
            <a:srgbClr val="12A594"/>
          </a:solidFill>
          <a:ln/>
        </p:spPr>
      </p:sp>
      <p:pic>
        <p:nvPicPr>
          <p:cNvPr id="10" name="Image 2" descr="icons/grid_white.png">    </p:cNvPr>
          <p:cNvPicPr>
            <a:picLocks noChangeAspect="1"/>
          </p:cNvPicPr>
          <p:nvPr/>
        </p:nvPicPr>
        <p:blipFill>
          <a:blip r:embed="rId3"/>
          <a:stretch>
            <a:fillRect/>
          </a:stretch>
        </p:blipFill>
        <p:spPr>
          <a:xfrm>
            <a:off x="8129016" y="2212848"/>
            <a:ext cx="219456" cy="219456"/>
          </a:xfrm>
          <a:prstGeom prst="rect">
            <a:avLst/>
          </a:prstGeom>
        </p:spPr>
      </p:pic>
      <p:sp>
        <p:nvSpPr>
          <p:cNvPr id="11" name="Text 6"/>
          <p:cNvSpPr/>
          <p:nvPr/>
        </p:nvSpPr>
        <p:spPr>
          <a:xfrm>
            <a:off x="8631936" y="2093976"/>
            <a:ext cx="270022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Qué muestra</a:t>
            </a:r>
            <a:endParaRPr lang="en-US" sz="1350" dirty="0"/>
          </a:p>
        </p:txBody>
      </p:sp>
      <p:sp>
        <p:nvSpPr>
          <p:cNvPr id="12" name="Text 7"/>
          <p:cNvSpPr/>
          <p:nvPr/>
        </p:nvSpPr>
        <p:spPr>
          <a:xfrm>
            <a:off x="8028432" y="2532888"/>
            <a:ext cx="3303727" cy="10332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El recuadro azul es nuestro caso base (β 1,06 · ERP 4,8% → 9,24%). Moverse en la grilla cambia el WACC entre ~7,5% y ~11,5%.</a:t>
            </a:r>
            <a:endParaRPr lang="en-US" sz="1200" dirty="0"/>
          </a:p>
        </p:txBody>
      </p:sp>
      <p:sp>
        <p:nvSpPr>
          <p:cNvPr id="13" name="Shape 8"/>
          <p:cNvSpPr/>
          <p:nvPr/>
        </p:nvSpPr>
        <p:spPr>
          <a:xfrm>
            <a:off x="7772400" y="3886200"/>
            <a:ext cx="3779215" cy="1920240"/>
          </a:xfrm>
          <a:prstGeom prst="roundRect">
            <a:avLst>
              <a:gd name="adj" fmla="val 4762"/>
            </a:avLst>
          </a:prstGeom>
          <a:solidFill>
            <a:srgbClr val="FFFFFF"/>
          </a:solidFill>
          <a:ln/>
          <a:effectLst>
            <a:outerShdw sx="100000" sy="100000" kx="0" ky="0" algn="bl" rotWithShape="0" blurRad="114300" dist="38100" dir="8100000">
              <a:srgbClr val="0B2B33">
                <a:alpha val="14000"/>
              </a:srgbClr>
            </a:outerShdw>
          </a:effectLst>
        </p:spPr>
      </p:sp>
      <p:sp>
        <p:nvSpPr>
          <p:cNvPr id="14" name="Shape 9"/>
          <p:cNvSpPr/>
          <p:nvPr/>
        </p:nvSpPr>
        <p:spPr>
          <a:xfrm>
            <a:off x="8028432" y="4123944"/>
            <a:ext cx="420624" cy="420624"/>
          </a:xfrm>
          <a:prstGeom prst="ellipse">
            <a:avLst/>
          </a:prstGeom>
          <a:solidFill>
            <a:srgbClr val="F2A516"/>
          </a:solidFill>
          <a:ln/>
        </p:spPr>
      </p:sp>
      <p:pic>
        <p:nvPicPr>
          <p:cNvPr id="15" name="Image 3" descr="icons/warning_white.png">    </p:cNvPr>
          <p:cNvPicPr>
            <a:picLocks noChangeAspect="1"/>
          </p:cNvPicPr>
          <p:nvPr/>
        </p:nvPicPr>
        <p:blipFill>
          <a:blip r:embed="rId4"/>
          <a:stretch>
            <a:fillRect/>
          </a:stretch>
        </p:blipFill>
        <p:spPr>
          <a:xfrm>
            <a:off x="8129016" y="4224528"/>
            <a:ext cx="219456" cy="219456"/>
          </a:xfrm>
          <a:prstGeom prst="rect">
            <a:avLst/>
          </a:prstGeom>
        </p:spPr>
      </p:pic>
      <p:sp>
        <p:nvSpPr>
          <p:cNvPr id="16" name="Text 10"/>
          <p:cNvSpPr/>
          <p:nvPr/>
        </p:nvSpPr>
        <p:spPr>
          <a:xfrm>
            <a:off x="8631936" y="4105656"/>
            <a:ext cx="270022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Por qué importa</a:t>
            </a:r>
            <a:endParaRPr lang="en-US" sz="1350" dirty="0"/>
          </a:p>
        </p:txBody>
      </p:sp>
      <p:sp>
        <p:nvSpPr>
          <p:cNvPr id="17" name="Text 11"/>
          <p:cNvSpPr/>
          <p:nvPr/>
        </p:nvSpPr>
        <p:spPr>
          <a:xfrm>
            <a:off x="8028432" y="4544568"/>
            <a:ext cx="3303727" cy="107899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Como el 77% del valor estará en el valor terminal, cada décima del WACC mueve fuerte el precio objetivo. Por eso lo mostramos como rango, no como punto.</a:t>
            </a:r>
            <a:endParaRPr lang="en-US" sz="1200" dirty="0"/>
          </a:p>
        </p:txBody>
      </p:sp>
      <p:sp>
        <p:nvSpPr>
          <p:cNvPr id="18" name="Text 12"/>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9" name="Text 13"/>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7589520" y="548640"/>
            <a:ext cx="4754880" cy="5760720"/>
          </a:xfrm>
          <a:prstGeom prst="rect">
            <a:avLst/>
          </a:prstGeom>
          <a:noFill/>
          <a:ln/>
        </p:spPr>
        <p:txBody>
          <a:bodyPr wrap="square" lIns="0" tIns="0" rIns="0" bIns="0" rtlCol="0" anchor="ctr"/>
          <a:lstStyle/>
          <a:p>
            <a:pPr algn="r" indent="0" marL="0">
              <a:buNone/>
            </a:pPr>
            <a:r>
              <a:rPr lang="en-US" sz="30000" b="1" dirty="0">
                <a:solidFill>
                  <a:srgbClr val="0F3A44"/>
                </a:solidFill>
                <a:latin typeface="Georgia" pitchFamily="34" charset="0"/>
                <a:ea typeface="Georgia" pitchFamily="34" charset="-122"/>
                <a:cs typeface="Georgia" pitchFamily="34" charset="-120"/>
              </a:rPr>
              <a:t>05</a:t>
            </a:r>
            <a:endParaRPr lang="en-US" sz="30000" dirty="0"/>
          </a:p>
        </p:txBody>
      </p:sp>
      <p:sp>
        <p:nvSpPr>
          <p:cNvPr id="3" name="Shape 1"/>
          <p:cNvSpPr/>
          <p:nvPr/>
        </p:nvSpPr>
        <p:spPr>
          <a:xfrm>
            <a:off x="640080" y="2148840"/>
            <a:ext cx="960120" cy="960120"/>
          </a:xfrm>
          <a:prstGeom prst="ellipse">
            <a:avLst/>
          </a:prstGeom>
          <a:solidFill>
            <a:srgbClr val="12A594"/>
          </a:solidFill>
          <a:ln/>
        </p:spPr>
      </p:sp>
      <p:pic>
        <p:nvPicPr>
          <p:cNvPr id="4" name="Image 0" descr="icons/water_white.png">    </p:cNvPr>
          <p:cNvPicPr>
            <a:picLocks noChangeAspect="1"/>
          </p:cNvPicPr>
          <p:nvPr/>
        </p:nvPicPr>
        <p:blipFill>
          <a:blip r:embed="rId1"/>
          <a:stretch>
            <a:fillRect/>
          </a:stretch>
        </p:blipFill>
        <p:spPr>
          <a:xfrm>
            <a:off x="914400" y="2423160"/>
            <a:ext cx="411480" cy="411480"/>
          </a:xfrm>
          <a:prstGeom prst="rect">
            <a:avLst/>
          </a:prstGeom>
        </p:spPr>
      </p:pic>
      <p:sp>
        <p:nvSpPr>
          <p:cNvPr id="5" name="Text 2"/>
          <p:cNvSpPr/>
          <p:nvPr/>
        </p:nvSpPr>
        <p:spPr>
          <a:xfrm>
            <a:off x="640080" y="3337560"/>
            <a:ext cx="731520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BLOQUE 05 · VALUACIÓN INTRÍNSECA</a:t>
            </a:r>
            <a:endParaRPr lang="en-US" sz="1300" dirty="0"/>
          </a:p>
        </p:txBody>
      </p:sp>
      <p:sp>
        <p:nvSpPr>
          <p:cNvPr id="6" name="Text 3"/>
          <p:cNvSpPr/>
          <p:nvPr/>
        </p:nvSpPr>
        <p:spPr>
          <a:xfrm>
            <a:off x="640080" y="3703320"/>
            <a:ext cx="7315200" cy="118872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Georgia" pitchFamily="34" charset="0"/>
                <a:ea typeface="Georgia" pitchFamily="34" charset="-122"/>
                <a:cs typeface="Georgia" pitchFamily="34" charset="-120"/>
              </a:rPr>
              <a:t>Flujos de Fondos Descontados</a:t>
            </a:r>
            <a:endParaRPr lang="en-US" sz="3800" dirty="0"/>
          </a:p>
        </p:txBody>
      </p:sp>
      <p:sp>
        <p:nvSpPr>
          <p:cNvPr id="7" name="Text 4"/>
          <p:cNvSpPr/>
          <p:nvPr/>
        </p:nvSpPr>
        <p:spPr>
          <a:xfrm>
            <a:off x="640080" y="5029200"/>
            <a:ext cx="6949440" cy="731520"/>
          </a:xfrm>
          <a:prstGeom prst="rect">
            <a:avLst/>
          </a:prstGeom>
          <a:noFill/>
          <a:ln/>
        </p:spPr>
        <p:txBody>
          <a:bodyPr wrap="square" lIns="0" tIns="0" rIns="0" bIns="0" rtlCol="0" anchor="ctr"/>
          <a:lstStyle/>
          <a:p>
            <a:pPr indent="0" marL="0">
              <a:lnSpc>
                <a:spcPct val="110000"/>
              </a:lnSpc>
              <a:buNone/>
            </a:pPr>
            <a:r>
              <a:rPr lang="en-US" sz="1400" dirty="0">
                <a:solidFill>
                  <a:srgbClr val="9FC3C0"/>
                </a:solidFill>
                <a:latin typeface="Calibri" pitchFamily="34" charset="0"/>
                <a:ea typeface="Calibri" pitchFamily="34" charset="-122"/>
                <a:cs typeface="Calibri" pitchFamily="34" charset="-120"/>
              </a:rPr>
              <a:t>Con el WACC listo: descontamos los flujos, sumamos el valor terminal y bajamos de Enterprise Value a precio por acción.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brain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LA INTUICIÓN DEL FFD</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500" b="1" dirty="0">
                <a:solidFill>
                  <a:srgbClr val="0B2B33"/>
                </a:solidFill>
                <a:latin typeface="Georgia" pitchFamily="34" charset="0"/>
                <a:ea typeface="Georgia" pitchFamily="34" charset="-122"/>
                <a:cs typeface="Georgia" pitchFamily="34" charset="-120"/>
              </a:rPr>
              <a:t>Una empresa vive infinitos años: partimos el cálculo en dos</a:t>
            </a:r>
            <a:endParaRPr lang="en-US" sz="2500" dirty="0"/>
          </a:p>
        </p:txBody>
      </p:sp>
      <p:sp>
        <p:nvSpPr>
          <p:cNvPr id="6" name="Shape 3"/>
          <p:cNvSpPr/>
          <p:nvPr/>
        </p:nvSpPr>
        <p:spPr>
          <a:xfrm>
            <a:off x="640080" y="2103120"/>
            <a:ext cx="5272888" cy="2377440"/>
          </a:xfrm>
          <a:prstGeom prst="roundRect">
            <a:avLst>
              <a:gd name="adj" fmla="val 4615"/>
            </a:avLst>
          </a:prstGeom>
          <a:solidFill>
            <a:srgbClr val="FFFFFF"/>
          </a:solidFill>
          <a:ln/>
          <a:effectLst>
            <a:outerShdw sx="100000" sy="100000" kx="0" ky="0" algn="bl" rotWithShape="0" blurRad="114300" dist="38100" dir="8100000">
              <a:srgbClr val="0B2B33">
                <a:alpha val="14000"/>
              </a:srgbClr>
            </a:outerShdw>
          </a:effectLst>
        </p:spPr>
      </p:sp>
      <p:sp>
        <p:nvSpPr>
          <p:cNvPr id="7" name="Text 4"/>
          <p:cNvSpPr/>
          <p:nvPr/>
        </p:nvSpPr>
        <p:spPr>
          <a:xfrm>
            <a:off x="914400" y="2286000"/>
            <a:ext cx="640080" cy="822960"/>
          </a:xfrm>
          <a:prstGeom prst="rect">
            <a:avLst/>
          </a:prstGeom>
          <a:noFill/>
          <a:ln/>
        </p:spPr>
        <p:txBody>
          <a:bodyPr wrap="square" lIns="0" tIns="0" rIns="0" bIns="0" rtlCol="0" anchor="ctr"/>
          <a:lstStyle/>
          <a:p>
            <a:pPr indent="0" marL="0">
              <a:buNone/>
            </a:pPr>
            <a:r>
              <a:rPr lang="en-US" sz="4600" b="1" dirty="0">
                <a:solidFill>
                  <a:srgbClr val="12A594"/>
                </a:solidFill>
                <a:latin typeface="Georgia" pitchFamily="34" charset="0"/>
                <a:ea typeface="Georgia" pitchFamily="34" charset="-122"/>
                <a:cs typeface="Georgia" pitchFamily="34" charset="-120"/>
              </a:rPr>
              <a:t>1</a:t>
            </a:r>
            <a:endParaRPr lang="en-US" sz="4600" dirty="0"/>
          </a:p>
        </p:txBody>
      </p:sp>
      <p:sp>
        <p:nvSpPr>
          <p:cNvPr id="8" name="Text 5"/>
          <p:cNvSpPr/>
          <p:nvPr/>
        </p:nvSpPr>
        <p:spPr>
          <a:xfrm>
            <a:off x="1645920" y="2377440"/>
            <a:ext cx="3992728" cy="457200"/>
          </a:xfrm>
          <a:prstGeom prst="rect">
            <a:avLst/>
          </a:prstGeom>
          <a:noFill/>
          <a:ln/>
        </p:spPr>
        <p:txBody>
          <a:bodyPr wrap="square" lIns="0" tIns="0" rIns="0" bIns="0" rtlCol="0" anchor="ctr"/>
          <a:lstStyle/>
          <a:p>
            <a:pPr indent="0" marL="0">
              <a:buNone/>
            </a:pPr>
            <a:r>
              <a:rPr lang="en-US" sz="1600" b="1" dirty="0">
                <a:solidFill>
                  <a:srgbClr val="0B2B33"/>
                </a:solidFill>
                <a:latin typeface="Calibri" pitchFamily="34" charset="0"/>
                <a:ea typeface="Calibri" pitchFamily="34" charset="-122"/>
                <a:cs typeface="Calibri" pitchFamily="34" charset="-120"/>
              </a:rPr>
              <a:t>Período explícito</a:t>
            </a:r>
            <a:endParaRPr lang="en-US" sz="1600" dirty="0"/>
          </a:p>
        </p:txBody>
      </p:sp>
      <p:sp>
        <p:nvSpPr>
          <p:cNvPr id="9" name="Text 6"/>
          <p:cNvSpPr/>
          <p:nvPr/>
        </p:nvSpPr>
        <p:spPr>
          <a:xfrm>
            <a:off x="1645920" y="2788920"/>
            <a:ext cx="3992728" cy="365760"/>
          </a:xfrm>
          <a:prstGeom prst="rect">
            <a:avLst/>
          </a:prstGeom>
          <a:noFill/>
          <a:ln/>
        </p:spPr>
        <p:txBody>
          <a:bodyPr wrap="square" lIns="0" tIns="0" rIns="0" bIns="0" rtlCol="0" anchor="ctr"/>
          <a:lstStyle/>
          <a:p>
            <a:pPr indent="0" marL="0">
              <a:buNone/>
            </a:pPr>
            <a:r>
              <a:rPr lang="en-US" sz="1200" dirty="0">
                <a:solidFill>
                  <a:srgbClr val="5C6F74"/>
                </a:solidFill>
                <a:latin typeface="Calibri" pitchFamily="34" charset="0"/>
                <a:ea typeface="Calibri" pitchFamily="34" charset="-122"/>
                <a:cs typeface="Calibri" pitchFamily="34" charset="-120"/>
              </a:rPr>
              <a:t>2026 – 2030</a:t>
            </a:r>
            <a:endParaRPr lang="en-US" sz="1200" dirty="0"/>
          </a:p>
        </p:txBody>
      </p:sp>
      <p:sp>
        <p:nvSpPr>
          <p:cNvPr id="10" name="Text 7"/>
          <p:cNvSpPr/>
          <p:nvPr/>
        </p:nvSpPr>
        <p:spPr>
          <a:xfrm>
            <a:off x="932688" y="3291840"/>
            <a:ext cx="4724248" cy="1005840"/>
          </a:xfrm>
          <a:prstGeom prst="rect">
            <a:avLst/>
          </a:prstGeom>
          <a:noFill/>
          <a:ln/>
        </p:spPr>
        <p:txBody>
          <a:bodyPr wrap="square" lIns="0" tIns="0" rIns="0" bIns="0" rtlCol="0" anchor="ctr"/>
          <a:lstStyle/>
          <a:p>
            <a:pPr indent="0" marL="0">
              <a:lnSpc>
                <a:spcPct val="110000"/>
              </a:lnSpc>
              <a:buNone/>
            </a:pPr>
            <a:r>
              <a:rPr lang="en-US" sz="1300" dirty="0">
                <a:solidFill>
                  <a:srgbClr val="10282E"/>
                </a:solidFill>
                <a:latin typeface="Calibri" pitchFamily="34" charset="0"/>
                <a:ea typeface="Calibri" pitchFamily="34" charset="-122"/>
                <a:cs typeface="Calibri" pitchFamily="34" charset="-120"/>
              </a:rPr>
              <a:t>Cinco años con proyecciones detalladas (cátedra), cada flujo traído a valor presente al WACC.</a:t>
            </a:r>
            <a:endParaRPr lang="en-US" sz="1300" dirty="0"/>
          </a:p>
        </p:txBody>
      </p:sp>
      <p:sp>
        <p:nvSpPr>
          <p:cNvPr id="11" name="Shape 8"/>
          <p:cNvSpPr/>
          <p:nvPr/>
        </p:nvSpPr>
        <p:spPr>
          <a:xfrm>
            <a:off x="6278728" y="2103120"/>
            <a:ext cx="5272888" cy="2377440"/>
          </a:xfrm>
          <a:prstGeom prst="roundRect">
            <a:avLst>
              <a:gd name="adj" fmla="val 4615"/>
            </a:avLst>
          </a:prstGeom>
          <a:solidFill>
            <a:srgbClr val="FFFFFF"/>
          </a:solidFill>
          <a:ln/>
          <a:effectLst>
            <a:outerShdw sx="100000" sy="100000" kx="0" ky="0" algn="bl" rotWithShape="0" blurRad="114300" dist="38100" dir="8100000">
              <a:srgbClr val="0B2B33">
                <a:alpha val="14000"/>
              </a:srgbClr>
            </a:outerShdw>
          </a:effectLst>
        </p:spPr>
      </p:sp>
      <p:pic>
        <p:nvPicPr>
          <p:cNvPr id="12" name="Image 1" descr="icons/infinity_amber.png">    </p:cNvPr>
          <p:cNvPicPr>
            <a:picLocks noChangeAspect="1"/>
          </p:cNvPicPr>
          <p:nvPr/>
        </p:nvPicPr>
        <p:blipFill>
          <a:blip r:embed="rId2"/>
          <a:stretch>
            <a:fillRect/>
          </a:stretch>
        </p:blipFill>
        <p:spPr>
          <a:xfrm>
            <a:off x="6553048" y="2487168"/>
            <a:ext cx="640080" cy="457200"/>
          </a:xfrm>
          <a:prstGeom prst="rect">
            <a:avLst/>
          </a:prstGeom>
        </p:spPr>
      </p:pic>
      <p:sp>
        <p:nvSpPr>
          <p:cNvPr id="13" name="Text 9"/>
          <p:cNvSpPr/>
          <p:nvPr/>
        </p:nvSpPr>
        <p:spPr>
          <a:xfrm>
            <a:off x="7284568" y="2377440"/>
            <a:ext cx="3992728" cy="457200"/>
          </a:xfrm>
          <a:prstGeom prst="rect">
            <a:avLst/>
          </a:prstGeom>
          <a:noFill/>
          <a:ln/>
        </p:spPr>
        <p:txBody>
          <a:bodyPr wrap="square" lIns="0" tIns="0" rIns="0" bIns="0" rtlCol="0" anchor="ctr"/>
          <a:lstStyle/>
          <a:p>
            <a:pPr indent="0" marL="0">
              <a:buNone/>
            </a:pPr>
            <a:r>
              <a:rPr lang="en-US" sz="1600" b="1" dirty="0">
                <a:solidFill>
                  <a:srgbClr val="0B2B33"/>
                </a:solidFill>
                <a:latin typeface="Calibri" pitchFamily="34" charset="0"/>
                <a:ea typeface="Calibri" pitchFamily="34" charset="-122"/>
                <a:cs typeface="Calibri" pitchFamily="34" charset="-120"/>
              </a:rPr>
              <a:t>Continuidad</a:t>
            </a:r>
            <a:endParaRPr lang="en-US" sz="1600" dirty="0"/>
          </a:p>
        </p:txBody>
      </p:sp>
      <p:sp>
        <p:nvSpPr>
          <p:cNvPr id="14" name="Text 10"/>
          <p:cNvSpPr/>
          <p:nvPr/>
        </p:nvSpPr>
        <p:spPr>
          <a:xfrm>
            <a:off x="7284568" y="2788920"/>
            <a:ext cx="3992728" cy="365760"/>
          </a:xfrm>
          <a:prstGeom prst="rect">
            <a:avLst/>
          </a:prstGeom>
          <a:noFill/>
          <a:ln/>
        </p:spPr>
        <p:txBody>
          <a:bodyPr wrap="square" lIns="0" tIns="0" rIns="0" bIns="0" rtlCol="0" anchor="ctr"/>
          <a:lstStyle/>
          <a:p>
            <a:pPr indent="0" marL="0">
              <a:buNone/>
            </a:pPr>
            <a:r>
              <a:rPr lang="en-US" sz="1200" dirty="0">
                <a:solidFill>
                  <a:srgbClr val="5C6F74"/>
                </a:solidFill>
                <a:latin typeface="Calibri" pitchFamily="34" charset="0"/>
                <a:ea typeface="Calibri" pitchFamily="34" charset="-122"/>
                <a:cs typeface="Calibri" pitchFamily="34" charset="-120"/>
              </a:rPr>
              <a:t>2031 → ∞</a:t>
            </a:r>
            <a:endParaRPr lang="en-US" sz="1200" dirty="0"/>
          </a:p>
        </p:txBody>
      </p:sp>
      <p:sp>
        <p:nvSpPr>
          <p:cNvPr id="15" name="Text 11"/>
          <p:cNvSpPr/>
          <p:nvPr/>
        </p:nvSpPr>
        <p:spPr>
          <a:xfrm>
            <a:off x="6571336" y="3291840"/>
            <a:ext cx="4724248" cy="1005840"/>
          </a:xfrm>
          <a:prstGeom prst="rect">
            <a:avLst/>
          </a:prstGeom>
          <a:noFill/>
          <a:ln/>
        </p:spPr>
        <p:txBody>
          <a:bodyPr wrap="square" lIns="0" tIns="0" rIns="0" bIns="0" rtlCol="0" anchor="ctr"/>
          <a:lstStyle/>
          <a:p>
            <a:pPr indent="0" marL="0">
              <a:lnSpc>
                <a:spcPct val="110000"/>
              </a:lnSpc>
              <a:buNone/>
            </a:pPr>
            <a:r>
              <a:rPr lang="en-US" sz="1300" dirty="0">
                <a:solidFill>
                  <a:srgbClr val="10282E"/>
                </a:solidFill>
                <a:latin typeface="Calibri" pitchFamily="34" charset="0"/>
                <a:ea typeface="Calibri" pitchFamily="34" charset="-122"/>
                <a:cs typeface="Calibri" pitchFamily="34" charset="-120"/>
              </a:rPr>
              <a:t>Un solo número, el Valor Terminal: la empresa crece a una tasa estable g por toda la eternidad (Gordon-Shapiro).</a:t>
            </a:r>
            <a:endParaRPr lang="en-US" sz="1300" dirty="0"/>
          </a:p>
        </p:txBody>
      </p:sp>
      <p:sp>
        <p:nvSpPr>
          <p:cNvPr id="16" name="Shape 12"/>
          <p:cNvSpPr/>
          <p:nvPr/>
        </p:nvSpPr>
        <p:spPr>
          <a:xfrm>
            <a:off x="640080" y="4663440"/>
            <a:ext cx="10911535" cy="914400"/>
          </a:xfrm>
          <a:prstGeom prst="roundRect">
            <a:avLst>
              <a:gd name="adj" fmla="val 10000"/>
            </a:avLst>
          </a:prstGeom>
          <a:solidFill>
            <a:srgbClr val="0B2B33"/>
          </a:solidFill>
          <a:ln/>
          <a:effectLst>
            <a:outerShdw sx="100000" sy="100000" kx="0" ky="0" algn="bl" rotWithShape="0" blurRad="114300" dist="38100" dir="8100000">
              <a:srgbClr val="0B2B33">
                <a:alpha val="14000"/>
              </a:srgbClr>
            </a:outerShdw>
          </a:effectLst>
        </p:spPr>
      </p:sp>
      <p:sp>
        <p:nvSpPr>
          <p:cNvPr id="17" name="Text 13"/>
          <p:cNvSpPr/>
          <p:nvPr/>
        </p:nvSpPr>
        <p:spPr>
          <a:xfrm>
            <a:off x="914400" y="4663440"/>
            <a:ext cx="10362895"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Enterprise Value  =  </a:t>
            </a:r>
            <a:pPr algn="ctr" indent="0" marL="0">
              <a:buNone/>
            </a:pPr>
            <a:r>
              <a:rPr lang="en-US" sz="2000" b="1" dirty="0">
                <a:solidFill>
                  <a:srgbClr val="12A594"/>
                </a:solidFill>
                <a:latin typeface="Georgia" pitchFamily="34" charset="0"/>
                <a:ea typeface="Georgia" pitchFamily="34" charset="-122"/>
                <a:cs typeface="Georgia" pitchFamily="34" charset="-120"/>
              </a:rPr>
              <a:t>Σ FCFₜ / (1+WACC)ᵗ</a:t>
            </a:r>
            <a:pPr algn="ctr" indent="0" marL="0">
              <a:buNone/>
            </a:pPr>
            <a:r>
              <a:rPr lang="en-US" sz="2000" dirty="0">
                <a:solidFill>
                  <a:srgbClr val="9FC3C0"/>
                </a:solidFill>
                <a:latin typeface="Georgia" pitchFamily="34" charset="0"/>
                <a:ea typeface="Georgia" pitchFamily="34" charset="-122"/>
                <a:cs typeface="Georgia" pitchFamily="34" charset="-120"/>
              </a:rPr>
              <a:t>   +   </a:t>
            </a:r>
            <a:pPr algn="ctr" indent="0" marL="0">
              <a:buNone/>
            </a:pPr>
            <a:r>
              <a:rPr lang="en-US" sz="2000" b="1" dirty="0">
                <a:solidFill>
                  <a:srgbClr val="F2A516"/>
                </a:solidFill>
                <a:latin typeface="Georgia" pitchFamily="34" charset="0"/>
                <a:ea typeface="Georgia" pitchFamily="34" charset="-122"/>
                <a:cs typeface="Georgia" pitchFamily="34" charset="-120"/>
              </a:rPr>
              <a:t>TV₂₀₃₀ / (1+WACC)⁵</a:t>
            </a:r>
            <a:endParaRPr lang="en-US" sz="2000" dirty="0"/>
          </a:p>
        </p:txBody>
      </p:sp>
      <p:sp>
        <p:nvSpPr>
          <p:cNvPr id="18" name="Text 14"/>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9" name="Text 15"/>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university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LOS FLUJOS A DESCONTAR</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FCF proyectados — provistos por la cátedra</a:t>
            </a:r>
            <a:endParaRPr lang="en-US" sz="3000" dirty="0"/>
          </a:p>
        </p:txBody>
      </p:sp>
      <p:sp>
        <p:nvSpPr>
          <p:cNvPr id="6" name="Shape 3"/>
          <p:cNvSpPr/>
          <p:nvPr/>
        </p:nvSpPr>
        <p:spPr>
          <a:xfrm>
            <a:off x="640080" y="1874520"/>
            <a:ext cx="694944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38_0.png">    </p:cNvPr>
          <p:cNvPicPr>
            <a:picLocks noChangeAspect="1"/>
          </p:cNvPicPr>
          <p:nvPr/>
        </p:nvPicPr>
        <p:blipFill>
          <a:blip r:embed="rId2"/>
          <a:stretch>
            <a:fillRect/>
          </a:stretch>
        </p:blipFill>
        <p:spPr>
          <a:xfrm>
            <a:off x="868680" y="2230834"/>
            <a:ext cx="6492240" cy="3219293"/>
          </a:xfrm>
          <a:prstGeom prst="rect">
            <a:avLst/>
          </a:prstGeom>
        </p:spPr>
      </p:pic>
      <p:sp>
        <p:nvSpPr>
          <p:cNvPr id="8" name="Shape 4"/>
          <p:cNvSpPr/>
          <p:nvPr/>
        </p:nvSpPr>
        <p:spPr>
          <a:xfrm>
            <a:off x="7955280" y="1920240"/>
            <a:ext cx="3596335" cy="310896"/>
          </a:xfrm>
          <a:prstGeom prst="roundRect">
            <a:avLst>
              <a:gd name="adj" fmla="val 50000"/>
            </a:avLst>
          </a:prstGeom>
          <a:solidFill>
            <a:srgbClr val="12A594"/>
          </a:solidFill>
          <a:ln/>
        </p:spPr>
      </p:sp>
      <p:pic>
        <p:nvPicPr>
          <p:cNvPr id="9" name="Image 2" descr="icons/university_white.png">    </p:cNvPr>
          <p:cNvPicPr>
            <a:picLocks noChangeAspect="1"/>
          </p:cNvPicPr>
          <p:nvPr/>
        </p:nvPicPr>
        <p:blipFill>
          <a:blip r:embed="rId3"/>
          <a:stretch>
            <a:fillRect/>
          </a:stretch>
        </p:blipFill>
        <p:spPr>
          <a:xfrm>
            <a:off x="8065008" y="1993392"/>
            <a:ext cx="164592" cy="164592"/>
          </a:xfrm>
          <a:prstGeom prst="rect">
            <a:avLst/>
          </a:prstGeom>
        </p:spPr>
      </p:pic>
      <p:sp>
        <p:nvSpPr>
          <p:cNvPr id="10" name="Text 5"/>
          <p:cNvSpPr/>
          <p:nvPr/>
        </p:nvSpPr>
        <p:spPr>
          <a:xfrm>
            <a:off x="8284464" y="1920240"/>
            <a:ext cx="3212287" cy="310896"/>
          </a:xfrm>
          <a:prstGeom prst="rect">
            <a:avLst/>
          </a:prstGeom>
          <a:noFill/>
          <a:ln/>
        </p:spPr>
        <p:txBody>
          <a:bodyPr wrap="square" lIns="0" tIns="0" rIns="0" bIns="0" rtlCol="0" anchor="ctr"/>
          <a:lstStyle/>
          <a:p>
            <a:pPr algn="l" indent="0" marL="0">
              <a:buNone/>
            </a:pPr>
            <a:r>
              <a:rPr lang="en-US" sz="950" b="1" spc="50" kern="0" dirty="0">
                <a:solidFill>
                  <a:srgbClr val="FFFFFF"/>
                </a:solidFill>
                <a:latin typeface="Calibri" pitchFamily="34" charset="0"/>
                <a:ea typeface="Calibri" pitchFamily="34" charset="-122"/>
                <a:cs typeface="Calibri" pitchFamily="34" charset="-120"/>
              </a:rPr>
              <a:t>DATO CÁTEDRA — no es supuesto nuestro</a:t>
            </a:r>
            <a:endParaRPr lang="en-US" sz="950" dirty="0"/>
          </a:p>
        </p:txBody>
      </p:sp>
      <p:sp>
        <p:nvSpPr>
          <p:cNvPr id="11" name="Shape 6"/>
          <p:cNvSpPr/>
          <p:nvPr/>
        </p:nvSpPr>
        <p:spPr>
          <a:xfrm>
            <a:off x="7955280" y="2377440"/>
            <a:ext cx="3596335" cy="1737360"/>
          </a:xfrm>
          <a:prstGeom prst="roundRect">
            <a:avLst>
              <a:gd name="adj" fmla="val 5263"/>
            </a:avLst>
          </a:prstGeom>
          <a:solidFill>
            <a:srgbClr val="FFFFFF"/>
          </a:solidFill>
          <a:ln/>
          <a:effectLst>
            <a:outerShdw sx="100000" sy="100000" kx="0" ky="0" algn="bl" rotWithShape="0" blurRad="114300" dist="38100" dir="8100000">
              <a:srgbClr val="0B2B33">
                <a:alpha val="14000"/>
              </a:srgbClr>
            </a:outerShdw>
          </a:effectLst>
        </p:spPr>
      </p:sp>
      <p:sp>
        <p:nvSpPr>
          <p:cNvPr id="12" name="Shape 7"/>
          <p:cNvSpPr/>
          <p:nvPr/>
        </p:nvSpPr>
        <p:spPr>
          <a:xfrm>
            <a:off x="8211312" y="2615184"/>
            <a:ext cx="420624" cy="420624"/>
          </a:xfrm>
          <a:prstGeom prst="ellipse">
            <a:avLst/>
          </a:prstGeom>
          <a:solidFill>
            <a:srgbClr val="12A594"/>
          </a:solidFill>
          <a:ln/>
        </p:spPr>
      </p:sp>
      <p:pic>
        <p:nvPicPr>
          <p:cNvPr id="13" name="Image 3" descr="icons/water_white.png">    </p:cNvPr>
          <p:cNvPicPr>
            <a:picLocks noChangeAspect="1"/>
          </p:cNvPicPr>
          <p:nvPr/>
        </p:nvPicPr>
        <p:blipFill>
          <a:blip r:embed="rId4"/>
          <a:stretch>
            <a:fillRect/>
          </a:stretch>
        </p:blipFill>
        <p:spPr>
          <a:xfrm>
            <a:off x="8311896" y="2715768"/>
            <a:ext cx="219456" cy="219456"/>
          </a:xfrm>
          <a:prstGeom prst="rect">
            <a:avLst/>
          </a:prstGeom>
        </p:spPr>
      </p:pic>
      <p:sp>
        <p:nvSpPr>
          <p:cNvPr id="14" name="Text 8"/>
          <p:cNvSpPr/>
          <p:nvPr/>
        </p:nvSpPr>
        <p:spPr>
          <a:xfrm>
            <a:off x="8814816" y="2596896"/>
            <a:ext cx="251734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De 153 a 218 mil M USD</a:t>
            </a:r>
            <a:endParaRPr lang="en-US" sz="1350" dirty="0"/>
          </a:p>
        </p:txBody>
      </p:sp>
      <p:sp>
        <p:nvSpPr>
          <p:cNvPr id="15" name="Text 9"/>
          <p:cNvSpPr/>
          <p:nvPr/>
        </p:nvSpPr>
        <p:spPr>
          <a:xfrm>
            <a:off x="8211312" y="3035808"/>
            <a:ext cx="3120847" cy="89611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Los cinco flujos libres a la firma (FCFF) crecen año a año hasta 2030. Son el insumo central de la Parte 2.</a:t>
            </a:r>
            <a:endParaRPr lang="en-US" sz="1200" dirty="0"/>
          </a:p>
        </p:txBody>
      </p:sp>
      <p:sp>
        <p:nvSpPr>
          <p:cNvPr id="16" name="Shape 10"/>
          <p:cNvSpPr/>
          <p:nvPr/>
        </p:nvSpPr>
        <p:spPr>
          <a:xfrm>
            <a:off x="7955280" y="4251960"/>
            <a:ext cx="3596335" cy="1554480"/>
          </a:xfrm>
          <a:prstGeom prst="roundRect">
            <a:avLst>
              <a:gd name="adj" fmla="val 5882"/>
            </a:avLst>
          </a:prstGeom>
          <a:solidFill>
            <a:srgbClr val="FFFFFF"/>
          </a:solidFill>
          <a:ln/>
          <a:effectLst>
            <a:outerShdw sx="100000" sy="100000" kx="0" ky="0" algn="bl" rotWithShape="0" blurRad="114300" dist="38100" dir="8100000">
              <a:srgbClr val="0B2B33">
                <a:alpha val="14000"/>
              </a:srgbClr>
            </a:outerShdw>
          </a:effectLst>
        </p:spPr>
      </p:sp>
      <p:sp>
        <p:nvSpPr>
          <p:cNvPr id="17" name="Shape 11"/>
          <p:cNvSpPr/>
          <p:nvPr/>
        </p:nvSpPr>
        <p:spPr>
          <a:xfrm>
            <a:off x="8211312" y="4489704"/>
            <a:ext cx="420624" cy="420624"/>
          </a:xfrm>
          <a:prstGeom prst="ellipse">
            <a:avLst/>
          </a:prstGeom>
          <a:solidFill>
            <a:srgbClr val="F2A516"/>
          </a:solidFill>
          <a:ln/>
        </p:spPr>
      </p:sp>
      <p:pic>
        <p:nvPicPr>
          <p:cNvPr id="18" name="Image 4" descr="icons/useredit_white.png">    </p:cNvPr>
          <p:cNvPicPr>
            <a:picLocks noChangeAspect="1"/>
          </p:cNvPicPr>
          <p:nvPr/>
        </p:nvPicPr>
        <p:blipFill>
          <a:blip r:embed="rId5"/>
          <a:stretch>
            <a:fillRect/>
          </a:stretch>
        </p:blipFill>
        <p:spPr>
          <a:xfrm>
            <a:off x="8311896" y="4590288"/>
            <a:ext cx="219456" cy="219456"/>
          </a:xfrm>
          <a:prstGeom prst="rect">
            <a:avLst/>
          </a:prstGeom>
        </p:spPr>
      </p:pic>
      <p:sp>
        <p:nvSpPr>
          <p:cNvPr id="19" name="Text 12"/>
          <p:cNvSpPr/>
          <p:nvPr/>
        </p:nvSpPr>
        <p:spPr>
          <a:xfrm>
            <a:off x="8814816" y="4471416"/>
            <a:ext cx="251734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Nuestro rol</a:t>
            </a:r>
            <a:endParaRPr lang="en-US" sz="1350" dirty="0"/>
          </a:p>
        </p:txBody>
      </p:sp>
      <p:sp>
        <p:nvSpPr>
          <p:cNvPr id="20" name="Text 13"/>
          <p:cNvSpPr/>
          <p:nvPr/>
        </p:nvSpPr>
        <p:spPr>
          <a:xfrm>
            <a:off x="8211312" y="4910328"/>
            <a:ext cx="3120847" cy="71323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No los proyectamos: los tomamos y los sometemos a análisis crítico y a descuento. El juicio está en la tasa y los supuestos.</a:t>
            </a:r>
            <a:endParaRPr lang="en-US" sz="1200" dirty="0"/>
          </a:p>
        </p:txBody>
      </p:sp>
      <p:sp>
        <p:nvSpPr>
          <p:cNvPr id="21" name="Text 14"/>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2" name="Text 15"/>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F2A516"/>
          </a:solidFill>
          <a:ln/>
        </p:spPr>
      </p:sp>
      <p:pic>
        <p:nvPicPr>
          <p:cNvPr id="3" name="Image 0" descr="icons/filter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F2A516"/>
                </a:solidFill>
                <a:latin typeface="Calibri" pitchFamily="34" charset="0"/>
                <a:ea typeface="Calibri" pitchFamily="34" charset="-122"/>
                <a:cs typeface="Calibri" pitchFamily="34" charset="-120"/>
              </a:rPr>
              <a:t>UN BUEN ANALISTA NO TOMA LOS FLUJOS COMO DOGMA</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600" b="1" dirty="0">
                <a:solidFill>
                  <a:srgbClr val="0B2B33"/>
                </a:solidFill>
                <a:latin typeface="Georgia" pitchFamily="34" charset="0"/>
                <a:ea typeface="Georgia" pitchFamily="34" charset="-122"/>
                <a:cs typeface="Georgia" pitchFamily="34" charset="-120"/>
              </a:rPr>
              <a:t>¿Es razonable el crecimiento implícito?</a:t>
            </a:r>
            <a:endParaRPr lang="en-US" sz="2600" dirty="0"/>
          </a:p>
        </p:txBody>
      </p:sp>
      <p:sp>
        <p:nvSpPr>
          <p:cNvPr id="6" name="Shape 3"/>
          <p:cNvSpPr/>
          <p:nvPr/>
        </p:nvSpPr>
        <p:spPr>
          <a:xfrm>
            <a:off x="640080" y="2057400"/>
            <a:ext cx="5272888" cy="1554480"/>
          </a:xfrm>
          <a:prstGeom prst="roundRect">
            <a:avLst>
              <a:gd name="adj" fmla="val 5882"/>
            </a:avLst>
          </a:prstGeom>
          <a:solidFill>
            <a:srgbClr val="FFFFFF"/>
          </a:solidFill>
          <a:ln/>
          <a:effectLst>
            <a:outerShdw sx="100000" sy="100000" kx="0" ky="0" algn="bl" rotWithShape="0" blurRad="114300" dist="38100" dir="8100000">
              <a:srgbClr val="0B2B33">
                <a:alpha val="14000"/>
              </a:srgbClr>
            </a:outerShdw>
          </a:effectLst>
        </p:spPr>
      </p:sp>
      <p:sp>
        <p:nvSpPr>
          <p:cNvPr id="7" name="Text 4"/>
          <p:cNvSpPr/>
          <p:nvPr/>
        </p:nvSpPr>
        <p:spPr>
          <a:xfrm>
            <a:off x="914400" y="2240280"/>
            <a:ext cx="4724248" cy="658368"/>
          </a:xfrm>
          <a:prstGeom prst="rect">
            <a:avLst/>
          </a:prstGeom>
          <a:noFill/>
          <a:ln/>
        </p:spPr>
        <p:txBody>
          <a:bodyPr wrap="square" lIns="0" tIns="0" rIns="0" bIns="0" rtlCol="0" anchor="b"/>
          <a:lstStyle/>
          <a:p>
            <a:pPr algn="l" indent="0" marL="0">
              <a:buNone/>
            </a:pPr>
            <a:r>
              <a:rPr lang="en-US" sz="3600" b="1" dirty="0">
                <a:solidFill>
                  <a:srgbClr val="12A594"/>
                </a:solidFill>
                <a:latin typeface="Georgia" pitchFamily="34" charset="0"/>
                <a:ea typeface="Georgia" pitchFamily="34" charset="-122"/>
                <a:cs typeface="Georgia" pitchFamily="34" charset="-120"/>
              </a:rPr>
              <a:t>+9,26%</a:t>
            </a:r>
            <a:endParaRPr lang="en-US" sz="3600" dirty="0"/>
          </a:p>
        </p:txBody>
      </p:sp>
      <p:sp>
        <p:nvSpPr>
          <p:cNvPr id="8" name="Text 5"/>
          <p:cNvSpPr/>
          <p:nvPr/>
        </p:nvSpPr>
        <p:spPr>
          <a:xfrm>
            <a:off x="914400" y="2898648"/>
            <a:ext cx="4724248" cy="640080"/>
          </a:xfrm>
          <a:prstGeom prst="rect">
            <a:avLst/>
          </a:prstGeom>
          <a:noFill/>
          <a:ln/>
        </p:spPr>
        <p:txBody>
          <a:bodyPr wrap="square" lIns="0" tIns="0" rIns="0" bIns="0" rtlCol="0" anchor="t"/>
          <a:lstStyle/>
          <a:p>
            <a:pPr algn="l" indent="0" marL="0">
              <a:lnSpc>
                <a:spcPct val="98000"/>
              </a:lnSpc>
              <a:buNone/>
            </a:pPr>
            <a:r>
              <a:rPr lang="en-US" sz="1150" dirty="0">
                <a:solidFill>
                  <a:srgbClr val="5C6F74"/>
                </a:solidFill>
                <a:latin typeface="Calibri" pitchFamily="34" charset="0"/>
                <a:ea typeface="Calibri" pitchFamily="34" charset="-122"/>
                <a:cs typeface="Calibri" pitchFamily="34" charset="-120"/>
              </a:rPr>
              <a:t>CAGR implícito en los flujos de la cátedra (2025→2030)</a:t>
            </a:r>
            <a:endParaRPr lang="en-US" sz="1150" dirty="0"/>
          </a:p>
        </p:txBody>
      </p:sp>
      <p:sp>
        <p:nvSpPr>
          <p:cNvPr id="9" name="Shape 6"/>
          <p:cNvSpPr/>
          <p:nvPr/>
        </p:nvSpPr>
        <p:spPr>
          <a:xfrm>
            <a:off x="6278728" y="2057400"/>
            <a:ext cx="5272888" cy="1554480"/>
          </a:xfrm>
          <a:prstGeom prst="roundRect">
            <a:avLst>
              <a:gd name="adj" fmla="val 5882"/>
            </a:avLst>
          </a:prstGeom>
          <a:solidFill>
            <a:srgbClr val="FFFFFF"/>
          </a:solidFill>
          <a:ln/>
          <a:effectLst>
            <a:outerShdw sx="100000" sy="100000" kx="0" ky="0" algn="bl" rotWithShape="0" blurRad="114300" dist="38100" dir="8100000">
              <a:srgbClr val="0B2B33">
                <a:alpha val="14000"/>
              </a:srgbClr>
            </a:outerShdw>
          </a:effectLst>
        </p:spPr>
      </p:sp>
      <p:sp>
        <p:nvSpPr>
          <p:cNvPr id="10" name="Text 7"/>
          <p:cNvSpPr/>
          <p:nvPr/>
        </p:nvSpPr>
        <p:spPr>
          <a:xfrm>
            <a:off x="6553048" y="2240280"/>
            <a:ext cx="4724248" cy="658368"/>
          </a:xfrm>
          <a:prstGeom prst="rect">
            <a:avLst/>
          </a:prstGeom>
          <a:noFill/>
          <a:ln/>
        </p:spPr>
        <p:txBody>
          <a:bodyPr wrap="square" lIns="0" tIns="0" rIns="0" bIns="0" rtlCol="0" anchor="b"/>
          <a:lstStyle/>
          <a:p>
            <a:pPr algn="l" indent="0" marL="0">
              <a:buNone/>
            </a:pPr>
            <a:r>
              <a:rPr lang="en-US" sz="3600" b="1" dirty="0">
                <a:solidFill>
                  <a:srgbClr val="E5544E"/>
                </a:solidFill>
                <a:latin typeface="Georgia" pitchFamily="34" charset="0"/>
                <a:ea typeface="Georgia" pitchFamily="34" charset="-122"/>
                <a:cs typeface="Georgia" pitchFamily="34" charset="-120"/>
              </a:rPr>
              <a:t>−3,95%</a:t>
            </a:r>
            <a:endParaRPr lang="en-US" sz="3600" dirty="0"/>
          </a:p>
        </p:txBody>
      </p:sp>
      <p:sp>
        <p:nvSpPr>
          <p:cNvPr id="11" name="Text 8"/>
          <p:cNvSpPr/>
          <p:nvPr/>
        </p:nvSpPr>
        <p:spPr>
          <a:xfrm>
            <a:off x="6553048" y="2898648"/>
            <a:ext cx="4724248" cy="640080"/>
          </a:xfrm>
          <a:prstGeom prst="rect">
            <a:avLst/>
          </a:prstGeom>
          <a:noFill/>
          <a:ln/>
        </p:spPr>
        <p:txBody>
          <a:bodyPr wrap="square" lIns="0" tIns="0" rIns="0" bIns="0" rtlCol="0" anchor="t"/>
          <a:lstStyle/>
          <a:p>
            <a:pPr algn="l" indent="0" marL="0">
              <a:lnSpc>
                <a:spcPct val="98000"/>
              </a:lnSpc>
              <a:buNone/>
            </a:pPr>
            <a:r>
              <a:rPr lang="en-US" sz="1150" dirty="0">
                <a:solidFill>
                  <a:srgbClr val="5C6F74"/>
                </a:solidFill>
                <a:latin typeface="Calibri" pitchFamily="34" charset="0"/>
                <a:ea typeface="Calibri" pitchFamily="34" charset="-122"/>
                <a:cs typeface="Calibri" pitchFamily="34" charset="-120"/>
              </a:rPr>
              <a:t>CAGR histórico real del FCF de Apple (últimos 4 años)</a:t>
            </a:r>
            <a:endParaRPr lang="en-US" sz="1150" dirty="0"/>
          </a:p>
        </p:txBody>
      </p:sp>
      <p:sp>
        <p:nvSpPr>
          <p:cNvPr id="12" name="Shape 9"/>
          <p:cNvSpPr/>
          <p:nvPr/>
        </p:nvSpPr>
        <p:spPr>
          <a:xfrm>
            <a:off x="640080" y="3840480"/>
            <a:ext cx="10911535" cy="1691640"/>
          </a:xfrm>
          <a:prstGeom prst="roundRect">
            <a:avLst>
              <a:gd name="adj" fmla="val 5405"/>
            </a:avLst>
          </a:prstGeom>
          <a:solidFill>
            <a:srgbClr val="EAF4F2"/>
          </a:solidFill>
          <a:ln/>
          <a:effectLst>
            <a:outerShdw sx="100000" sy="100000" kx="0" ky="0" algn="bl" rotWithShape="0" blurRad="114300" dist="38100" dir="8100000">
              <a:srgbClr val="0B2B33">
                <a:alpha val="14000"/>
              </a:srgbClr>
            </a:outerShdw>
          </a:effectLst>
        </p:spPr>
      </p:sp>
      <p:pic>
        <p:nvPicPr>
          <p:cNvPr id="13" name="Image 1" descr="icons/warning_amber.png">    </p:cNvPr>
          <p:cNvPicPr>
            <a:picLocks noChangeAspect="1"/>
          </p:cNvPicPr>
          <p:nvPr/>
        </p:nvPicPr>
        <p:blipFill>
          <a:blip r:embed="rId2"/>
          <a:stretch>
            <a:fillRect/>
          </a:stretch>
        </p:blipFill>
        <p:spPr>
          <a:xfrm>
            <a:off x="960120" y="4114800"/>
            <a:ext cx="411480" cy="411480"/>
          </a:xfrm>
          <a:prstGeom prst="rect">
            <a:avLst/>
          </a:prstGeom>
        </p:spPr>
      </p:pic>
      <p:sp>
        <p:nvSpPr>
          <p:cNvPr id="14" name="Text 10"/>
          <p:cNvSpPr/>
          <p:nvPr/>
        </p:nvSpPr>
        <p:spPr>
          <a:xfrm>
            <a:off x="1554480" y="4069080"/>
            <a:ext cx="9722815" cy="457200"/>
          </a:xfrm>
          <a:prstGeom prst="rect">
            <a:avLst/>
          </a:prstGeom>
          <a:noFill/>
          <a:ln/>
        </p:spPr>
        <p:txBody>
          <a:bodyPr wrap="square" lIns="0" tIns="0" rIns="0" bIns="0" rtlCol="0" anchor="ctr"/>
          <a:lstStyle/>
          <a:p>
            <a:pPr indent="0" marL="0">
              <a:buNone/>
            </a:pPr>
            <a:r>
              <a:rPr lang="en-US" sz="1450" b="1" dirty="0">
                <a:solidFill>
                  <a:srgbClr val="0B2B33"/>
                </a:solidFill>
                <a:latin typeface="Calibri" pitchFamily="34" charset="0"/>
                <a:ea typeface="Calibri" pitchFamily="34" charset="-122"/>
                <a:cs typeface="Calibri" pitchFamily="34" charset="-120"/>
              </a:rPr>
              <a:t>La cátedra proyecta acelerar +13,2 p.p./año vs. el histórico reciente</a:t>
            </a:r>
            <a:endParaRPr lang="en-US" sz="1450" dirty="0"/>
          </a:p>
        </p:txBody>
      </p:sp>
      <p:sp>
        <p:nvSpPr>
          <p:cNvPr id="15" name="Text 11"/>
          <p:cNvSpPr/>
          <p:nvPr/>
        </p:nvSpPr>
        <p:spPr>
          <a:xfrm>
            <a:off x="1554480" y="4526280"/>
            <a:ext cx="9677095" cy="914400"/>
          </a:xfrm>
          <a:prstGeom prst="rect">
            <a:avLst/>
          </a:prstGeom>
          <a:noFill/>
          <a:ln/>
        </p:spPr>
        <p:txBody>
          <a:bodyPr wrap="square" lIns="0" tIns="0" rIns="0" bIns="0" rtlCol="0" anchor="ctr"/>
          <a:lstStyle/>
          <a:p>
            <a:pPr indent="0" marL="0">
              <a:lnSpc>
                <a:spcPct val="105000"/>
              </a:lnSpc>
              <a:buNone/>
            </a:pPr>
            <a:r>
              <a:rPr lang="en-US" sz="1200" dirty="0">
                <a:solidFill>
                  <a:srgbClr val="5C6F74"/>
                </a:solidFill>
                <a:latin typeface="Calibri" pitchFamily="34" charset="0"/>
                <a:ea typeface="Calibri" pitchFamily="34" charset="-122"/>
                <a:cs typeface="Calibri" pitchFamily="34" charset="-120"/>
              </a:rPr>
              <a:t>Lectura: las proyecciones asumen un repunte del FCF (más Servicios de alto margen + ciclo de Apple Intelligence). Es un supuesto optimista pero no absurdo para Apple. Si no se materializa, tanto el FCF como el precio objetivo se ajustan a la baja — algo que después capturamos en escenarios y Monte Carlo.</a:t>
            </a:r>
            <a:endParaRPr lang="en-US" sz="1200" dirty="0"/>
          </a:p>
        </p:txBody>
      </p:sp>
      <p:sp>
        <p:nvSpPr>
          <p:cNvPr id="16" name="Text 12"/>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7" name="Text 13"/>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water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PERÍODO EXPLÍCITO 2026-2030</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El valor presente de los cinco años</a:t>
            </a:r>
            <a:endParaRPr lang="en-US" sz="3000" dirty="0"/>
          </a:p>
        </p:txBody>
      </p:sp>
      <p:sp>
        <p:nvSpPr>
          <p:cNvPr id="6" name="Shape 3"/>
          <p:cNvSpPr/>
          <p:nvPr/>
        </p:nvSpPr>
        <p:spPr>
          <a:xfrm>
            <a:off x="640080" y="1874520"/>
            <a:ext cx="694944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44_0.png">    </p:cNvPr>
          <p:cNvPicPr>
            <a:picLocks noChangeAspect="1"/>
          </p:cNvPicPr>
          <p:nvPr/>
        </p:nvPicPr>
        <p:blipFill>
          <a:blip r:embed="rId2"/>
          <a:stretch>
            <a:fillRect/>
          </a:stretch>
        </p:blipFill>
        <p:spPr>
          <a:xfrm>
            <a:off x="868680" y="2230834"/>
            <a:ext cx="6492240" cy="3219293"/>
          </a:xfrm>
          <a:prstGeom prst="rect">
            <a:avLst/>
          </a:prstGeom>
        </p:spPr>
      </p:pic>
      <p:sp>
        <p:nvSpPr>
          <p:cNvPr id="8" name="Shape 4"/>
          <p:cNvSpPr/>
          <p:nvPr/>
        </p:nvSpPr>
        <p:spPr>
          <a:xfrm>
            <a:off x="7955280" y="1874520"/>
            <a:ext cx="3596335" cy="1371600"/>
          </a:xfrm>
          <a:prstGeom prst="roundRect">
            <a:avLst>
              <a:gd name="adj" fmla="val 6667"/>
            </a:avLst>
          </a:prstGeom>
          <a:solidFill>
            <a:srgbClr val="0B2B33"/>
          </a:solidFill>
          <a:ln/>
          <a:effectLst>
            <a:outerShdw sx="100000" sy="100000" kx="0" ky="0" algn="bl" rotWithShape="0" blurRad="114300" dist="38100" dir="8100000">
              <a:srgbClr val="0B2B33">
                <a:alpha val="14000"/>
              </a:srgbClr>
            </a:outerShdw>
          </a:effectLst>
        </p:spPr>
      </p:sp>
      <p:sp>
        <p:nvSpPr>
          <p:cNvPr id="9" name="Text 5"/>
          <p:cNvSpPr/>
          <p:nvPr/>
        </p:nvSpPr>
        <p:spPr>
          <a:xfrm>
            <a:off x="8229600" y="2057400"/>
            <a:ext cx="3047695" cy="548640"/>
          </a:xfrm>
          <a:prstGeom prst="rect">
            <a:avLst/>
          </a:prstGeom>
          <a:noFill/>
          <a:ln/>
        </p:spPr>
        <p:txBody>
          <a:bodyPr wrap="square" lIns="0" tIns="0" rIns="0" bIns="0" rtlCol="0" anchor="b"/>
          <a:lstStyle/>
          <a:p>
            <a:pPr algn="l" indent="0" marL="0">
              <a:buNone/>
            </a:pPr>
            <a:r>
              <a:rPr lang="en-US" sz="2600" b="1" dirty="0">
                <a:solidFill>
                  <a:srgbClr val="12A594"/>
                </a:solidFill>
                <a:latin typeface="Georgia" pitchFamily="34" charset="0"/>
                <a:ea typeface="Georgia" pitchFamily="34" charset="-122"/>
                <a:cs typeface="Georgia" pitchFamily="34" charset="-120"/>
              </a:rPr>
              <a:t>USD 701,5 B</a:t>
            </a:r>
            <a:endParaRPr lang="en-US" sz="2600" dirty="0"/>
          </a:p>
        </p:txBody>
      </p:sp>
      <p:sp>
        <p:nvSpPr>
          <p:cNvPr id="10" name="Text 6"/>
          <p:cNvSpPr/>
          <p:nvPr/>
        </p:nvSpPr>
        <p:spPr>
          <a:xfrm>
            <a:off x="8229600" y="2606040"/>
            <a:ext cx="3047695" cy="457200"/>
          </a:xfrm>
          <a:prstGeom prst="rect">
            <a:avLst/>
          </a:prstGeom>
          <a:noFill/>
          <a:ln/>
        </p:spPr>
        <p:txBody>
          <a:bodyPr wrap="square" lIns="0" tIns="0" rIns="0" bIns="0" rtlCol="0" anchor="t"/>
          <a:lstStyle/>
          <a:p>
            <a:pPr algn="l" indent="0" marL="0">
              <a:lnSpc>
                <a:spcPct val="98000"/>
              </a:lnSpc>
              <a:buNone/>
            </a:pPr>
            <a:r>
              <a:rPr lang="en-US" sz="1100" dirty="0">
                <a:solidFill>
                  <a:srgbClr val="9FC3C0"/>
                </a:solidFill>
                <a:latin typeface="Calibri" pitchFamily="34" charset="0"/>
                <a:ea typeface="Calibri" pitchFamily="34" charset="-122"/>
                <a:cs typeface="Calibri" pitchFamily="34" charset="-120"/>
              </a:rPr>
              <a:t>Valor presente del período explícito</a:t>
            </a:r>
            <a:endParaRPr lang="en-US" sz="1100" dirty="0"/>
          </a:p>
        </p:txBody>
      </p:sp>
      <p:sp>
        <p:nvSpPr>
          <p:cNvPr id="11" name="Shape 7"/>
          <p:cNvSpPr/>
          <p:nvPr/>
        </p:nvSpPr>
        <p:spPr>
          <a:xfrm>
            <a:off x="7955280" y="3383280"/>
            <a:ext cx="3596335" cy="2423160"/>
          </a:xfrm>
          <a:prstGeom prst="roundRect">
            <a:avLst>
              <a:gd name="adj" fmla="val 3774"/>
            </a:avLst>
          </a:prstGeom>
          <a:solidFill>
            <a:srgbClr val="FFFFFF"/>
          </a:solidFill>
          <a:ln/>
          <a:effectLst>
            <a:outerShdw sx="100000" sy="100000" kx="0" ky="0" algn="bl" rotWithShape="0" blurRad="114300" dist="38100" dir="8100000">
              <a:srgbClr val="0B2B33">
                <a:alpha val="14000"/>
              </a:srgbClr>
            </a:outerShdw>
          </a:effectLst>
        </p:spPr>
      </p:sp>
      <p:sp>
        <p:nvSpPr>
          <p:cNvPr id="12" name="Shape 8"/>
          <p:cNvSpPr/>
          <p:nvPr/>
        </p:nvSpPr>
        <p:spPr>
          <a:xfrm>
            <a:off x="8211312" y="3621024"/>
            <a:ext cx="420624" cy="420624"/>
          </a:xfrm>
          <a:prstGeom prst="ellipse">
            <a:avLst/>
          </a:prstGeom>
          <a:solidFill>
            <a:srgbClr val="F2A516"/>
          </a:solidFill>
          <a:ln/>
        </p:spPr>
      </p:sp>
      <p:pic>
        <p:nvPicPr>
          <p:cNvPr id="13" name="Image 2" descr="icons/search_white.png">    </p:cNvPr>
          <p:cNvPicPr>
            <a:picLocks noChangeAspect="1"/>
          </p:cNvPicPr>
          <p:nvPr/>
        </p:nvPicPr>
        <p:blipFill>
          <a:blip r:embed="rId3"/>
          <a:stretch>
            <a:fillRect/>
          </a:stretch>
        </p:blipFill>
        <p:spPr>
          <a:xfrm>
            <a:off x="8311896" y="3721608"/>
            <a:ext cx="219456" cy="219456"/>
          </a:xfrm>
          <a:prstGeom prst="rect">
            <a:avLst/>
          </a:prstGeom>
        </p:spPr>
      </p:pic>
      <p:sp>
        <p:nvSpPr>
          <p:cNvPr id="14" name="Text 9"/>
          <p:cNvSpPr/>
          <p:nvPr/>
        </p:nvSpPr>
        <p:spPr>
          <a:xfrm>
            <a:off x="8814816" y="3602736"/>
            <a:ext cx="251734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Solo el 23% del valor</a:t>
            </a:r>
            <a:endParaRPr lang="en-US" sz="1350" dirty="0"/>
          </a:p>
        </p:txBody>
      </p:sp>
      <p:sp>
        <p:nvSpPr>
          <p:cNvPr id="15" name="Text 10"/>
          <p:cNvSpPr/>
          <p:nvPr/>
        </p:nvSpPr>
        <p:spPr>
          <a:xfrm>
            <a:off x="8211312" y="4041648"/>
            <a:ext cx="3120847" cy="158191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Descontar cada FCF al 9,24% reconoce el valor del dinero en el tiempo: un dólar dentro de 5 años vale menos hoy. Pero estos cinco años explican apenas ~un cuarto del Enterprise Value. El resto viene del valor terminal.</a:t>
            </a:r>
            <a:endParaRPr lang="en-US" sz="1200" dirty="0"/>
          </a:p>
        </p:txBody>
      </p:sp>
      <p:sp>
        <p:nvSpPr>
          <p:cNvPr id="16" name="Text 11"/>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7" name="Text 12"/>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F2A516"/>
          </a:solidFill>
          <a:ln/>
        </p:spPr>
      </p:sp>
      <p:pic>
        <p:nvPicPr>
          <p:cNvPr id="3" name="Image 0" descr="icons/infinity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F2A516"/>
                </a:solidFill>
                <a:latin typeface="Calibri" pitchFamily="34" charset="0"/>
                <a:ea typeface="Calibri" pitchFamily="34" charset="-122"/>
                <a:cs typeface="Calibri" pitchFamily="34" charset="-120"/>
              </a:rPr>
              <a:t>VALOR TERMINAL · GORDON-SHAPIRO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600" b="1" dirty="0">
                <a:solidFill>
                  <a:srgbClr val="0B2B33"/>
                </a:solidFill>
                <a:latin typeface="Georgia" pitchFamily="34" charset="0"/>
                <a:ea typeface="Georgia" pitchFamily="34" charset="-122"/>
                <a:cs typeface="Georgia" pitchFamily="34" charset="-120"/>
              </a:rPr>
              <a:t>g = 3,0% — nuestra decisión más sensible</a:t>
            </a:r>
            <a:endParaRPr lang="en-US" sz="2600" dirty="0"/>
          </a:p>
        </p:txBody>
      </p:sp>
      <p:sp>
        <p:nvSpPr>
          <p:cNvPr id="6" name="Shape 3"/>
          <p:cNvSpPr/>
          <p:nvPr/>
        </p:nvSpPr>
        <p:spPr>
          <a:xfrm>
            <a:off x="640080" y="1965960"/>
            <a:ext cx="6035040" cy="3840480"/>
          </a:xfrm>
          <a:prstGeom prst="roundRect">
            <a:avLst>
              <a:gd name="adj" fmla="val 2857"/>
            </a:avLst>
          </a:prstGeom>
          <a:solidFill>
            <a:srgbClr val="FFFFFF"/>
          </a:solidFill>
          <a:ln/>
          <a:effectLst>
            <a:outerShdw sx="100000" sy="100000" kx="0" ky="0" algn="bl" rotWithShape="0" blurRad="114300" dist="38100" dir="8100000">
              <a:srgbClr val="0B2B33">
                <a:alpha val="14000"/>
              </a:srgbClr>
            </a:outerShdw>
          </a:effectLst>
        </p:spPr>
      </p:sp>
      <p:sp>
        <p:nvSpPr>
          <p:cNvPr id="7" name="Shape 4"/>
          <p:cNvSpPr/>
          <p:nvPr/>
        </p:nvSpPr>
        <p:spPr>
          <a:xfrm>
            <a:off x="914400" y="2212848"/>
            <a:ext cx="502920" cy="502920"/>
          </a:xfrm>
          <a:prstGeom prst="ellipse">
            <a:avLst/>
          </a:prstGeom>
          <a:solidFill>
            <a:srgbClr val="F2A516"/>
          </a:solidFill>
          <a:ln/>
        </p:spPr>
      </p:sp>
      <p:pic>
        <p:nvPicPr>
          <p:cNvPr id="8" name="Image 1" descr="icons/useredit_ink.png">    </p:cNvPr>
          <p:cNvPicPr>
            <a:picLocks noChangeAspect="1"/>
          </p:cNvPicPr>
          <p:nvPr/>
        </p:nvPicPr>
        <p:blipFill>
          <a:blip r:embed="rId2"/>
          <a:stretch>
            <a:fillRect/>
          </a:stretch>
        </p:blipFill>
        <p:spPr>
          <a:xfrm>
            <a:off x="1051560" y="2350008"/>
            <a:ext cx="228600" cy="228600"/>
          </a:xfrm>
          <a:prstGeom prst="rect">
            <a:avLst/>
          </a:prstGeom>
        </p:spPr>
      </p:pic>
      <p:sp>
        <p:nvSpPr>
          <p:cNvPr id="9" name="Text 5"/>
          <p:cNvSpPr/>
          <p:nvPr/>
        </p:nvSpPr>
        <p:spPr>
          <a:xfrm>
            <a:off x="1554480" y="2194560"/>
            <a:ext cx="4937760" cy="502920"/>
          </a:xfrm>
          <a:prstGeom prst="rect">
            <a:avLst/>
          </a:prstGeom>
          <a:noFill/>
          <a:ln/>
        </p:spPr>
        <p:txBody>
          <a:bodyPr wrap="square" lIns="0" tIns="0" rIns="0" bIns="0" rtlCol="0" anchor="ctr"/>
          <a:lstStyle/>
          <a:p>
            <a:pPr indent="0" marL="0">
              <a:buNone/>
            </a:pPr>
            <a:r>
              <a:rPr lang="en-US" sz="1500" b="1" dirty="0">
                <a:solidFill>
                  <a:srgbClr val="0B2B33"/>
                </a:solidFill>
                <a:latin typeface="Calibri" pitchFamily="34" charset="0"/>
                <a:ea typeface="Calibri" pitchFamily="34" charset="-122"/>
                <a:cs typeface="Calibri" pitchFamily="34" charset="-120"/>
              </a:rPr>
              <a:t>Por qué 3,0% y no más</a:t>
            </a:r>
            <a:endParaRPr lang="en-US" sz="1500" dirty="0"/>
          </a:p>
        </p:txBody>
      </p:sp>
      <p:sp>
        <p:nvSpPr>
          <p:cNvPr id="10" name="Text 6"/>
          <p:cNvSpPr/>
          <p:nvPr/>
        </p:nvSpPr>
        <p:spPr>
          <a:xfrm>
            <a:off x="960120" y="2880360"/>
            <a:ext cx="4206240" cy="384048"/>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Inflación objetivo Fed</a:t>
            </a:r>
            <a:endParaRPr lang="en-US" sz="1250" dirty="0"/>
          </a:p>
        </p:txBody>
      </p:sp>
      <p:sp>
        <p:nvSpPr>
          <p:cNvPr id="11" name="Text 7"/>
          <p:cNvSpPr/>
          <p:nvPr/>
        </p:nvSpPr>
        <p:spPr>
          <a:xfrm>
            <a:off x="5120640" y="2880360"/>
            <a:ext cx="1234440" cy="384048"/>
          </a:xfrm>
          <a:prstGeom prst="rect">
            <a:avLst/>
          </a:prstGeom>
          <a:noFill/>
          <a:ln/>
        </p:spPr>
        <p:txBody>
          <a:bodyPr wrap="square" lIns="0" tIns="0" rIns="0" bIns="0" rtlCol="0" anchor="ctr"/>
          <a:lstStyle/>
          <a:p>
            <a:pPr algn="r" indent="0" marL="0">
              <a:buNone/>
            </a:pPr>
            <a:r>
              <a:rPr lang="en-US" sz="1400" b="1" dirty="0">
                <a:solidFill>
                  <a:srgbClr val="12A594"/>
                </a:solidFill>
                <a:latin typeface="Georgia" pitchFamily="34" charset="0"/>
                <a:ea typeface="Georgia" pitchFamily="34" charset="-122"/>
                <a:cs typeface="Georgia" pitchFamily="34" charset="-120"/>
              </a:rPr>
              <a:t>2,0%</a:t>
            </a:r>
            <a:endParaRPr lang="en-US" sz="1400" dirty="0"/>
          </a:p>
        </p:txBody>
      </p:sp>
      <p:sp>
        <p:nvSpPr>
          <p:cNvPr id="12" name="Shape 8"/>
          <p:cNvSpPr/>
          <p:nvPr/>
        </p:nvSpPr>
        <p:spPr>
          <a:xfrm>
            <a:off x="960120" y="3264408"/>
            <a:ext cx="5394960" cy="0"/>
          </a:xfrm>
          <a:prstGeom prst="line">
            <a:avLst/>
          </a:prstGeom>
          <a:noFill/>
          <a:ln w="12700">
            <a:solidFill>
              <a:srgbClr val="DCE6E6"/>
            </a:solidFill>
            <a:prstDash val="solid"/>
          </a:ln>
        </p:spPr>
      </p:sp>
      <p:sp>
        <p:nvSpPr>
          <p:cNvPr id="13" name="Text 9"/>
          <p:cNvSpPr/>
          <p:nvPr/>
        </p:nvSpPr>
        <p:spPr>
          <a:xfrm>
            <a:off x="960120" y="3319272"/>
            <a:ext cx="4206240" cy="384048"/>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Crec. real US (largo plazo)</a:t>
            </a:r>
            <a:endParaRPr lang="en-US" sz="1250" dirty="0"/>
          </a:p>
        </p:txBody>
      </p:sp>
      <p:sp>
        <p:nvSpPr>
          <p:cNvPr id="14" name="Text 10"/>
          <p:cNvSpPr/>
          <p:nvPr/>
        </p:nvSpPr>
        <p:spPr>
          <a:xfrm>
            <a:off x="5120640" y="3319272"/>
            <a:ext cx="1234440" cy="384048"/>
          </a:xfrm>
          <a:prstGeom prst="rect">
            <a:avLst/>
          </a:prstGeom>
          <a:noFill/>
          <a:ln/>
        </p:spPr>
        <p:txBody>
          <a:bodyPr wrap="square" lIns="0" tIns="0" rIns="0" bIns="0" rtlCol="0" anchor="ctr"/>
          <a:lstStyle/>
          <a:p>
            <a:pPr algn="r" indent="0" marL="0">
              <a:buNone/>
            </a:pPr>
            <a:r>
              <a:rPr lang="en-US" sz="1400" b="1" dirty="0">
                <a:solidFill>
                  <a:srgbClr val="12A594"/>
                </a:solidFill>
                <a:latin typeface="Georgia" pitchFamily="34" charset="0"/>
                <a:ea typeface="Georgia" pitchFamily="34" charset="-122"/>
                <a:cs typeface="Georgia" pitchFamily="34" charset="-120"/>
              </a:rPr>
              <a:t>~2,0%</a:t>
            </a:r>
            <a:endParaRPr lang="en-US" sz="1400" dirty="0"/>
          </a:p>
        </p:txBody>
      </p:sp>
      <p:sp>
        <p:nvSpPr>
          <p:cNvPr id="15" name="Shape 11"/>
          <p:cNvSpPr/>
          <p:nvPr/>
        </p:nvSpPr>
        <p:spPr>
          <a:xfrm>
            <a:off x="960120" y="3703320"/>
            <a:ext cx="5394960" cy="0"/>
          </a:xfrm>
          <a:prstGeom prst="line">
            <a:avLst/>
          </a:prstGeom>
          <a:noFill/>
          <a:ln w="12700">
            <a:solidFill>
              <a:srgbClr val="DCE6E6"/>
            </a:solidFill>
            <a:prstDash val="solid"/>
          </a:ln>
        </p:spPr>
      </p:sp>
      <p:sp>
        <p:nvSpPr>
          <p:cNvPr id="16" name="Text 12"/>
          <p:cNvSpPr/>
          <p:nvPr/>
        </p:nvSpPr>
        <p:spPr>
          <a:xfrm>
            <a:off x="960120" y="3758184"/>
            <a:ext cx="4206240" cy="384048"/>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PIB nominal US</a:t>
            </a:r>
            <a:endParaRPr lang="en-US" sz="1250" dirty="0"/>
          </a:p>
        </p:txBody>
      </p:sp>
      <p:sp>
        <p:nvSpPr>
          <p:cNvPr id="17" name="Text 13"/>
          <p:cNvSpPr/>
          <p:nvPr/>
        </p:nvSpPr>
        <p:spPr>
          <a:xfrm>
            <a:off x="5120640" y="3758184"/>
            <a:ext cx="1234440" cy="384048"/>
          </a:xfrm>
          <a:prstGeom prst="rect">
            <a:avLst/>
          </a:prstGeom>
          <a:noFill/>
          <a:ln/>
        </p:spPr>
        <p:txBody>
          <a:bodyPr wrap="square" lIns="0" tIns="0" rIns="0" bIns="0" rtlCol="0" anchor="ctr"/>
          <a:lstStyle/>
          <a:p>
            <a:pPr algn="r" indent="0" marL="0">
              <a:buNone/>
            </a:pPr>
            <a:r>
              <a:rPr lang="en-US" sz="1400" b="1" dirty="0">
                <a:solidFill>
                  <a:srgbClr val="12A594"/>
                </a:solidFill>
                <a:latin typeface="Georgia" pitchFamily="34" charset="0"/>
                <a:ea typeface="Georgia" pitchFamily="34" charset="-122"/>
                <a:cs typeface="Georgia" pitchFamily="34" charset="-120"/>
              </a:rPr>
              <a:t>~3,5–4,0%</a:t>
            </a:r>
            <a:endParaRPr lang="en-US" sz="1400" dirty="0"/>
          </a:p>
        </p:txBody>
      </p:sp>
      <p:sp>
        <p:nvSpPr>
          <p:cNvPr id="18" name="Shape 14"/>
          <p:cNvSpPr/>
          <p:nvPr/>
        </p:nvSpPr>
        <p:spPr>
          <a:xfrm>
            <a:off x="960120" y="4142232"/>
            <a:ext cx="5394960" cy="0"/>
          </a:xfrm>
          <a:prstGeom prst="line">
            <a:avLst/>
          </a:prstGeom>
          <a:noFill/>
          <a:ln w="12700">
            <a:solidFill>
              <a:srgbClr val="DCE6E6"/>
            </a:solidFill>
            <a:prstDash val="solid"/>
          </a:ln>
        </p:spPr>
      </p:sp>
      <p:sp>
        <p:nvSpPr>
          <p:cNvPr id="19" name="Text 15"/>
          <p:cNvSpPr/>
          <p:nvPr/>
        </p:nvSpPr>
        <p:spPr>
          <a:xfrm>
            <a:off x="960120" y="4197096"/>
            <a:ext cx="4206240" cy="384048"/>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Risk-free (regla g ≤ Rf)</a:t>
            </a:r>
            <a:endParaRPr lang="en-US" sz="1250" dirty="0"/>
          </a:p>
        </p:txBody>
      </p:sp>
      <p:sp>
        <p:nvSpPr>
          <p:cNvPr id="20" name="Text 16"/>
          <p:cNvSpPr/>
          <p:nvPr/>
        </p:nvSpPr>
        <p:spPr>
          <a:xfrm>
            <a:off x="5120640" y="4197096"/>
            <a:ext cx="1234440" cy="384048"/>
          </a:xfrm>
          <a:prstGeom prst="rect">
            <a:avLst/>
          </a:prstGeom>
          <a:noFill/>
          <a:ln/>
        </p:spPr>
        <p:txBody>
          <a:bodyPr wrap="square" lIns="0" tIns="0" rIns="0" bIns="0" rtlCol="0" anchor="ctr"/>
          <a:lstStyle/>
          <a:p>
            <a:pPr algn="r" indent="0" marL="0">
              <a:buNone/>
            </a:pPr>
            <a:r>
              <a:rPr lang="en-US" sz="1400" b="1" dirty="0">
                <a:solidFill>
                  <a:srgbClr val="E5544E"/>
                </a:solidFill>
                <a:latin typeface="Georgia" pitchFamily="34" charset="0"/>
                <a:ea typeface="Georgia" pitchFamily="34" charset="-122"/>
                <a:cs typeface="Georgia" pitchFamily="34" charset="-120"/>
              </a:rPr>
              <a:t>4,32%</a:t>
            </a:r>
            <a:endParaRPr lang="en-US" sz="1400" dirty="0"/>
          </a:p>
        </p:txBody>
      </p:sp>
      <p:sp>
        <p:nvSpPr>
          <p:cNvPr id="21" name="Text 17"/>
          <p:cNvSpPr/>
          <p:nvPr/>
        </p:nvSpPr>
        <p:spPr>
          <a:xfrm>
            <a:off x="960120" y="4709160"/>
            <a:ext cx="5394960" cy="1005840"/>
          </a:xfrm>
          <a:prstGeom prst="rect">
            <a:avLst/>
          </a:prstGeom>
          <a:noFill/>
          <a:ln/>
        </p:spPr>
        <p:txBody>
          <a:bodyPr wrap="square" lIns="0" tIns="0" rIns="0" bIns="0" rtlCol="0" anchor="ctr"/>
          <a:lstStyle/>
          <a:p>
            <a:pPr indent="0" marL="0">
              <a:lnSpc>
                <a:spcPct val="105000"/>
              </a:lnSpc>
              <a:buNone/>
            </a:pPr>
            <a:r>
              <a:rPr lang="en-US" sz="1150" i="1" dirty="0">
                <a:solidFill>
                  <a:srgbClr val="5C6F74"/>
                </a:solidFill>
                <a:latin typeface="Calibri" pitchFamily="34" charset="0"/>
                <a:ea typeface="Calibri" pitchFamily="34" charset="-122"/>
                <a:cs typeface="Calibri" pitchFamily="34" charset="-120"/>
              </a:rPr>
              <a:t>Las dos restricciones: g &lt; WACC (matemática) y g ≤ crecimiento de la economía. 3% reconoce un negocio maduro de alta calidad y respeta que ninguna empresa crece más que el PIB por siempre.</a:t>
            </a:r>
            <a:endParaRPr lang="en-US" sz="1150" dirty="0"/>
          </a:p>
        </p:txBody>
      </p:sp>
      <p:sp>
        <p:nvSpPr>
          <p:cNvPr id="22" name="Shape 18"/>
          <p:cNvSpPr/>
          <p:nvPr/>
        </p:nvSpPr>
        <p:spPr>
          <a:xfrm>
            <a:off x="7040880" y="1965960"/>
            <a:ext cx="4510735" cy="1371600"/>
          </a:xfrm>
          <a:prstGeom prst="roundRect">
            <a:avLst>
              <a:gd name="adj" fmla="val 6667"/>
            </a:avLst>
          </a:prstGeom>
          <a:solidFill>
            <a:srgbClr val="0B2B33"/>
          </a:solidFill>
          <a:ln/>
          <a:effectLst>
            <a:outerShdw sx="100000" sy="100000" kx="0" ky="0" algn="bl" rotWithShape="0" blurRad="114300" dist="38100" dir="8100000">
              <a:srgbClr val="0B2B33">
                <a:alpha val="14000"/>
              </a:srgbClr>
            </a:outerShdw>
          </a:effectLst>
        </p:spPr>
      </p:sp>
      <p:sp>
        <p:nvSpPr>
          <p:cNvPr id="23" name="Text 19"/>
          <p:cNvSpPr/>
          <p:nvPr/>
        </p:nvSpPr>
        <p:spPr>
          <a:xfrm>
            <a:off x="7315200" y="2121408"/>
            <a:ext cx="3962095" cy="566928"/>
          </a:xfrm>
          <a:prstGeom prst="rect">
            <a:avLst/>
          </a:prstGeom>
          <a:noFill/>
          <a:ln/>
        </p:spPr>
        <p:txBody>
          <a:bodyPr wrap="square" lIns="0" tIns="0" rIns="0" bIns="0" rtlCol="0" anchor="b"/>
          <a:lstStyle/>
          <a:p>
            <a:pPr algn="l" indent="0" marL="0">
              <a:buNone/>
            </a:pPr>
            <a:r>
              <a:rPr lang="en-US" sz="2700" b="1" dirty="0">
                <a:solidFill>
                  <a:srgbClr val="F2A516"/>
                </a:solidFill>
                <a:latin typeface="Georgia" pitchFamily="34" charset="0"/>
                <a:ea typeface="Georgia" pitchFamily="34" charset="-122"/>
                <a:cs typeface="Georgia" pitchFamily="34" charset="-120"/>
              </a:rPr>
              <a:t>USD 3,60 B</a:t>
            </a:r>
            <a:endParaRPr lang="en-US" sz="2700" dirty="0"/>
          </a:p>
        </p:txBody>
      </p:sp>
      <p:sp>
        <p:nvSpPr>
          <p:cNvPr id="24" name="Text 20"/>
          <p:cNvSpPr/>
          <p:nvPr/>
        </p:nvSpPr>
        <p:spPr>
          <a:xfrm>
            <a:off x="7315200" y="2688336"/>
            <a:ext cx="3962095" cy="457200"/>
          </a:xfrm>
          <a:prstGeom prst="rect">
            <a:avLst/>
          </a:prstGeom>
          <a:noFill/>
          <a:ln/>
        </p:spPr>
        <p:txBody>
          <a:bodyPr wrap="square" lIns="0" tIns="0" rIns="0" bIns="0" rtlCol="0" anchor="t"/>
          <a:lstStyle/>
          <a:p>
            <a:pPr algn="l" indent="0" marL="0">
              <a:lnSpc>
                <a:spcPct val="98000"/>
              </a:lnSpc>
              <a:buNone/>
            </a:pPr>
            <a:r>
              <a:rPr lang="en-US" sz="1100" dirty="0">
                <a:solidFill>
                  <a:srgbClr val="9FC3C0"/>
                </a:solidFill>
                <a:latin typeface="Calibri" pitchFamily="34" charset="0"/>
                <a:ea typeface="Calibri" pitchFamily="34" charset="-122"/>
                <a:cs typeface="Calibri" pitchFamily="34" charset="-120"/>
              </a:rPr>
              <a:t>Valor terminal al cierre de 2030</a:t>
            </a:r>
            <a:endParaRPr lang="en-US" sz="1100" dirty="0"/>
          </a:p>
        </p:txBody>
      </p:sp>
      <p:sp>
        <p:nvSpPr>
          <p:cNvPr id="25" name="Shape 21"/>
          <p:cNvSpPr/>
          <p:nvPr/>
        </p:nvSpPr>
        <p:spPr>
          <a:xfrm>
            <a:off x="7040880" y="3474720"/>
            <a:ext cx="4510735" cy="1097280"/>
          </a:xfrm>
          <a:prstGeom prst="roundRect">
            <a:avLst>
              <a:gd name="adj" fmla="val 8333"/>
            </a:avLst>
          </a:prstGeom>
          <a:solidFill>
            <a:srgbClr val="FFFFFF"/>
          </a:solidFill>
          <a:ln/>
          <a:effectLst>
            <a:outerShdw sx="100000" sy="100000" kx="0" ky="0" algn="bl" rotWithShape="0" blurRad="114300" dist="38100" dir="8100000">
              <a:srgbClr val="0B2B33">
                <a:alpha val="14000"/>
              </a:srgbClr>
            </a:outerShdw>
          </a:effectLst>
        </p:spPr>
      </p:sp>
      <p:sp>
        <p:nvSpPr>
          <p:cNvPr id="26" name="Shape 22"/>
          <p:cNvSpPr/>
          <p:nvPr/>
        </p:nvSpPr>
        <p:spPr>
          <a:xfrm>
            <a:off x="7296912" y="3712464"/>
            <a:ext cx="420624" cy="420624"/>
          </a:xfrm>
          <a:prstGeom prst="ellipse">
            <a:avLst/>
          </a:prstGeom>
          <a:solidFill>
            <a:srgbClr val="12A594"/>
          </a:solidFill>
          <a:ln/>
        </p:spPr>
      </p:sp>
      <p:pic>
        <p:nvPicPr>
          <p:cNvPr id="27" name="Image 2" descr="icons/check_white.png">    </p:cNvPr>
          <p:cNvPicPr>
            <a:picLocks noChangeAspect="1"/>
          </p:cNvPicPr>
          <p:nvPr/>
        </p:nvPicPr>
        <p:blipFill>
          <a:blip r:embed="rId3"/>
          <a:stretch>
            <a:fillRect/>
          </a:stretch>
        </p:blipFill>
        <p:spPr>
          <a:xfrm>
            <a:off x="7397496" y="3813048"/>
            <a:ext cx="219456" cy="219456"/>
          </a:xfrm>
          <a:prstGeom prst="rect">
            <a:avLst/>
          </a:prstGeom>
        </p:spPr>
      </p:pic>
      <p:sp>
        <p:nvSpPr>
          <p:cNvPr id="28" name="Text 23"/>
          <p:cNvSpPr/>
          <p:nvPr/>
        </p:nvSpPr>
        <p:spPr>
          <a:xfrm>
            <a:off x="7900416" y="3694176"/>
            <a:ext cx="343174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Cross-check múltiplo de salida</a:t>
            </a:r>
            <a:endParaRPr lang="en-US" sz="1350" dirty="0"/>
          </a:p>
        </p:txBody>
      </p:sp>
      <p:sp>
        <p:nvSpPr>
          <p:cNvPr id="29" name="Text 24"/>
          <p:cNvSpPr/>
          <p:nvPr/>
        </p:nvSpPr>
        <p:spPr>
          <a:xfrm>
            <a:off x="7296912" y="4133088"/>
            <a:ext cx="4035247" cy="25603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Implica 16,5x FCFF — razonable para un negocio maduro (Apple cotiza hoy a EV/EBITDA 28,8x).</a:t>
            </a:r>
            <a:endParaRPr lang="en-US" sz="1200" dirty="0"/>
          </a:p>
        </p:txBody>
      </p:sp>
      <p:sp>
        <p:nvSpPr>
          <p:cNvPr id="30" name="Shape 25"/>
          <p:cNvSpPr/>
          <p:nvPr/>
        </p:nvSpPr>
        <p:spPr>
          <a:xfrm>
            <a:off x="7040880" y="4709160"/>
            <a:ext cx="4510735" cy="1097280"/>
          </a:xfrm>
          <a:prstGeom prst="roundRect">
            <a:avLst>
              <a:gd name="adj" fmla="val 8333"/>
            </a:avLst>
          </a:prstGeom>
          <a:solidFill>
            <a:srgbClr val="FFFFFF"/>
          </a:solidFill>
          <a:ln/>
          <a:effectLst>
            <a:outerShdw sx="100000" sy="100000" kx="0" ky="0" algn="bl" rotWithShape="0" blurRad="114300" dist="38100" dir="8100000">
              <a:srgbClr val="0B2B33">
                <a:alpha val="14000"/>
              </a:srgbClr>
            </a:outerShdw>
          </a:effectLst>
        </p:spPr>
      </p:sp>
      <p:sp>
        <p:nvSpPr>
          <p:cNvPr id="31" name="Shape 26"/>
          <p:cNvSpPr/>
          <p:nvPr/>
        </p:nvSpPr>
        <p:spPr>
          <a:xfrm>
            <a:off x="7296912" y="4946904"/>
            <a:ext cx="420624" cy="420624"/>
          </a:xfrm>
          <a:prstGeom prst="ellipse">
            <a:avLst/>
          </a:prstGeom>
          <a:solidFill>
            <a:srgbClr val="5C6F74"/>
          </a:solidFill>
          <a:ln/>
        </p:spPr>
      </p:sp>
      <p:pic>
        <p:nvPicPr>
          <p:cNvPr id="32" name="Image 3" descr="icons/university_white.png">    </p:cNvPr>
          <p:cNvPicPr>
            <a:picLocks noChangeAspect="1"/>
          </p:cNvPicPr>
          <p:nvPr/>
        </p:nvPicPr>
        <p:blipFill>
          <a:blip r:embed="rId4"/>
          <a:stretch>
            <a:fillRect/>
          </a:stretch>
        </p:blipFill>
        <p:spPr>
          <a:xfrm>
            <a:off x="7397496" y="5047488"/>
            <a:ext cx="219456" cy="219456"/>
          </a:xfrm>
          <a:prstGeom prst="rect">
            <a:avLst/>
          </a:prstGeom>
        </p:spPr>
      </p:pic>
      <p:sp>
        <p:nvSpPr>
          <p:cNvPr id="33" name="Text 27"/>
          <p:cNvSpPr/>
          <p:nvPr/>
        </p:nvSpPr>
        <p:spPr>
          <a:xfrm>
            <a:off x="7900416" y="4928616"/>
            <a:ext cx="3431743" cy="365760"/>
          </a:xfrm>
          <a:prstGeom prst="rect">
            <a:avLst/>
          </a:prstGeom>
          <a:noFill/>
          <a:ln/>
        </p:spPr>
        <p:txBody>
          <a:bodyPr wrap="square" lIns="0" tIns="0" rIns="0" bIns="0" rtlCol="0" anchor="t"/>
          <a:lstStyle/>
          <a:p>
            <a:pPr algn="l" indent="0" marL="0">
              <a:buNone/>
            </a:pPr>
            <a:r>
              <a:rPr lang="en-US" sz="1350" b="1" dirty="0">
                <a:solidFill>
                  <a:srgbClr val="5C6F74"/>
                </a:solidFill>
                <a:latin typeface="Calibri" pitchFamily="34" charset="0"/>
                <a:ea typeface="Calibri" pitchFamily="34" charset="-122"/>
                <a:cs typeface="Calibri" pitchFamily="34" charset="-120"/>
              </a:rPr>
              <a:t>vs. valor terminal de la cátedra</a:t>
            </a:r>
            <a:endParaRPr lang="en-US" sz="1350" dirty="0"/>
          </a:p>
        </p:txBody>
      </p:sp>
      <p:sp>
        <p:nvSpPr>
          <p:cNvPr id="34" name="Text 28"/>
          <p:cNvSpPr/>
          <p:nvPr/>
        </p:nvSpPr>
        <p:spPr>
          <a:xfrm>
            <a:off x="7296912" y="5367528"/>
            <a:ext cx="4035247" cy="25603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Nuestro TV queda −6,6% bajo el del Excel; su g implícito sería 3,39%. Consistente.</a:t>
            </a:r>
            <a:endParaRPr lang="en-US" sz="1200" dirty="0"/>
          </a:p>
        </p:txBody>
      </p:sp>
      <p:sp>
        <p:nvSpPr>
          <p:cNvPr id="35" name="Text 29"/>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36" name="Text 30"/>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building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ENTERPRISE VALUE</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El 77% del valor vive en el valor terminal</a:t>
            </a:r>
            <a:endParaRPr lang="en-US" sz="3000" dirty="0"/>
          </a:p>
        </p:txBody>
      </p:sp>
      <p:sp>
        <p:nvSpPr>
          <p:cNvPr id="6" name="Shape 3"/>
          <p:cNvSpPr/>
          <p:nvPr/>
        </p:nvSpPr>
        <p:spPr>
          <a:xfrm>
            <a:off x="640080" y="1874520"/>
            <a:ext cx="713232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50_0.png">    </p:cNvPr>
          <p:cNvPicPr>
            <a:picLocks noChangeAspect="1"/>
          </p:cNvPicPr>
          <p:nvPr/>
        </p:nvPicPr>
        <p:blipFill>
          <a:blip r:embed="rId2"/>
          <a:stretch>
            <a:fillRect/>
          </a:stretch>
        </p:blipFill>
        <p:spPr>
          <a:xfrm>
            <a:off x="841248" y="2439481"/>
            <a:ext cx="6729984" cy="2801998"/>
          </a:xfrm>
          <a:prstGeom prst="rect">
            <a:avLst/>
          </a:prstGeom>
        </p:spPr>
      </p:pic>
      <p:sp>
        <p:nvSpPr>
          <p:cNvPr id="8" name="Shape 4"/>
          <p:cNvSpPr/>
          <p:nvPr/>
        </p:nvSpPr>
        <p:spPr>
          <a:xfrm>
            <a:off x="8138160" y="1874520"/>
            <a:ext cx="3413455" cy="1371600"/>
          </a:xfrm>
          <a:prstGeom prst="roundRect">
            <a:avLst>
              <a:gd name="adj" fmla="val 6667"/>
            </a:avLst>
          </a:prstGeom>
          <a:solidFill>
            <a:srgbClr val="0B2B33"/>
          </a:solidFill>
          <a:ln/>
          <a:effectLst>
            <a:outerShdw sx="100000" sy="100000" kx="0" ky="0" algn="bl" rotWithShape="0" blurRad="114300" dist="38100" dir="8100000">
              <a:srgbClr val="0B2B33">
                <a:alpha val="14000"/>
              </a:srgbClr>
            </a:outerShdw>
          </a:effectLst>
        </p:spPr>
      </p:sp>
      <p:sp>
        <p:nvSpPr>
          <p:cNvPr id="9" name="Text 5"/>
          <p:cNvSpPr/>
          <p:nvPr/>
        </p:nvSpPr>
        <p:spPr>
          <a:xfrm>
            <a:off x="8412480" y="2057400"/>
            <a:ext cx="2864815" cy="566928"/>
          </a:xfrm>
          <a:prstGeom prst="rect">
            <a:avLst/>
          </a:prstGeom>
          <a:noFill/>
          <a:ln/>
        </p:spPr>
        <p:txBody>
          <a:bodyPr wrap="square" lIns="0" tIns="0" rIns="0" bIns="0" rtlCol="0" anchor="b"/>
          <a:lstStyle/>
          <a:p>
            <a:pPr algn="l" indent="0" marL="0">
              <a:buNone/>
            </a:pPr>
            <a:r>
              <a:rPr lang="en-US" sz="2800" b="1" dirty="0">
                <a:solidFill>
                  <a:srgbClr val="12A594"/>
                </a:solidFill>
                <a:latin typeface="Georgia" pitchFamily="34" charset="0"/>
                <a:ea typeface="Georgia" pitchFamily="34" charset="-122"/>
                <a:cs typeface="Georgia" pitchFamily="34" charset="-120"/>
              </a:rPr>
              <a:t>USD 3,02 B</a:t>
            </a:r>
            <a:endParaRPr lang="en-US" sz="2800" dirty="0"/>
          </a:p>
        </p:txBody>
      </p:sp>
      <p:sp>
        <p:nvSpPr>
          <p:cNvPr id="10" name="Text 6"/>
          <p:cNvSpPr/>
          <p:nvPr/>
        </p:nvSpPr>
        <p:spPr>
          <a:xfrm>
            <a:off x="8412480" y="2624328"/>
            <a:ext cx="2864815" cy="365760"/>
          </a:xfrm>
          <a:prstGeom prst="rect">
            <a:avLst/>
          </a:prstGeom>
          <a:noFill/>
          <a:ln/>
        </p:spPr>
        <p:txBody>
          <a:bodyPr wrap="square" lIns="0" tIns="0" rIns="0" bIns="0" rtlCol="0" anchor="t"/>
          <a:lstStyle/>
          <a:p>
            <a:pPr algn="l" indent="0" marL="0">
              <a:lnSpc>
                <a:spcPct val="98000"/>
              </a:lnSpc>
              <a:buNone/>
            </a:pPr>
            <a:r>
              <a:rPr lang="en-US" sz="1100" dirty="0">
                <a:solidFill>
                  <a:srgbClr val="9FC3C0"/>
                </a:solidFill>
                <a:latin typeface="Calibri" pitchFamily="34" charset="0"/>
                <a:ea typeface="Calibri" pitchFamily="34" charset="-122"/>
                <a:cs typeface="Calibri" pitchFamily="34" charset="-120"/>
              </a:rPr>
              <a:t>Enterprise Value</a:t>
            </a:r>
            <a:endParaRPr lang="en-US" sz="1100" dirty="0"/>
          </a:p>
        </p:txBody>
      </p:sp>
      <p:sp>
        <p:nvSpPr>
          <p:cNvPr id="11" name="Shape 7"/>
          <p:cNvSpPr/>
          <p:nvPr/>
        </p:nvSpPr>
        <p:spPr>
          <a:xfrm>
            <a:off x="8138160" y="3383280"/>
            <a:ext cx="3413455" cy="1143000"/>
          </a:xfrm>
          <a:prstGeom prst="roundRect">
            <a:avLst>
              <a:gd name="adj" fmla="val 8000"/>
            </a:avLst>
          </a:prstGeom>
          <a:solidFill>
            <a:srgbClr val="FFFFFF"/>
          </a:solidFill>
          <a:ln/>
          <a:effectLst>
            <a:outerShdw sx="100000" sy="100000" kx="0" ky="0" algn="bl" rotWithShape="0" blurRad="114300" dist="38100" dir="8100000">
              <a:srgbClr val="0B2B33">
                <a:alpha val="14000"/>
              </a:srgbClr>
            </a:outerShdw>
          </a:effectLst>
        </p:spPr>
      </p:sp>
      <p:sp>
        <p:nvSpPr>
          <p:cNvPr id="12" name="Shape 8"/>
          <p:cNvSpPr/>
          <p:nvPr/>
        </p:nvSpPr>
        <p:spPr>
          <a:xfrm>
            <a:off x="8394192" y="3621024"/>
            <a:ext cx="420624" cy="420624"/>
          </a:xfrm>
          <a:prstGeom prst="ellipse">
            <a:avLst/>
          </a:prstGeom>
          <a:solidFill>
            <a:srgbClr val="12A594"/>
          </a:solidFill>
          <a:ln/>
        </p:spPr>
      </p:sp>
      <p:pic>
        <p:nvPicPr>
          <p:cNvPr id="13" name="Image 2" descr="icons/building_white.png">    </p:cNvPr>
          <p:cNvPicPr>
            <a:picLocks noChangeAspect="1"/>
          </p:cNvPicPr>
          <p:nvPr/>
        </p:nvPicPr>
        <p:blipFill>
          <a:blip r:embed="rId3"/>
          <a:stretch>
            <a:fillRect/>
          </a:stretch>
        </p:blipFill>
        <p:spPr>
          <a:xfrm>
            <a:off x="8494776" y="3721608"/>
            <a:ext cx="219456" cy="219456"/>
          </a:xfrm>
          <a:prstGeom prst="rect">
            <a:avLst/>
          </a:prstGeom>
        </p:spPr>
      </p:pic>
      <p:sp>
        <p:nvSpPr>
          <p:cNvPr id="14" name="Text 9"/>
          <p:cNvSpPr/>
          <p:nvPr/>
        </p:nvSpPr>
        <p:spPr>
          <a:xfrm>
            <a:off x="8997696" y="3602736"/>
            <a:ext cx="233446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Composición</a:t>
            </a:r>
            <a:endParaRPr lang="en-US" sz="1350" dirty="0"/>
          </a:p>
        </p:txBody>
      </p:sp>
      <p:sp>
        <p:nvSpPr>
          <p:cNvPr id="15" name="Text 10"/>
          <p:cNvSpPr/>
          <p:nvPr/>
        </p:nvSpPr>
        <p:spPr>
          <a:xfrm>
            <a:off x="8394192" y="4041648"/>
            <a:ext cx="2937967" cy="30175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23,2% período explícito · 76,8% valor terminal. Típico de empresas maduras y rentables.</a:t>
            </a:r>
            <a:endParaRPr lang="en-US" sz="1200" dirty="0"/>
          </a:p>
        </p:txBody>
      </p:sp>
      <p:sp>
        <p:nvSpPr>
          <p:cNvPr id="16" name="Shape 11"/>
          <p:cNvSpPr/>
          <p:nvPr/>
        </p:nvSpPr>
        <p:spPr>
          <a:xfrm>
            <a:off x="8138160" y="4663440"/>
            <a:ext cx="3413455" cy="1143000"/>
          </a:xfrm>
          <a:prstGeom prst="roundRect">
            <a:avLst>
              <a:gd name="adj" fmla="val 8000"/>
            </a:avLst>
          </a:prstGeom>
          <a:solidFill>
            <a:srgbClr val="FFFFFF"/>
          </a:solidFill>
          <a:ln/>
          <a:effectLst>
            <a:outerShdw sx="100000" sy="100000" kx="0" ky="0" algn="bl" rotWithShape="0" blurRad="114300" dist="38100" dir="8100000">
              <a:srgbClr val="0B2B33">
                <a:alpha val="14000"/>
              </a:srgbClr>
            </a:outerShdw>
          </a:effectLst>
        </p:spPr>
      </p:sp>
      <p:sp>
        <p:nvSpPr>
          <p:cNvPr id="17" name="Shape 12"/>
          <p:cNvSpPr/>
          <p:nvPr/>
        </p:nvSpPr>
        <p:spPr>
          <a:xfrm>
            <a:off x="8394192" y="4901184"/>
            <a:ext cx="420624" cy="420624"/>
          </a:xfrm>
          <a:prstGeom prst="ellipse">
            <a:avLst/>
          </a:prstGeom>
          <a:solidFill>
            <a:srgbClr val="E5544E"/>
          </a:solidFill>
          <a:ln/>
        </p:spPr>
      </p:sp>
      <p:pic>
        <p:nvPicPr>
          <p:cNvPr id="18" name="Image 3" descr="icons/warning_white.png">    </p:cNvPr>
          <p:cNvPicPr>
            <a:picLocks noChangeAspect="1"/>
          </p:cNvPicPr>
          <p:nvPr/>
        </p:nvPicPr>
        <p:blipFill>
          <a:blip r:embed="rId4"/>
          <a:stretch>
            <a:fillRect/>
          </a:stretch>
        </p:blipFill>
        <p:spPr>
          <a:xfrm>
            <a:off x="8494776" y="5001768"/>
            <a:ext cx="219456" cy="219456"/>
          </a:xfrm>
          <a:prstGeom prst="rect">
            <a:avLst/>
          </a:prstGeom>
        </p:spPr>
      </p:pic>
      <p:sp>
        <p:nvSpPr>
          <p:cNvPr id="19" name="Text 13"/>
          <p:cNvSpPr/>
          <p:nvPr/>
        </p:nvSpPr>
        <p:spPr>
          <a:xfrm>
            <a:off x="8997696" y="4882896"/>
            <a:ext cx="2334463" cy="365760"/>
          </a:xfrm>
          <a:prstGeom prst="rect">
            <a:avLst/>
          </a:prstGeom>
          <a:noFill/>
          <a:ln/>
        </p:spPr>
        <p:txBody>
          <a:bodyPr wrap="square" lIns="0" tIns="0" rIns="0" bIns="0" rtlCol="0" anchor="t"/>
          <a:lstStyle/>
          <a:p>
            <a:pPr algn="l" indent="0" marL="0">
              <a:buNone/>
            </a:pPr>
            <a:r>
              <a:rPr lang="en-US" sz="1350" b="1" dirty="0">
                <a:solidFill>
                  <a:srgbClr val="E5544E"/>
                </a:solidFill>
                <a:latin typeface="Calibri" pitchFamily="34" charset="0"/>
                <a:ea typeface="Calibri" pitchFamily="34" charset="-122"/>
                <a:cs typeface="Calibri" pitchFamily="34" charset="-120"/>
              </a:rPr>
              <a:t>El cuidado</a:t>
            </a:r>
            <a:endParaRPr lang="en-US" sz="1350" dirty="0"/>
          </a:p>
        </p:txBody>
      </p:sp>
      <p:sp>
        <p:nvSpPr>
          <p:cNvPr id="20" name="Text 14"/>
          <p:cNvSpPr/>
          <p:nvPr/>
        </p:nvSpPr>
        <p:spPr>
          <a:xfrm>
            <a:off x="8394192" y="5321808"/>
            <a:ext cx="2937967" cy="30175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Con tanto valor en el TV, la valuación es muy sensible a g y al WACC. La sensibilidad no es adorno: es el corazón.</a:t>
            </a:r>
            <a:endParaRPr lang="en-US" sz="1200" dirty="0"/>
          </a:p>
        </p:txBody>
      </p:sp>
      <p:sp>
        <p:nvSpPr>
          <p:cNvPr id="21" name="Text 15"/>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2" name="Text 16"/>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bridge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DE ENTERPRISE VALUE A PRECIO POR ACCIÓN</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600" b="1" dirty="0">
                <a:solidFill>
                  <a:srgbClr val="0B2B33"/>
                </a:solidFill>
                <a:latin typeface="Georgia" pitchFamily="34" charset="0"/>
                <a:ea typeface="Georgia" pitchFamily="34" charset="-122"/>
                <a:cs typeface="Georgia" pitchFamily="34" charset="-120"/>
              </a:rPr>
              <a:t>El puente — y el primer veredicto</a:t>
            </a:r>
            <a:endParaRPr lang="en-US" sz="2600" dirty="0"/>
          </a:p>
        </p:txBody>
      </p:sp>
      <p:sp>
        <p:nvSpPr>
          <p:cNvPr id="6" name="Shape 3"/>
          <p:cNvSpPr/>
          <p:nvPr/>
        </p:nvSpPr>
        <p:spPr>
          <a:xfrm>
            <a:off x="640080" y="1874520"/>
            <a:ext cx="676656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54_0.png">    </p:cNvPr>
          <p:cNvPicPr>
            <a:picLocks noChangeAspect="1"/>
          </p:cNvPicPr>
          <p:nvPr/>
        </p:nvPicPr>
        <p:blipFill>
          <a:blip r:embed="rId2"/>
          <a:stretch>
            <a:fillRect/>
          </a:stretch>
        </p:blipFill>
        <p:spPr>
          <a:xfrm>
            <a:off x="868680" y="2131333"/>
            <a:ext cx="6309360" cy="3418294"/>
          </a:xfrm>
          <a:prstGeom prst="rect">
            <a:avLst/>
          </a:prstGeom>
        </p:spPr>
      </p:pic>
      <p:sp>
        <p:nvSpPr>
          <p:cNvPr id="8" name="Shape 4"/>
          <p:cNvSpPr/>
          <p:nvPr/>
        </p:nvSpPr>
        <p:spPr>
          <a:xfrm>
            <a:off x="7772400" y="1874520"/>
            <a:ext cx="3779215" cy="1371600"/>
          </a:xfrm>
          <a:prstGeom prst="roundRect">
            <a:avLst>
              <a:gd name="adj" fmla="val 6667"/>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8028432" y="2112264"/>
            <a:ext cx="420624" cy="420624"/>
          </a:xfrm>
          <a:prstGeom prst="ellipse">
            <a:avLst/>
          </a:prstGeom>
          <a:solidFill>
            <a:srgbClr val="12A594"/>
          </a:solidFill>
          <a:ln/>
        </p:spPr>
      </p:sp>
      <p:pic>
        <p:nvPicPr>
          <p:cNvPr id="10" name="Image 2" descr="icons/coins_white.png">    </p:cNvPr>
          <p:cNvPicPr>
            <a:picLocks noChangeAspect="1"/>
          </p:cNvPicPr>
          <p:nvPr/>
        </p:nvPicPr>
        <p:blipFill>
          <a:blip r:embed="rId3"/>
          <a:stretch>
            <a:fillRect/>
          </a:stretch>
        </p:blipFill>
        <p:spPr>
          <a:xfrm>
            <a:off x="8129016" y="2212848"/>
            <a:ext cx="219456" cy="219456"/>
          </a:xfrm>
          <a:prstGeom prst="rect">
            <a:avLst/>
          </a:prstGeom>
        </p:spPr>
      </p:pic>
      <p:sp>
        <p:nvSpPr>
          <p:cNvPr id="11" name="Text 6"/>
          <p:cNvSpPr/>
          <p:nvPr/>
        </p:nvSpPr>
        <p:spPr>
          <a:xfrm>
            <a:off x="8631936" y="2093976"/>
            <a:ext cx="270022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Sumamos la caja</a:t>
            </a:r>
            <a:endParaRPr lang="en-US" sz="1350" dirty="0"/>
          </a:p>
        </p:txBody>
      </p:sp>
      <p:sp>
        <p:nvSpPr>
          <p:cNvPr id="12" name="Text 7"/>
          <p:cNvSpPr/>
          <p:nvPr/>
        </p:nvSpPr>
        <p:spPr>
          <a:xfrm>
            <a:off x="8028432" y="2532888"/>
            <a:ext cx="3303727" cy="53035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Equity = EV − deuda neta. Apple tiene caja neta de +33,8 B, así que la caja se suma al valor del accionista.</a:t>
            </a:r>
            <a:endParaRPr lang="en-US" sz="1200" dirty="0"/>
          </a:p>
        </p:txBody>
      </p:sp>
      <p:sp>
        <p:nvSpPr>
          <p:cNvPr id="13" name="Shape 8"/>
          <p:cNvSpPr/>
          <p:nvPr/>
        </p:nvSpPr>
        <p:spPr>
          <a:xfrm>
            <a:off x="7772400" y="3383280"/>
            <a:ext cx="3779215" cy="2423160"/>
          </a:xfrm>
          <a:prstGeom prst="roundRect">
            <a:avLst>
              <a:gd name="adj" fmla="val 4528"/>
            </a:avLst>
          </a:prstGeom>
          <a:solidFill>
            <a:srgbClr val="0B2B33"/>
          </a:solidFill>
          <a:ln/>
          <a:effectLst>
            <a:outerShdw sx="100000" sy="100000" kx="0" ky="0" algn="bl" rotWithShape="0" blurRad="114300" dist="38100" dir="8100000">
              <a:srgbClr val="0B2B33">
                <a:alpha val="14000"/>
              </a:srgbClr>
            </a:outerShdw>
          </a:effectLst>
        </p:spPr>
      </p:sp>
      <p:sp>
        <p:nvSpPr>
          <p:cNvPr id="14" name="Text 9"/>
          <p:cNvSpPr/>
          <p:nvPr/>
        </p:nvSpPr>
        <p:spPr>
          <a:xfrm>
            <a:off x="8046720" y="3611880"/>
            <a:ext cx="3230575" cy="594360"/>
          </a:xfrm>
          <a:prstGeom prst="rect">
            <a:avLst/>
          </a:prstGeom>
          <a:noFill/>
          <a:ln/>
        </p:spPr>
        <p:txBody>
          <a:bodyPr wrap="square" lIns="0" tIns="0" rIns="0" bIns="0" rtlCol="0" anchor="b"/>
          <a:lstStyle/>
          <a:p>
            <a:pPr algn="l" indent="0" marL="0">
              <a:buNone/>
            </a:pPr>
            <a:r>
              <a:rPr lang="en-US" sz="3000" b="1" dirty="0">
                <a:solidFill>
                  <a:srgbClr val="12A594"/>
                </a:solidFill>
                <a:latin typeface="Georgia" pitchFamily="34" charset="0"/>
                <a:ea typeface="Georgia" pitchFamily="34" charset="-122"/>
                <a:cs typeface="Georgia" pitchFamily="34" charset="-120"/>
              </a:rPr>
              <a:t>USD 207,80</a:t>
            </a:r>
            <a:endParaRPr lang="en-US" sz="3000" dirty="0"/>
          </a:p>
        </p:txBody>
      </p:sp>
      <p:sp>
        <p:nvSpPr>
          <p:cNvPr id="15" name="Text 10"/>
          <p:cNvSpPr/>
          <p:nvPr/>
        </p:nvSpPr>
        <p:spPr>
          <a:xfrm>
            <a:off x="8046720" y="4206240"/>
            <a:ext cx="3230575" cy="365760"/>
          </a:xfrm>
          <a:prstGeom prst="rect">
            <a:avLst/>
          </a:prstGeom>
          <a:noFill/>
          <a:ln/>
        </p:spPr>
        <p:txBody>
          <a:bodyPr wrap="square" lIns="0" tIns="0" rIns="0" bIns="0" rtlCol="0" anchor="t"/>
          <a:lstStyle/>
          <a:p>
            <a:pPr algn="l" indent="0" marL="0">
              <a:lnSpc>
                <a:spcPct val="98000"/>
              </a:lnSpc>
              <a:buNone/>
            </a:pPr>
            <a:r>
              <a:rPr lang="en-US" sz="1100" dirty="0">
                <a:solidFill>
                  <a:srgbClr val="9FC3C0"/>
                </a:solidFill>
                <a:latin typeface="Calibri" pitchFamily="34" charset="0"/>
                <a:ea typeface="Calibri" pitchFamily="34" charset="-122"/>
                <a:cs typeface="Calibri" pitchFamily="34" charset="-120"/>
              </a:rPr>
              <a:t>Precio objetivo (DCF, caso base)</a:t>
            </a:r>
            <a:endParaRPr lang="en-US" sz="1100" dirty="0"/>
          </a:p>
        </p:txBody>
      </p:sp>
      <p:sp>
        <p:nvSpPr>
          <p:cNvPr id="16" name="Shape 11"/>
          <p:cNvSpPr/>
          <p:nvPr/>
        </p:nvSpPr>
        <p:spPr>
          <a:xfrm>
            <a:off x="8046720" y="4736592"/>
            <a:ext cx="3230575" cy="0"/>
          </a:xfrm>
          <a:prstGeom prst="line">
            <a:avLst/>
          </a:prstGeom>
          <a:noFill/>
          <a:ln w="12700">
            <a:solidFill>
              <a:srgbClr val="23454D"/>
            </a:solidFill>
            <a:prstDash val="solid"/>
          </a:ln>
        </p:spPr>
      </p:sp>
      <p:sp>
        <p:nvSpPr>
          <p:cNvPr id="17" name="Text 12"/>
          <p:cNvSpPr/>
          <p:nvPr/>
        </p:nvSpPr>
        <p:spPr>
          <a:xfrm>
            <a:off x="8046720" y="4828032"/>
            <a:ext cx="3230575" cy="457200"/>
          </a:xfrm>
          <a:prstGeom prst="rect">
            <a:avLst/>
          </a:prstGeom>
          <a:noFill/>
          <a:ln/>
        </p:spPr>
        <p:txBody>
          <a:bodyPr wrap="square" lIns="0" tIns="0" rIns="0" bIns="0" rtlCol="0" anchor="b"/>
          <a:lstStyle/>
          <a:p>
            <a:pPr algn="l" indent="0" marL="0">
              <a:buNone/>
            </a:pPr>
            <a:r>
              <a:rPr lang="en-US" sz="2200" b="1" dirty="0">
                <a:solidFill>
                  <a:srgbClr val="E5544E"/>
                </a:solidFill>
                <a:latin typeface="Georgia" pitchFamily="34" charset="0"/>
                <a:ea typeface="Georgia" pitchFamily="34" charset="-122"/>
                <a:cs typeface="Georgia" pitchFamily="34" charset="-120"/>
              </a:rPr>
              <a:t>USD 312,06</a:t>
            </a:r>
            <a:endParaRPr lang="en-US" sz="2200" dirty="0"/>
          </a:p>
        </p:txBody>
      </p:sp>
      <p:sp>
        <p:nvSpPr>
          <p:cNvPr id="18" name="Text 13"/>
          <p:cNvSpPr/>
          <p:nvPr/>
        </p:nvSpPr>
        <p:spPr>
          <a:xfrm>
            <a:off x="8046720" y="5285232"/>
            <a:ext cx="3230575" cy="320040"/>
          </a:xfrm>
          <a:prstGeom prst="rect">
            <a:avLst/>
          </a:prstGeom>
          <a:noFill/>
          <a:ln/>
        </p:spPr>
        <p:txBody>
          <a:bodyPr wrap="square" lIns="0" tIns="0" rIns="0" bIns="0" rtlCol="0" anchor="t"/>
          <a:lstStyle/>
          <a:p>
            <a:pPr algn="l" indent="0" marL="0">
              <a:lnSpc>
                <a:spcPct val="98000"/>
              </a:lnSpc>
              <a:buNone/>
            </a:pPr>
            <a:r>
              <a:rPr lang="en-US" sz="1050" dirty="0">
                <a:solidFill>
                  <a:srgbClr val="9FC3C0"/>
                </a:solidFill>
                <a:latin typeface="Calibri" pitchFamily="34" charset="0"/>
                <a:ea typeface="Calibri" pitchFamily="34" charset="-122"/>
                <a:cs typeface="Calibri" pitchFamily="34" charset="-120"/>
              </a:rPr>
              <a:t>Precio de mercado actual</a:t>
            </a:r>
            <a:endParaRPr lang="en-US" sz="1050" dirty="0"/>
          </a:p>
        </p:txBody>
      </p:sp>
      <p:sp>
        <p:nvSpPr>
          <p:cNvPr id="19" name="Text 14"/>
          <p:cNvSpPr/>
          <p:nvPr/>
        </p:nvSpPr>
        <p:spPr>
          <a:xfrm>
            <a:off x="9814255" y="4846320"/>
            <a:ext cx="1463040" cy="548640"/>
          </a:xfrm>
          <a:prstGeom prst="rect">
            <a:avLst/>
          </a:prstGeom>
          <a:noFill/>
          <a:ln/>
        </p:spPr>
        <p:txBody>
          <a:bodyPr wrap="square" lIns="0" tIns="0" rIns="0" bIns="0" rtlCol="0" anchor="ctr"/>
          <a:lstStyle/>
          <a:p>
            <a:pPr algn="r" indent="0" marL="0">
              <a:buNone/>
            </a:pPr>
            <a:r>
              <a:rPr lang="en-US" sz="2600" b="1" dirty="0">
                <a:solidFill>
                  <a:srgbClr val="E5544E"/>
                </a:solidFill>
                <a:latin typeface="Georgia" pitchFamily="34" charset="0"/>
                <a:ea typeface="Georgia" pitchFamily="34" charset="-122"/>
                <a:cs typeface="Georgia" pitchFamily="34" charset="-120"/>
              </a:rPr>
              <a:t>−33,4%</a:t>
            </a:r>
            <a:endParaRPr lang="en-US" sz="2600" dirty="0"/>
          </a:p>
        </p:txBody>
      </p:sp>
      <p:sp>
        <p:nvSpPr>
          <p:cNvPr id="20" name="Text 15"/>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1" name="Text 16"/>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7589520" y="548640"/>
            <a:ext cx="4754880" cy="5760720"/>
          </a:xfrm>
          <a:prstGeom prst="rect">
            <a:avLst/>
          </a:prstGeom>
          <a:noFill/>
          <a:ln/>
        </p:spPr>
        <p:txBody>
          <a:bodyPr wrap="square" lIns="0" tIns="0" rIns="0" bIns="0" rtlCol="0" anchor="ctr"/>
          <a:lstStyle/>
          <a:p>
            <a:pPr algn="r" indent="0" marL="0">
              <a:buNone/>
            </a:pPr>
            <a:r>
              <a:rPr lang="en-US" sz="30000" b="1" dirty="0">
                <a:solidFill>
                  <a:srgbClr val="0F3A44"/>
                </a:solidFill>
                <a:latin typeface="Georgia" pitchFamily="34" charset="0"/>
                <a:ea typeface="Georgia" pitchFamily="34" charset="-122"/>
                <a:cs typeface="Georgia" pitchFamily="34" charset="-120"/>
              </a:rPr>
              <a:t>06</a:t>
            </a:r>
            <a:endParaRPr lang="en-US" sz="30000" dirty="0"/>
          </a:p>
        </p:txBody>
      </p:sp>
      <p:sp>
        <p:nvSpPr>
          <p:cNvPr id="3" name="Shape 1"/>
          <p:cNvSpPr/>
          <p:nvPr/>
        </p:nvSpPr>
        <p:spPr>
          <a:xfrm>
            <a:off x="640080" y="2148840"/>
            <a:ext cx="960120" cy="960120"/>
          </a:xfrm>
          <a:prstGeom prst="ellipse">
            <a:avLst/>
          </a:prstGeom>
          <a:solidFill>
            <a:srgbClr val="12A594"/>
          </a:solidFill>
          <a:ln/>
        </p:spPr>
      </p:sp>
      <p:pic>
        <p:nvPicPr>
          <p:cNvPr id="4" name="Image 0" descr="icons/target_white.png">    </p:cNvPr>
          <p:cNvPicPr>
            <a:picLocks noChangeAspect="1"/>
          </p:cNvPicPr>
          <p:nvPr/>
        </p:nvPicPr>
        <p:blipFill>
          <a:blip r:embed="rId1"/>
          <a:stretch>
            <a:fillRect/>
          </a:stretch>
        </p:blipFill>
        <p:spPr>
          <a:xfrm>
            <a:off x="914400" y="2423160"/>
            <a:ext cx="411480" cy="411480"/>
          </a:xfrm>
          <a:prstGeom prst="rect">
            <a:avLst/>
          </a:prstGeom>
        </p:spPr>
      </p:pic>
      <p:sp>
        <p:nvSpPr>
          <p:cNvPr id="5" name="Text 2"/>
          <p:cNvSpPr/>
          <p:nvPr/>
        </p:nvSpPr>
        <p:spPr>
          <a:xfrm>
            <a:off x="640080" y="3337560"/>
            <a:ext cx="731520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BLOQUE 06 · ¿CUÁNTO VALE?</a:t>
            </a:r>
            <a:endParaRPr lang="en-US" sz="1300" dirty="0"/>
          </a:p>
        </p:txBody>
      </p:sp>
      <p:sp>
        <p:nvSpPr>
          <p:cNvPr id="6" name="Text 3"/>
          <p:cNvSpPr/>
          <p:nvPr/>
        </p:nvSpPr>
        <p:spPr>
          <a:xfrm>
            <a:off x="640080" y="3703320"/>
            <a:ext cx="7315200" cy="118872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Georgia" pitchFamily="34" charset="0"/>
                <a:ea typeface="Georgia" pitchFamily="34" charset="-122"/>
                <a:cs typeface="Georgia" pitchFamily="34" charset="-120"/>
              </a:rPr>
              <a:t>Sensibilidad, escenarios y veredicto</a:t>
            </a:r>
            <a:endParaRPr lang="en-US" sz="3800" dirty="0"/>
          </a:p>
        </p:txBody>
      </p:sp>
      <p:sp>
        <p:nvSpPr>
          <p:cNvPr id="7" name="Text 4"/>
          <p:cNvSpPr/>
          <p:nvPr/>
        </p:nvSpPr>
        <p:spPr>
          <a:xfrm>
            <a:off x="640080" y="5029200"/>
            <a:ext cx="6949440" cy="731520"/>
          </a:xfrm>
          <a:prstGeom prst="rect">
            <a:avLst/>
          </a:prstGeom>
          <a:noFill/>
          <a:ln/>
        </p:spPr>
        <p:txBody>
          <a:bodyPr wrap="square" lIns="0" tIns="0" rIns="0" bIns="0" rtlCol="0" anchor="ctr"/>
          <a:lstStyle/>
          <a:p>
            <a:pPr indent="0" marL="0">
              <a:lnSpc>
                <a:spcPct val="110000"/>
              </a:lnSpc>
              <a:buNone/>
            </a:pPr>
            <a:r>
              <a:rPr lang="en-US" sz="1400" dirty="0">
                <a:solidFill>
                  <a:srgbClr val="9FC3C0"/>
                </a:solidFill>
                <a:latin typeface="Calibri" pitchFamily="34" charset="0"/>
                <a:ea typeface="Calibri" pitchFamily="34" charset="-122"/>
                <a:cs typeface="Calibri" pitchFamily="34" charset="-120"/>
              </a:rPr>
              <a:t>No defendemos un número: defendemos un rango y mostramos dónde tiene que tener razón el mercado.</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grid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SENSIBILIDAD WACC × G</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600" b="1" dirty="0">
                <a:solidFill>
                  <a:srgbClr val="0B2B33"/>
                </a:solidFill>
                <a:latin typeface="Georgia" pitchFamily="34" charset="0"/>
                <a:ea typeface="Georgia" pitchFamily="34" charset="-122"/>
                <a:cs typeface="Georgia" pitchFamily="34" charset="-120"/>
              </a:rPr>
              <a:t>El precio objetivo no es un punto: es una grilla</a:t>
            </a:r>
            <a:endParaRPr lang="en-US" sz="2600" dirty="0"/>
          </a:p>
        </p:txBody>
      </p:sp>
      <p:sp>
        <p:nvSpPr>
          <p:cNvPr id="6" name="Shape 3"/>
          <p:cNvSpPr/>
          <p:nvPr/>
        </p:nvSpPr>
        <p:spPr>
          <a:xfrm>
            <a:off x="640080" y="1874520"/>
            <a:ext cx="694944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56_0.png">    </p:cNvPr>
          <p:cNvPicPr>
            <a:picLocks noChangeAspect="1"/>
          </p:cNvPicPr>
          <p:nvPr/>
        </p:nvPicPr>
        <p:blipFill>
          <a:blip r:embed="rId2"/>
          <a:stretch>
            <a:fillRect/>
          </a:stretch>
        </p:blipFill>
        <p:spPr>
          <a:xfrm>
            <a:off x="1307678" y="2075688"/>
            <a:ext cx="5614245" cy="3529584"/>
          </a:xfrm>
          <a:prstGeom prst="rect">
            <a:avLst/>
          </a:prstGeom>
        </p:spPr>
      </p:pic>
      <p:sp>
        <p:nvSpPr>
          <p:cNvPr id="8" name="Shape 4"/>
          <p:cNvSpPr/>
          <p:nvPr/>
        </p:nvSpPr>
        <p:spPr>
          <a:xfrm>
            <a:off x="7955280" y="1874520"/>
            <a:ext cx="3596335" cy="1874520"/>
          </a:xfrm>
          <a:prstGeom prst="roundRect">
            <a:avLst>
              <a:gd name="adj" fmla="val 4878"/>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8211312" y="2112264"/>
            <a:ext cx="420624" cy="420624"/>
          </a:xfrm>
          <a:prstGeom prst="ellipse">
            <a:avLst/>
          </a:prstGeom>
          <a:solidFill>
            <a:srgbClr val="12A594"/>
          </a:solidFill>
          <a:ln/>
        </p:spPr>
      </p:sp>
      <p:pic>
        <p:nvPicPr>
          <p:cNvPr id="10" name="Image 2" descr="icons/grid_white.png">    </p:cNvPr>
          <p:cNvPicPr>
            <a:picLocks noChangeAspect="1"/>
          </p:cNvPicPr>
          <p:nvPr/>
        </p:nvPicPr>
        <p:blipFill>
          <a:blip r:embed="rId3"/>
          <a:stretch>
            <a:fillRect/>
          </a:stretch>
        </p:blipFill>
        <p:spPr>
          <a:xfrm>
            <a:off x="8311896" y="2212848"/>
            <a:ext cx="219456" cy="219456"/>
          </a:xfrm>
          <a:prstGeom prst="rect">
            <a:avLst/>
          </a:prstGeom>
        </p:spPr>
      </p:pic>
      <p:sp>
        <p:nvSpPr>
          <p:cNvPr id="11" name="Text 6"/>
          <p:cNvSpPr/>
          <p:nvPr/>
        </p:nvSpPr>
        <p:spPr>
          <a:xfrm>
            <a:off x="8814816" y="2093976"/>
            <a:ext cx="251734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Qué muestra</a:t>
            </a:r>
            <a:endParaRPr lang="en-US" sz="1350" dirty="0"/>
          </a:p>
        </p:txBody>
      </p:sp>
      <p:sp>
        <p:nvSpPr>
          <p:cNvPr id="12" name="Text 7"/>
          <p:cNvSpPr/>
          <p:nvPr/>
        </p:nvSpPr>
        <p:spPr>
          <a:xfrm>
            <a:off x="8211312" y="2532888"/>
            <a:ext cx="3120847" cy="10332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Cruzando WACC (filas) y g (columnas) el precio objetivo va de ~USD 150 a ~USD 340. Verde = más alto, rojo = más bajo.</a:t>
            </a:r>
            <a:endParaRPr lang="en-US" sz="1200" dirty="0"/>
          </a:p>
        </p:txBody>
      </p:sp>
      <p:sp>
        <p:nvSpPr>
          <p:cNvPr id="13" name="Shape 8"/>
          <p:cNvSpPr/>
          <p:nvPr/>
        </p:nvSpPr>
        <p:spPr>
          <a:xfrm>
            <a:off x="7955280" y="3886200"/>
            <a:ext cx="3596335" cy="1920240"/>
          </a:xfrm>
          <a:prstGeom prst="roundRect">
            <a:avLst>
              <a:gd name="adj" fmla="val 4762"/>
            </a:avLst>
          </a:prstGeom>
          <a:solidFill>
            <a:srgbClr val="FFFFFF"/>
          </a:solidFill>
          <a:ln/>
          <a:effectLst>
            <a:outerShdw sx="100000" sy="100000" kx="0" ky="0" algn="bl" rotWithShape="0" blurRad="114300" dist="38100" dir="8100000">
              <a:srgbClr val="0B2B33">
                <a:alpha val="14000"/>
              </a:srgbClr>
            </a:outerShdw>
          </a:effectLst>
        </p:spPr>
      </p:sp>
      <p:sp>
        <p:nvSpPr>
          <p:cNvPr id="14" name="Shape 9"/>
          <p:cNvSpPr/>
          <p:nvPr/>
        </p:nvSpPr>
        <p:spPr>
          <a:xfrm>
            <a:off x="8211312" y="4123944"/>
            <a:ext cx="420624" cy="420624"/>
          </a:xfrm>
          <a:prstGeom prst="ellipse">
            <a:avLst/>
          </a:prstGeom>
          <a:solidFill>
            <a:srgbClr val="E5544E"/>
          </a:solidFill>
          <a:ln/>
        </p:spPr>
      </p:sp>
      <p:pic>
        <p:nvPicPr>
          <p:cNvPr id="15" name="Image 3" descr="icons/warning_white.png">    </p:cNvPr>
          <p:cNvPicPr>
            <a:picLocks noChangeAspect="1"/>
          </p:cNvPicPr>
          <p:nvPr/>
        </p:nvPicPr>
        <p:blipFill>
          <a:blip r:embed="rId4"/>
          <a:stretch>
            <a:fillRect/>
          </a:stretch>
        </p:blipFill>
        <p:spPr>
          <a:xfrm>
            <a:off x="8311896" y="4224528"/>
            <a:ext cx="219456" cy="219456"/>
          </a:xfrm>
          <a:prstGeom prst="rect">
            <a:avLst/>
          </a:prstGeom>
        </p:spPr>
      </p:pic>
      <p:sp>
        <p:nvSpPr>
          <p:cNvPr id="16" name="Text 10"/>
          <p:cNvSpPr/>
          <p:nvPr/>
        </p:nvSpPr>
        <p:spPr>
          <a:xfrm>
            <a:off x="8814816" y="4105656"/>
            <a:ext cx="2517343" cy="365760"/>
          </a:xfrm>
          <a:prstGeom prst="rect">
            <a:avLst/>
          </a:prstGeom>
          <a:noFill/>
          <a:ln/>
        </p:spPr>
        <p:txBody>
          <a:bodyPr wrap="square" lIns="0" tIns="0" rIns="0" bIns="0" rtlCol="0" anchor="t"/>
          <a:lstStyle/>
          <a:p>
            <a:pPr algn="l" indent="0" marL="0">
              <a:buNone/>
            </a:pPr>
            <a:r>
              <a:rPr lang="en-US" sz="1350" b="1" dirty="0">
                <a:solidFill>
                  <a:srgbClr val="E5544E"/>
                </a:solidFill>
                <a:latin typeface="Calibri" pitchFamily="34" charset="0"/>
                <a:ea typeface="Calibri" pitchFamily="34" charset="-122"/>
                <a:cs typeface="Calibri" pitchFamily="34" charset="-120"/>
              </a:rPr>
              <a:t>El punto incómodo</a:t>
            </a:r>
            <a:endParaRPr lang="en-US" sz="1350" dirty="0"/>
          </a:p>
        </p:txBody>
      </p:sp>
      <p:sp>
        <p:nvSpPr>
          <p:cNvPr id="17" name="Text 11"/>
          <p:cNvSpPr/>
          <p:nvPr/>
        </p:nvSpPr>
        <p:spPr>
          <a:xfrm>
            <a:off x="8211312" y="4544568"/>
            <a:ext cx="3120847" cy="107899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Casi toda la grilla queda por debajo de los USD 312 del mercado. Solo combinaciones agresivas (WACC bajo + g alto) lo alcanzan.</a:t>
            </a:r>
            <a:endParaRPr lang="en-US" sz="1200" dirty="0"/>
          </a:p>
        </p:txBody>
      </p:sp>
      <p:sp>
        <p:nvSpPr>
          <p:cNvPr id="18" name="Text 12"/>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9" name="Text 13"/>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masks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ESCENARIOS</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Base, pesimista y optimista</a:t>
            </a:r>
            <a:endParaRPr lang="en-US" sz="3000" dirty="0"/>
          </a:p>
        </p:txBody>
      </p:sp>
      <p:sp>
        <p:nvSpPr>
          <p:cNvPr id="6" name="Shape 3"/>
          <p:cNvSpPr/>
          <p:nvPr/>
        </p:nvSpPr>
        <p:spPr>
          <a:xfrm>
            <a:off x="640080" y="1874520"/>
            <a:ext cx="658368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59_1.png">    </p:cNvPr>
          <p:cNvPicPr>
            <a:picLocks noChangeAspect="1"/>
          </p:cNvPicPr>
          <p:nvPr/>
        </p:nvPicPr>
        <p:blipFill>
          <a:blip r:embed="rId2"/>
          <a:stretch>
            <a:fillRect/>
          </a:stretch>
        </p:blipFill>
        <p:spPr>
          <a:xfrm>
            <a:off x="868680" y="2171030"/>
            <a:ext cx="6126480" cy="3338901"/>
          </a:xfrm>
          <a:prstGeom prst="rect">
            <a:avLst/>
          </a:prstGeom>
        </p:spPr>
      </p:pic>
      <p:sp>
        <p:nvSpPr>
          <p:cNvPr id="8" name="Shape 4"/>
          <p:cNvSpPr/>
          <p:nvPr/>
        </p:nvSpPr>
        <p:spPr>
          <a:xfrm>
            <a:off x="7589520" y="1874520"/>
            <a:ext cx="3962095" cy="1170432"/>
          </a:xfrm>
          <a:prstGeom prst="roundRect">
            <a:avLst>
              <a:gd name="adj" fmla="val 7813"/>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7589520" y="1984248"/>
            <a:ext cx="82296" cy="950976"/>
          </a:xfrm>
          <a:prstGeom prst="rect">
            <a:avLst/>
          </a:prstGeom>
          <a:solidFill>
            <a:srgbClr val="E5544E"/>
          </a:solidFill>
          <a:ln/>
        </p:spPr>
      </p:sp>
      <p:sp>
        <p:nvSpPr>
          <p:cNvPr id="10" name="Text 6"/>
          <p:cNvSpPr/>
          <p:nvPr/>
        </p:nvSpPr>
        <p:spPr>
          <a:xfrm>
            <a:off x="7845552" y="1984248"/>
            <a:ext cx="3504895" cy="320040"/>
          </a:xfrm>
          <a:prstGeom prst="rect">
            <a:avLst/>
          </a:prstGeom>
          <a:noFill/>
          <a:ln/>
        </p:spPr>
        <p:txBody>
          <a:bodyPr wrap="square" lIns="0" tIns="0" rIns="0" bIns="0" rtlCol="0" anchor="ctr"/>
          <a:lstStyle/>
          <a:p>
            <a:pPr indent="0" marL="0">
              <a:buNone/>
            </a:pPr>
            <a:r>
              <a:rPr lang="en-US" sz="1300" b="1" dirty="0">
                <a:solidFill>
                  <a:srgbClr val="E5544E"/>
                </a:solidFill>
                <a:latin typeface="Calibri" pitchFamily="34" charset="0"/>
                <a:ea typeface="Calibri" pitchFamily="34" charset="-122"/>
                <a:cs typeface="Calibri" pitchFamily="34" charset="-120"/>
              </a:rPr>
              <a:t>Pesimista</a:t>
            </a:r>
            <a:endParaRPr lang="en-US" sz="1300" dirty="0"/>
          </a:p>
        </p:txBody>
      </p:sp>
      <p:sp>
        <p:nvSpPr>
          <p:cNvPr id="11" name="Text 7"/>
          <p:cNvSpPr/>
          <p:nvPr/>
        </p:nvSpPr>
        <p:spPr>
          <a:xfrm>
            <a:off x="7845552" y="2286000"/>
            <a:ext cx="3504895" cy="365760"/>
          </a:xfrm>
          <a:prstGeom prst="rect">
            <a:avLst/>
          </a:prstGeom>
          <a:noFill/>
          <a:ln/>
        </p:spPr>
        <p:txBody>
          <a:bodyPr wrap="square" lIns="0" tIns="0" rIns="0" bIns="0" rtlCol="0" anchor="ctr"/>
          <a:lstStyle/>
          <a:p>
            <a:pPr indent="0" marL="0">
              <a:buNone/>
            </a:pPr>
            <a:r>
              <a:rPr lang="en-US" sz="1600" b="1" dirty="0">
                <a:solidFill>
                  <a:srgbClr val="0B2B33"/>
                </a:solidFill>
                <a:latin typeface="Georgia" pitchFamily="34" charset="0"/>
                <a:ea typeface="Georgia" pitchFamily="34" charset="-122"/>
                <a:cs typeface="Georgia" pitchFamily="34" charset="-120"/>
              </a:rPr>
              <a:t>USD 145,85   </a:t>
            </a:r>
            <a:pPr indent="0" marL="0">
              <a:buNone/>
            </a:pPr>
            <a:r>
              <a:rPr lang="en-US" sz="1300" b="1" dirty="0">
                <a:solidFill>
                  <a:srgbClr val="E5544E"/>
                </a:solidFill>
                <a:latin typeface="Georgia" pitchFamily="34" charset="0"/>
                <a:ea typeface="Georgia" pitchFamily="34" charset="-122"/>
                <a:cs typeface="Georgia" pitchFamily="34" charset="-120"/>
              </a:rPr>
              <a:t>−53,3%</a:t>
            </a:r>
            <a:endParaRPr lang="en-US" sz="1600" dirty="0"/>
          </a:p>
        </p:txBody>
      </p:sp>
      <p:sp>
        <p:nvSpPr>
          <p:cNvPr id="12" name="Text 8"/>
          <p:cNvSpPr/>
          <p:nvPr/>
        </p:nvSpPr>
        <p:spPr>
          <a:xfrm>
            <a:off x="7845552" y="2660904"/>
            <a:ext cx="3504895" cy="320040"/>
          </a:xfrm>
          <a:prstGeom prst="rect">
            <a:avLst/>
          </a:prstGeom>
          <a:noFill/>
          <a:ln/>
        </p:spPr>
        <p:txBody>
          <a:bodyPr wrap="square" lIns="0" tIns="0" rIns="0" bIns="0" rtlCol="0" anchor="ctr"/>
          <a:lstStyle/>
          <a:p>
            <a:pPr indent="0" marL="0">
              <a:buNone/>
            </a:pPr>
            <a:r>
              <a:rPr lang="en-US" sz="1000" dirty="0">
                <a:solidFill>
                  <a:srgbClr val="5C6F74"/>
                </a:solidFill>
                <a:latin typeface="Calibri" pitchFamily="34" charset="0"/>
                <a:ea typeface="Calibri" pitchFamily="34" charset="-122"/>
                <a:cs typeface="Calibri" pitchFamily="34" charset="-120"/>
              </a:rPr>
              <a:t>WACC +1pp · g 2,0% · FCF −10%</a:t>
            </a:r>
            <a:endParaRPr lang="en-US" sz="1000" dirty="0"/>
          </a:p>
        </p:txBody>
      </p:sp>
      <p:sp>
        <p:nvSpPr>
          <p:cNvPr id="13" name="Shape 9"/>
          <p:cNvSpPr/>
          <p:nvPr/>
        </p:nvSpPr>
        <p:spPr>
          <a:xfrm>
            <a:off x="7589520" y="3154680"/>
            <a:ext cx="3962095" cy="1170432"/>
          </a:xfrm>
          <a:prstGeom prst="roundRect">
            <a:avLst>
              <a:gd name="adj" fmla="val 7813"/>
            </a:avLst>
          </a:prstGeom>
          <a:solidFill>
            <a:srgbClr val="FFFFFF"/>
          </a:solidFill>
          <a:ln/>
          <a:effectLst>
            <a:outerShdw sx="100000" sy="100000" kx="0" ky="0" algn="bl" rotWithShape="0" blurRad="114300" dist="38100" dir="8100000">
              <a:srgbClr val="0B2B33">
                <a:alpha val="14000"/>
              </a:srgbClr>
            </a:outerShdw>
          </a:effectLst>
        </p:spPr>
      </p:sp>
      <p:sp>
        <p:nvSpPr>
          <p:cNvPr id="14" name="Shape 10"/>
          <p:cNvSpPr/>
          <p:nvPr/>
        </p:nvSpPr>
        <p:spPr>
          <a:xfrm>
            <a:off x="7589520" y="3264408"/>
            <a:ext cx="82296" cy="950976"/>
          </a:xfrm>
          <a:prstGeom prst="rect">
            <a:avLst/>
          </a:prstGeom>
          <a:solidFill>
            <a:srgbClr val="0B2B33"/>
          </a:solidFill>
          <a:ln/>
        </p:spPr>
      </p:sp>
      <p:sp>
        <p:nvSpPr>
          <p:cNvPr id="15" name="Text 11"/>
          <p:cNvSpPr/>
          <p:nvPr/>
        </p:nvSpPr>
        <p:spPr>
          <a:xfrm>
            <a:off x="7845552" y="3264408"/>
            <a:ext cx="3504895" cy="320040"/>
          </a:xfrm>
          <a:prstGeom prst="rect">
            <a:avLst/>
          </a:prstGeom>
          <a:noFill/>
          <a:ln/>
        </p:spPr>
        <p:txBody>
          <a:bodyPr wrap="square" lIns="0" tIns="0" rIns="0" bIns="0" rtlCol="0" anchor="ctr"/>
          <a:lstStyle/>
          <a:p>
            <a:pPr indent="0" marL="0">
              <a:buNone/>
            </a:pPr>
            <a:r>
              <a:rPr lang="en-US" sz="1300" b="1" dirty="0">
                <a:solidFill>
                  <a:srgbClr val="0B2B33"/>
                </a:solidFill>
                <a:latin typeface="Calibri" pitchFamily="34" charset="0"/>
                <a:ea typeface="Calibri" pitchFamily="34" charset="-122"/>
                <a:cs typeface="Calibri" pitchFamily="34" charset="-120"/>
              </a:rPr>
              <a:t>Base</a:t>
            </a:r>
            <a:endParaRPr lang="en-US" sz="1300" dirty="0"/>
          </a:p>
        </p:txBody>
      </p:sp>
      <p:sp>
        <p:nvSpPr>
          <p:cNvPr id="16" name="Text 12"/>
          <p:cNvSpPr/>
          <p:nvPr/>
        </p:nvSpPr>
        <p:spPr>
          <a:xfrm>
            <a:off x="7845552" y="3566160"/>
            <a:ext cx="3504895" cy="365760"/>
          </a:xfrm>
          <a:prstGeom prst="rect">
            <a:avLst/>
          </a:prstGeom>
          <a:noFill/>
          <a:ln/>
        </p:spPr>
        <p:txBody>
          <a:bodyPr wrap="square" lIns="0" tIns="0" rIns="0" bIns="0" rtlCol="0" anchor="ctr"/>
          <a:lstStyle/>
          <a:p>
            <a:pPr indent="0" marL="0">
              <a:buNone/>
            </a:pPr>
            <a:r>
              <a:rPr lang="en-US" sz="1600" b="1" dirty="0">
                <a:solidFill>
                  <a:srgbClr val="0B2B33"/>
                </a:solidFill>
                <a:latin typeface="Georgia" pitchFamily="34" charset="0"/>
                <a:ea typeface="Georgia" pitchFamily="34" charset="-122"/>
                <a:cs typeface="Georgia" pitchFamily="34" charset="-120"/>
              </a:rPr>
              <a:t>USD 207,80   </a:t>
            </a:r>
            <a:pPr indent="0" marL="0">
              <a:buNone/>
            </a:pPr>
            <a:r>
              <a:rPr lang="en-US" sz="1300" b="1" dirty="0">
                <a:solidFill>
                  <a:srgbClr val="0B2B33"/>
                </a:solidFill>
                <a:latin typeface="Georgia" pitchFamily="34" charset="0"/>
                <a:ea typeface="Georgia" pitchFamily="34" charset="-122"/>
                <a:cs typeface="Georgia" pitchFamily="34" charset="-120"/>
              </a:rPr>
              <a:t>−33,4%</a:t>
            </a:r>
            <a:endParaRPr lang="en-US" sz="1600" dirty="0"/>
          </a:p>
        </p:txBody>
      </p:sp>
      <p:sp>
        <p:nvSpPr>
          <p:cNvPr id="17" name="Text 13"/>
          <p:cNvSpPr/>
          <p:nvPr/>
        </p:nvSpPr>
        <p:spPr>
          <a:xfrm>
            <a:off x="7845552" y="3941064"/>
            <a:ext cx="3504895" cy="320040"/>
          </a:xfrm>
          <a:prstGeom prst="rect">
            <a:avLst/>
          </a:prstGeom>
          <a:noFill/>
          <a:ln/>
        </p:spPr>
        <p:txBody>
          <a:bodyPr wrap="square" lIns="0" tIns="0" rIns="0" bIns="0" rtlCol="0" anchor="ctr"/>
          <a:lstStyle/>
          <a:p>
            <a:pPr indent="0" marL="0">
              <a:buNone/>
            </a:pPr>
            <a:r>
              <a:rPr lang="en-US" sz="1000" dirty="0">
                <a:solidFill>
                  <a:srgbClr val="5C6F74"/>
                </a:solidFill>
                <a:latin typeface="Calibri" pitchFamily="34" charset="0"/>
                <a:ea typeface="Calibri" pitchFamily="34" charset="-122"/>
                <a:cs typeface="Calibri" pitchFamily="34" charset="-120"/>
              </a:rPr>
              <a:t>WACC 9,24% · g 3,0% · FCF 100%</a:t>
            </a:r>
            <a:endParaRPr lang="en-US" sz="1000" dirty="0"/>
          </a:p>
        </p:txBody>
      </p:sp>
      <p:sp>
        <p:nvSpPr>
          <p:cNvPr id="18" name="Shape 14"/>
          <p:cNvSpPr/>
          <p:nvPr/>
        </p:nvSpPr>
        <p:spPr>
          <a:xfrm>
            <a:off x="7589520" y="4434840"/>
            <a:ext cx="3962095" cy="1170432"/>
          </a:xfrm>
          <a:prstGeom prst="roundRect">
            <a:avLst>
              <a:gd name="adj" fmla="val 7813"/>
            </a:avLst>
          </a:prstGeom>
          <a:solidFill>
            <a:srgbClr val="FFFFFF"/>
          </a:solidFill>
          <a:ln/>
          <a:effectLst>
            <a:outerShdw sx="100000" sy="100000" kx="0" ky="0" algn="bl" rotWithShape="0" blurRad="114300" dist="38100" dir="8100000">
              <a:srgbClr val="0B2B33">
                <a:alpha val="14000"/>
              </a:srgbClr>
            </a:outerShdw>
          </a:effectLst>
        </p:spPr>
      </p:sp>
      <p:sp>
        <p:nvSpPr>
          <p:cNvPr id="19" name="Shape 15"/>
          <p:cNvSpPr/>
          <p:nvPr/>
        </p:nvSpPr>
        <p:spPr>
          <a:xfrm>
            <a:off x="7589520" y="4544568"/>
            <a:ext cx="82296" cy="950976"/>
          </a:xfrm>
          <a:prstGeom prst="rect">
            <a:avLst/>
          </a:prstGeom>
          <a:solidFill>
            <a:srgbClr val="12A594"/>
          </a:solidFill>
          <a:ln/>
        </p:spPr>
      </p:sp>
      <p:sp>
        <p:nvSpPr>
          <p:cNvPr id="20" name="Text 16"/>
          <p:cNvSpPr/>
          <p:nvPr/>
        </p:nvSpPr>
        <p:spPr>
          <a:xfrm>
            <a:off x="7845552" y="4544568"/>
            <a:ext cx="3504895" cy="320040"/>
          </a:xfrm>
          <a:prstGeom prst="rect">
            <a:avLst/>
          </a:prstGeom>
          <a:noFill/>
          <a:ln/>
        </p:spPr>
        <p:txBody>
          <a:bodyPr wrap="square" lIns="0" tIns="0" rIns="0" bIns="0" rtlCol="0" anchor="ctr"/>
          <a:lstStyle/>
          <a:p>
            <a:pPr indent="0" marL="0">
              <a:buNone/>
            </a:pPr>
            <a:r>
              <a:rPr lang="en-US" sz="1300" b="1" dirty="0">
                <a:solidFill>
                  <a:srgbClr val="12A594"/>
                </a:solidFill>
                <a:latin typeface="Calibri" pitchFamily="34" charset="0"/>
                <a:ea typeface="Calibri" pitchFamily="34" charset="-122"/>
                <a:cs typeface="Calibri" pitchFamily="34" charset="-120"/>
              </a:rPr>
              <a:t>Optimista</a:t>
            </a:r>
            <a:endParaRPr lang="en-US" sz="1300" dirty="0"/>
          </a:p>
        </p:txBody>
      </p:sp>
      <p:sp>
        <p:nvSpPr>
          <p:cNvPr id="21" name="Text 17"/>
          <p:cNvSpPr/>
          <p:nvPr/>
        </p:nvSpPr>
        <p:spPr>
          <a:xfrm>
            <a:off x="7845552" y="4846320"/>
            <a:ext cx="3504895" cy="365760"/>
          </a:xfrm>
          <a:prstGeom prst="rect">
            <a:avLst/>
          </a:prstGeom>
          <a:noFill/>
          <a:ln/>
        </p:spPr>
        <p:txBody>
          <a:bodyPr wrap="square" lIns="0" tIns="0" rIns="0" bIns="0" rtlCol="0" anchor="ctr"/>
          <a:lstStyle/>
          <a:p>
            <a:pPr indent="0" marL="0">
              <a:buNone/>
            </a:pPr>
            <a:r>
              <a:rPr lang="en-US" sz="1600" b="1" dirty="0">
                <a:solidFill>
                  <a:srgbClr val="0B2B33"/>
                </a:solidFill>
                <a:latin typeface="Georgia" pitchFamily="34" charset="0"/>
                <a:ea typeface="Georgia" pitchFamily="34" charset="-122"/>
                <a:cs typeface="Georgia" pitchFamily="34" charset="-120"/>
              </a:rPr>
              <a:t>USD 326,28   </a:t>
            </a:r>
            <a:pPr indent="0" marL="0">
              <a:buNone/>
            </a:pPr>
            <a:r>
              <a:rPr lang="en-US" sz="1300" b="1" dirty="0">
                <a:solidFill>
                  <a:srgbClr val="12A594"/>
                </a:solidFill>
                <a:latin typeface="Georgia" pitchFamily="34" charset="0"/>
                <a:ea typeface="Georgia" pitchFamily="34" charset="-122"/>
                <a:cs typeface="Georgia" pitchFamily="34" charset="-120"/>
              </a:rPr>
              <a:t>+4,6%</a:t>
            </a:r>
            <a:endParaRPr lang="en-US" sz="1600" dirty="0"/>
          </a:p>
        </p:txBody>
      </p:sp>
      <p:sp>
        <p:nvSpPr>
          <p:cNvPr id="22" name="Text 18"/>
          <p:cNvSpPr/>
          <p:nvPr/>
        </p:nvSpPr>
        <p:spPr>
          <a:xfrm>
            <a:off x="7845552" y="5221224"/>
            <a:ext cx="3504895" cy="320040"/>
          </a:xfrm>
          <a:prstGeom prst="rect">
            <a:avLst/>
          </a:prstGeom>
          <a:noFill/>
          <a:ln/>
        </p:spPr>
        <p:txBody>
          <a:bodyPr wrap="square" lIns="0" tIns="0" rIns="0" bIns="0" rtlCol="0" anchor="ctr"/>
          <a:lstStyle/>
          <a:p>
            <a:pPr indent="0" marL="0">
              <a:buNone/>
            </a:pPr>
            <a:r>
              <a:rPr lang="en-US" sz="1000" dirty="0">
                <a:solidFill>
                  <a:srgbClr val="5C6F74"/>
                </a:solidFill>
                <a:latin typeface="Calibri" pitchFamily="34" charset="0"/>
                <a:ea typeface="Calibri" pitchFamily="34" charset="-122"/>
                <a:cs typeface="Calibri" pitchFamily="34" charset="-120"/>
              </a:rPr>
              <a:t>WACC −1pp · g 4,0% · FCF +10%</a:t>
            </a:r>
            <a:endParaRPr lang="en-US" sz="1000" dirty="0"/>
          </a:p>
        </p:txBody>
      </p:sp>
      <p:sp>
        <p:nvSpPr>
          <p:cNvPr id="23" name="Shape 19"/>
          <p:cNvSpPr/>
          <p:nvPr/>
        </p:nvSpPr>
        <p:spPr>
          <a:xfrm>
            <a:off x="7589520" y="5715000"/>
            <a:ext cx="3962095" cy="310896"/>
          </a:xfrm>
          <a:prstGeom prst="roundRect">
            <a:avLst>
              <a:gd name="adj" fmla="val 50000"/>
            </a:avLst>
          </a:prstGeom>
          <a:solidFill>
            <a:srgbClr val="F2A516"/>
          </a:solidFill>
          <a:ln/>
        </p:spPr>
      </p:sp>
      <p:pic>
        <p:nvPicPr>
          <p:cNvPr id="24" name="Image 2" descr="icons/useredit_ink.png">    </p:cNvPr>
          <p:cNvPicPr>
            <a:picLocks noChangeAspect="1"/>
          </p:cNvPicPr>
          <p:nvPr/>
        </p:nvPicPr>
        <p:blipFill>
          <a:blip r:embed="rId3"/>
          <a:stretch>
            <a:fillRect/>
          </a:stretch>
        </p:blipFill>
        <p:spPr>
          <a:xfrm>
            <a:off x="7699248" y="5788152"/>
            <a:ext cx="164592" cy="164592"/>
          </a:xfrm>
          <a:prstGeom prst="rect">
            <a:avLst/>
          </a:prstGeom>
        </p:spPr>
      </p:pic>
      <p:sp>
        <p:nvSpPr>
          <p:cNvPr id="25" name="Text 20"/>
          <p:cNvSpPr/>
          <p:nvPr/>
        </p:nvSpPr>
        <p:spPr>
          <a:xfrm>
            <a:off x="7918704" y="5715000"/>
            <a:ext cx="3578047" cy="310896"/>
          </a:xfrm>
          <a:prstGeom prst="rect">
            <a:avLst/>
          </a:prstGeom>
          <a:noFill/>
          <a:ln/>
        </p:spPr>
        <p:txBody>
          <a:bodyPr wrap="square" lIns="0" tIns="0" rIns="0" bIns="0" rtlCol="0" anchor="ctr"/>
          <a:lstStyle/>
          <a:p>
            <a:pPr algn="l" indent="0" marL="0">
              <a:buNone/>
            </a:pPr>
            <a:r>
              <a:rPr lang="en-US" sz="950" b="1" spc="50" kern="0" dirty="0">
                <a:solidFill>
                  <a:srgbClr val="3A2400"/>
                </a:solidFill>
                <a:latin typeface="Calibri" pitchFamily="34" charset="0"/>
                <a:ea typeface="Calibri" pitchFamily="34" charset="-122"/>
                <a:cs typeface="Calibri" pitchFamily="34" charset="-120"/>
              </a:rPr>
              <a:t>Rangos definidos por nosotros</a:t>
            </a:r>
            <a:endParaRPr lang="en-US" sz="950" dirty="0"/>
          </a:p>
        </p:txBody>
      </p:sp>
      <p:sp>
        <p:nvSpPr>
          <p:cNvPr id="26" name="Text 21"/>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7" name="Text 22"/>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search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REVERSE-DCF</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¿Qué crecimiento descuenta hoy el mercado?</a:t>
            </a:r>
            <a:endParaRPr lang="en-US" sz="3000" dirty="0"/>
          </a:p>
        </p:txBody>
      </p:sp>
      <p:sp>
        <p:nvSpPr>
          <p:cNvPr id="6" name="Shape 3"/>
          <p:cNvSpPr/>
          <p:nvPr/>
        </p:nvSpPr>
        <p:spPr>
          <a:xfrm>
            <a:off x="640080" y="1874520"/>
            <a:ext cx="676656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61_1.png">    </p:cNvPr>
          <p:cNvPicPr>
            <a:picLocks noChangeAspect="1"/>
          </p:cNvPicPr>
          <p:nvPr/>
        </p:nvPicPr>
        <p:blipFill>
          <a:blip r:embed="rId2"/>
          <a:stretch>
            <a:fillRect/>
          </a:stretch>
        </p:blipFill>
        <p:spPr>
          <a:xfrm>
            <a:off x="841248" y="2116471"/>
            <a:ext cx="6364224" cy="3448019"/>
          </a:xfrm>
          <a:prstGeom prst="rect">
            <a:avLst/>
          </a:prstGeom>
        </p:spPr>
      </p:pic>
      <p:sp>
        <p:nvSpPr>
          <p:cNvPr id="8" name="Shape 4"/>
          <p:cNvSpPr/>
          <p:nvPr/>
        </p:nvSpPr>
        <p:spPr>
          <a:xfrm>
            <a:off x="7772400" y="1874520"/>
            <a:ext cx="3779215" cy="1371600"/>
          </a:xfrm>
          <a:prstGeom prst="roundRect">
            <a:avLst>
              <a:gd name="adj" fmla="val 6667"/>
            </a:avLst>
          </a:prstGeom>
          <a:solidFill>
            <a:srgbClr val="FFFFFF"/>
          </a:solidFill>
          <a:ln/>
          <a:effectLst>
            <a:outerShdw sx="100000" sy="100000" kx="0" ky="0" algn="bl" rotWithShape="0" blurRad="114300" dist="38100" dir="8100000">
              <a:srgbClr val="0B2B33">
                <a:alpha val="14000"/>
              </a:srgbClr>
            </a:outerShdw>
          </a:effectLst>
        </p:spPr>
      </p:sp>
      <p:sp>
        <p:nvSpPr>
          <p:cNvPr id="9" name="Text 5"/>
          <p:cNvSpPr/>
          <p:nvPr/>
        </p:nvSpPr>
        <p:spPr>
          <a:xfrm>
            <a:off x="8046720" y="2057400"/>
            <a:ext cx="3230575" cy="640080"/>
          </a:xfrm>
          <a:prstGeom prst="rect">
            <a:avLst/>
          </a:prstGeom>
          <a:noFill/>
          <a:ln/>
        </p:spPr>
        <p:txBody>
          <a:bodyPr wrap="square" lIns="0" tIns="0" rIns="0" bIns="0" rtlCol="0" anchor="b"/>
          <a:lstStyle/>
          <a:p>
            <a:pPr algn="l" indent="0" marL="0">
              <a:buNone/>
            </a:pPr>
            <a:r>
              <a:rPr lang="en-US" sz="3400" b="1" dirty="0">
                <a:solidFill>
                  <a:srgbClr val="E5544E"/>
                </a:solidFill>
                <a:latin typeface="Georgia" pitchFamily="34" charset="0"/>
                <a:ea typeface="Georgia" pitchFamily="34" charset="-122"/>
                <a:cs typeface="Georgia" pitchFamily="34" charset="-120"/>
              </a:rPr>
              <a:t>5,40%</a:t>
            </a:r>
            <a:endParaRPr lang="en-US" sz="3400" dirty="0"/>
          </a:p>
        </p:txBody>
      </p:sp>
      <p:sp>
        <p:nvSpPr>
          <p:cNvPr id="10" name="Text 6"/>
          <p:cNvSpPr/>
          <p:nvPr/>
        </p:nvSpPr>
        <p:spPr>
          <a:xfrm>
            <a:off x="8046720" y="2697480"/>
            <a:ext cx="3230575" cy="36576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g implícito al precio de mercado</a:t>
            </a:r>
            <a:endParaRPr lang="en-US" sz="1100" dirty="0"/>
          </a:p>
        </p:txBody>
      </p:sp>
      <p:sp>
        <p:nvSpPr>
          <p:cNvPr id="11" name="Shape 7"/>
          <p:cNvSpPr/>
          <p:nvPr/>
        </p:nvSpPr>
        <p:spPr>
          <a:xfrm>
            <a:off x="7772400" y="3383280"/>
            <a:ext cx="3779215" cy="1371600"/>
          </a:xfrm>
          <a:prstGeom prst="roundRect">
            <a:avLst>
              <a:gd name="adj" fmla="val 6667"/>
            </a:avLst>
          </a:prstGeom>
          <a:solidFill>
            <a:srgbClr val="FFFFFF"/>
          </a:solidFill>
          <a:ln/>
          <a:effectLst>
            <a:outerShdw sx="100000" sy="100000" kx="0" ky="0" algn="bl" rotWithShape="0" blurRad="114300" dist="38100" dir="8100000">
              <a:srgbClr val="0B2B33">
                <a:alpha val="14000"/>
              </a:srgbClr>
            </a:outerShdw>
          </a:effectLst>
        </p:spPr>
      </p:sp>
      <p:sp>
        <p:nvSpPr>
          <p:cNvPr id="12" name="Text 8"/>
          <p:cNvSpPr/>
          <p:nvPr/>
        </p:nvSpPr>
        <p:spPr>
          <a:xfrm>
            <a:off x="8046720" y="3566160"/>
            <a:ext cx="3230575" cy="640080"/>
          </a:xfrm>
          <a:prstGeom prst="rect">
            <a:avLst/>
          </a:prstGeom>
          <a:noFill/>
          <a:ln/>
        </p:spPr>
        <p:txBody>
          <a:bodyPr wrap="square" lIns="0" tIns="0" rIns="0" bIns="0" rtlCol="0" anchor="b"/>
          <a:lstStyle/>
          <a:p>
            <a:pPr algn="l" indent="0" marL="0">
              <a:buNone/>
            </a:pPr>
            <a:r>
              <a:rPr lang="en-US" sz="3400" b="1" dirty="0">
                <a:solidFill>
                  <a:srgbClr val="12A594"/>
                </a:solidFill>
                <a:latin typeface="Georgia" pitchFamily="34" charset="0"/>
                <a:ea typeface="Georgia" pitchFamily="34" charset="-122"/>
                <a:cs typeface="Georgia" pitchFamily="34" charset="-120"/>
              </a:rPr>
              <a:t>3,00%</a:t>
            </a:r>
            <a:endParaRPr lang="en-US" sz="3400" dirty="0"/>
          </a:p>
        </p:txBody>
      </p:sp>
      <p:sp>
        <p:nvSpPr>
          <p:cNvPr id="13" name="Text 9"/>
          <p:cNvSpPr/>
          <p:nvPr/>
        </p:nvSpPr>
        <p:spPr>
          <a:xfrm>
            <a:off x="8046720" y="4206240"/>
            <a:ext cx="3230575" cy="36576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nuestro g del caso base</a:t>
            </a:r>
            <a:endParaRPr lang="en-US" sz="1100" dirty="0"/>
          </a:p>
        </p:txBody>
      </p:sp>
      <p:sp>
        <p:nvSpPr>
          <p:cNvPr id="14" name="Shape 10"/>
          <p:cNvSpPr/>
          <p:nvPr/>
        </p:nvSpPr>
        <p:spPr>
          <a:xfrm>
            <a:off x="7772400" y="4892040"/>
            <a:ext cx="3779215" cy="914400"/>
          </a:xfrm>
          <a:prstGeom prst="roundRect">
            <a:avLst>
              <a:gd name="adj" fmla="val 10000"/>
            </a:avLst>
          </a:prstGeom>
          <a:solidFill>
            <a:srgbClr val="FFFFFF"/>
          </a:solidFill>
          <a:ln/>
          <a:effectLst>
            <a:outerShdw sx="100000" sy="100000" kx="0" ky="0" algn="bl" rotWithShape="0" blurRad="114300" dist="38100" dir="8100000">
              <a:srgbClr val="0B2B33">
                <a:alpha val="14000"/>
              </a:srgbClr>
            </a:outerShdw>
          </a:effectLst>
        </p:spPr>
      </p:sp>
      <p:sp>
        <p:nvSpPr>
          <p:cNvPr id="15" name="Shape 11"/>
          <p:cNvSpPr/>
          <p:nvPr/>
        </p:nvSpPr>
        <p:spPr>
          <a:xfrm>
            <a:off x="8028432" y="5129784"/>
            <a:ext cx="420624" cy="420624"/>
          </a:xfrm>
          <a:prstGeom prst="ellipse">
            <a:avLst/>
          </a:prstGeom>
          <a:solidFill>
            <a:srgbClr val="F2A516"/>
          </a:solidFill>
          <a:ln/>
        </p:spPr>
      </p:sp>
      <p:pic>
        <p:nvPicPr>
          <p:cNvPr id="16" name="Image 2" descr="icons/bulb_white.png">    </p:cNvPr>
          <p:cNvPicPr>
            <a:picLocks noChangeAspect="1"/>
          </p:cNvPicPr>
          <p:nvPr/>
        </p:nvPicPr>
        <p:blipFill>
          <a:blip r:embed="rId3"/>
          <a:stretch>
            <a:fillRect/>
          </a:stretch>
        </p:blipFill>
        <p:spPr>
          <a:xfrm>
            <a:off x="8129016" y="5230368"/>
            <a:ext cx="219456" cy="219456"/>
          </a:xfrm>
          <a:prstGeom prst="rect">
            <a:avLst/>
          </a:prstGeom>
        </p:spPr>
      </p:pic>
      <p:sp>
        <p:nvSpPr>
          <p:cNvPr id="17" name="Text 12"/>
          <p:cNvSpPr/>
          <p:nvPr/>
        </p:nvSpPr>
        <p:spPr>
          <a:xfrm>
            <a:off x="8631936" y="5111496"/>
            <a:ext cx="270022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Lectura</a:t>
            </a:r>
            <a:endParaRPr lang="en-US" sz="1350" dirty="0"/>
          </a:p>
        </p:txBody>
      </p:sp>
      <p:sp>
        <p:nvSpPr>
          <p:cNvPr id="18" name="Text 13"/>
          <p:cNvSpPr/>
          <p:nvPr/>
        </p:nvSpPr>
        <p:spPr>
          <a:xfrm>
            <a:off x="8028432" y="5550408"/>
            <a:ext cx="3303727" cy="7315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El mercado descuenta un crecimiento 2,4 p.p. más agresivo que el nuestro.</a:t>
            </a:r>
            <a:endParaRPr lang="en-US" sz="1200" dirty="0"/>
          </a:p>
        </p:txBody>
      </p:sp>
      <p:sp>
        <p:nvSpPr>
          <p:cNvPr id="19" name="Text 14"/>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0" name="Text 15"/>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dice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SIMULACIÓN DE MONTE CARLO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10.000 valuaciones, una distribución</a:t>
            </a:r>
            <a:endParaRPr lang="en-US" sz="3000" dirty="0"/>
          </a:p>
        </p:txBody>
      </p:sp>
      <p:sp>
        <p:nvSpPr>
          <p:cNvPr id="6" name="Shape 3"/>
          <p:cNvSpPr/>
          <p:nvPr/>
        </p:nvSpPr>
        <p:spPr>
          <a:xfrm>
            <a:off x="640080" y="1874520"/>
            <a:ext cx="694944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63_1.png">    </p:cNvPr>
          <p:cNvPicPr>
            <a:picLocks noChangeAspect="1"/>
          </p:cNvPicPr>
          <p:nvPr/>
        </p:nvPicPr>
        <p:blipFill>
          <a:blip r:embed="rId2"/>
          <a:stretch>
            <a:fillRect/>
          </a:stretch>
        </p:blipFill>
        <p:spPr>
          <a:xfrm>
            <a:off x="868680" y="2230834"/>
            <a:ext cx="6492240" cy="3219293"/>
          </a:xfrm>
          <a:prstGeom prst="rect">
            <a:avLst/>
          </a:prstGeom>
        </p:spPr>
      </p:pic>
      <p:sp>
        <p:nvSpPr>
          <p:cNvPr id="8" name="Shape 4"/>
          <p:cNvSpPr/>
          <p:nvPr/>
        </p:nvSpPr>
        <p:spPr>
          <a:xfrm>
            <a:off x="7955280" y="1874520"/>
            <a:ext cx="3596335" cy="1280160"/>
          </a:xfrm>
          <a:prstGeom prst="roundRect">
            <a:avLst>
              <a:gd name="adj" fmla="val 7143"/>
            </a:avLst>
          </a:prstGeom>
          <a:solidFill>
            <a:srgbClr val="FFFFFF"/>
          </a:solidFill>
          <a:ln/>
          <a:effectLst>
            <a:outerShdw sx="100000" sy="100000" kx="0" ky="0" algn="bl" rotWithShape="0" blurRad="114300" dist="38100" dir="8100000">
              <a:srgbClr val="0B2B33">
                <a:alpha val="14000"/>
              </a:srgbClr>
            </a:outerShdw>
          </a:effectLst>
        </p:spPr>
      </p:sp>
      <p:sp>
        <p:nvSpPr>
          <p:cNvPr id="9" name="Text 5"/>
          <p:cNvSpPr/>
          <p:nvPr/>
        </p:nvSpPr>
        <p:spPr>
          <a:xfrm>
            <a:off x="8229600" y="2029968"/>
            <a:ext cx="3047695" cy="548640"/>
          </a:xfrm>
          <a:prstGeom prst="rect">
            <a:avLst/>
          </a:prstGeom>
          <a:noFill/>
          <a:ln/>
        </p:spPr>
        <p:txBody>
          <a:bodyPr wrap="square" lIns="0" tIns="0" rIns="0" bIns="0" rtlCol="0" anchor="b"/>
          <a:lstStyle/>
          <a:p>
            <a:pPr algn="l" indent="0" marL="0">
              <a:buNone/>
            </a:pPr>
            <a:r>
              <a:rPr lang="en-US" sz="2800" b="1" dirty="0">
                <a:solidFill>
                  <a:srgbClr val="0B2B33"/>
                </a:solidFill>
                <a:latin typeface="Georgia" pitchFamily="34" charset="0"/>
                <a:ea typeface="Georgia" pitchFamily="34" charset="-122"/>
                <a:cs typeface="Georgia" pitchFamily="34" charset="-120"/>
              </a:rPr>
              <a:t>USD 207,9</a:t>
            </a:r>
            <a:endParaRPr lang="en-US" sz="2800" dirty="0"/>
          </a:p>
        </p:txBody>
      </p:sp>
      <p:sp>
        <p:nvSpPr>
          <p:cNvPr id="10" name="Text 6"/>
          <p:cNvSpPr/>
          <p:nvPr/>
        </p:nvSpPr>
        <p:spPr>
          <a:xfrm>
            <a:off x="8229600" y="2578608"/>
            <a:ext cx="3047695" cy="36576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Precio mediano (P50)</a:t>
            </a:r>
            <a:endParaRPr lang="en-US" sz="1100" dirty="0"/>
          </a:p>
        </p:txBody>
      </p:sp>
      <p:sp>
        <p:nvSpPr>
          <p:cNvPr id="11" name="Shape 7"/>
          <p:cNvSpPr/>
          <p:nvPr/>
        </p:nvSpPr>
        <p:spPr>
          <a:xfrm>
            <a:off x="7955280" y="3246120"/>
            <a:ext cx="3596335" cy="1280160"/>
          </a:xfrm>
          <a:prstGeom prst="roundRect">
            <a:avLst>
              <a:gd name="adj" fmla="val 7143"/>
            </a:avLst>
          </a:prstGeom>
          <a:solidFill>
            <a:srgbClr val="FFFFFF"/>
          </a:solidFill>
          <a:ln/>
          <a:effectLst>
            <a:outerShdw sx="100000" sy="100000" kx="0" ky="0" algn="bl" rotWithShape="0" blurRad="114300" dist="38100" dir="8100000">
              <a:srgbClr val="0B2B33">
                <a:alpha val="14000"/>
              </a:srgbClr>
            </a:outerShdw>
          </a:effectLst>
        </p:spPr>
      </p:sp>
      <p:sp>
        <p:nvSpPr>
          <p:cNvPr id="12" name="Text 8"/>
          <p:cNvSpPr/>
          <p:nvPr/>
        </p:nvSpPr>
        <p:spPr>
          <a:xfrm>
            <a:off x="8229600" y="3401568"/>
            <a:ext cx="3047695" cy="548640"/>
          </a:xfrm>
          <a:prstGeom prst="rect">
            <a:avLst/>
          </a:prstGeom>
          <a:noFill/>
          <a:ln/>
        </p:spPr>
        <p:txBody>
          <a:bodyPr wrap="square" lIns="0" tIns="0" rIns="0" bIns="0" rtlCol="0" anchor="b"/>
          <a:lstStyle/>
          <a:p>
            <a:pPr algn="l" indent="0" marL="0">
              <a:buNone/>
            </a:pPr>
            <a:r>
              <a:rPr lang="en-US" sz="2800" b="1" dirty="0">
                <a:solidFill>
                  <a:srgbClr val="E5544E"/>
                </a:solidFill>
                <a:latin typeface="Georgia" pitchFamily="34" charset="0"/>
                <a:ea typeface="Georgia" pitchFamily="34" charset="-122"/>
                <a:cs typeface="Georgia" pitchFamily="34" charset="-120"/>
              </a:rPr>
              <a:t>0,3%</a:t>
            </a:r>
            <a:endParaRPr lang="en-US" sz="2800" dirty="0"/>
          </a:p>
        </p:txBody>
      </p:sp>
      <p:sp>
        <p:nvSpPr>
          <p:cNvPr id="13" name="Text 9"/>
          <p:cNvSpPr/>
          <p:nvPr/>
        </p:nvSpPr>
        <p:spPr>
          <a:xfrm>
            <a:off x="8229600" y="3950208"/>
            <a:ext cx="3047695" cy="457200"/>
          </a:xfrm>
          <a:prstGeom prst="rect">
            <a:avLst/>
          </a:prstGeom>
          <a:noFill/>
          <a:ln/>
        </p:spPr>
        <p:txBody>
          <a:bodyPr wrap="square" lIns="0" tIns="0" rIns="0" bIns="0" rtlCol="0" anchor="t"/>
          <a:lstStyle/>
          <a:p>
            <a:pPr algn="l" indent="0" marL="0">
              <a:lnSpc>
                <a:spcPct val="98000"/>
              </a:lnSpc>
              <a:buNone/>
            </a:pPr>
            <a:r>
              <a:rPr lang="en-US" sz="1100" dirty="0">
                <a:solidFill>
                  <a:srgbClr val="5C6F74"/>
                </a:solidFill>
                <a:latin typeface="Calibri" pitchFamily="34" charset="0"/>
                <a:ea typeface="Calibri" pitchFamily="34" charset="-122"/>
                <a:cs typeface="Calibri" pitchFamily="34" charset="-120"/>
              </a:rPr>
              <a:t>P(valor justo &gt; precio de mercado)</a:t>
            </a:r>
            <a:endParaRPr lang="en-US" sz="1100" dirty="0"/>
          </a:p>
        </p:txBody>
      </p:sp>
      <p:sp>
        <p:nvSpPr>
          <p:cNvPr id="14" name="Shape 10"/>
          <p:cNvSpPr/>
          <p:nvPr/>
        </p:nvSpPr>
        <p:spPr>
          <a:xfrm>
            <a:off x="7955280" y="4663440"/>
            <a:ext cx="3596335" cy="1143000"/>
          </a:xfrm>
          <a:prstGeom prst="roundRect">
            <a:avLst>
              <a:gd name="adj" fmla="val 8000"/>
            </a:avLst>
          </a:prstGeom>
          <a:solidFill>
            <a:srgbClr val="FFFFFF"/>
          </a:solidFill>
          <a:ln/>
          <a:effectLst>
            <a:outerShdw sx="100000" sy="100000" kx="0" ky="0" algn="bl" rotWithShape="0" blurRad="114300" dist="38100" dir="8100000">
              <a:srgbClr val="0B2B33">
                <a:alpha val="14000"/>
              </a:srgbClr>
            </a:outerShdw>
          </a:effectLst>
        </p:spPr>
      </p:sp>
      <p:sp>
        <p:nvSpPr>
          <p:cNvPr id="15" name="Shape 11"/>
          <p:cNvSpPr/>
          <p:nvPr/>
        </p:nvSpPr>
        <p:spPr>
          <a:xfrm>
            <a:off x="8211312" y="4901184"/>
            <a:ext cx="420624" cy="420624"/>
          </a:xfrm>
          <a:prstGeom prst="ellipse">
            <a:avLst/>
          </a:prstGeom>
          <a:solidFill>
            <a:srgbClr val="12A594"/>
          </a:solidFill>
          <a:ln/>
        </p:spPr>
      </p:sp>
      <p:pic>
        <p:nvPicPr>
          <p:cNvPr id="16" name="Image 2" descr="icons/dice_white.png">    </p:cNvPr>
          <p:cNvPicPr>
            <a:picLocks noChangeAspect="1"/>
          </p:cNvPicPr>
          <p:nvPr/>
        </p:nvPicPr>
        <p:blipFill>
          <a:blip r:embed="rId3"/>
          <a:stretch>
            <a:fillRect/>
          </a:stretch>
        </p:blipFill>
        <p:spPr>
          <a:xfrm>
            <a:off x="8311896" y="5001768"/>
            <a:ext cx="219456" cy="219456"/>
          </a:xfrm>
          <a:prstGeom prst="rect">
            <a:avLst/>
          </a:prstGeom>
        </p:spPr>
      </p:pic>
      <p:sp>
        <p:nvSpPr>
          <p:cNvPr id="17" name="Text 12"/>
          <p:cNvSpPr/>
          <p:nvPr/>
        </p:nvSpPr>
        <p:spPr>
          <a:xfrm>
            <a:off x="8814816" y="4882896"/>
            <a:ext cx="251734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Intervalo 90%</a:t>
            </a:r>
            <a:endParaRPr lang="en-US" sz="1350" dirty="0"/>
          </a:p>
        </p:txBody>
      </p:sp>
      <p:sp>
        <p:nvSpPr>
          <p:cNvPr id="18" name="Text 13"/>
          <p:cNvSpPr/>
          <p:nvPr/>
        </p:nvSpPr>
        <p:spPr>
          <a:xfrm>
            <a:off x="8211312" y="5321808"/>
            <a:ext cx="3120847" cy="30175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USD 169,8 – 262,5. Dejamos variar WACC, g y un multiplicador del FCF dentro de rangos razonables.</a:t>
            </a:r>
            <a:endParaRPr lang="en-US" sz="1200" dirty="0"/>
          </a:p>
        </p:txBody>
      </p:sp>
      <p:sp>
        <p:nvSpPr>
          <p:cNvPr id="19" name="Text 14"/>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0" name="Text 15"/>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wind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TORNADO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¿Qué variable mueve más el precio?</a:t>
            </a:r>
            <a:endParaRPr lang="en-US" sz="3000" dirty="0"/>
          </a:p>
        </p:txBody>
      </p:sp>
      <p:sp>
        <p:nvSpPr>
          <p:cNvPr id="6" name="Shape 3"/>
          <p:cNvSpPr/>
          <p:nvPr/>
        </p:nvSpPr>
        <p:spPr>
          <a:xfrm>
            <a:off x="640080" y="1874520"/>
            <a:ext cx="713232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65_0.png">    </p:cNvPr>
          <p:cNvPicPr>
            <a:picLocks noChangeAspect="1"/>
          </p:cNvPicPr>
          <p:nvPr/>
        </p:nvPicPr>
        <p:blipFill>
          <a:blip r:embed="rId2"/>
          <a:stretch>
            <a:fillRect/>
          </a:stretch>
        </p:blipFill>
        <p:spPr>
          <a:xfrm>
            <a:off x="868680" y="2340345"/>
            <a:ext cx="6675120" cy="3000270"/>
          </a:xfrm>
          <a:prstGeom prst="rect">
            <a:avLst/>
          </a:prstGeom>
        </p:spPr>
      </p:pic>
      <p:sp>
        <p:nvSpPr>
          <p:cNvPr id="8" name="Shape 4"/>
          <p:cNvSpPr/>
          <p:nvPr/>
        </p:nvSpPr>
        <p:spPr>
          <a:xfrm>
            <a:off x="8138160" y="1874520"/>
            <a:ext cx="3413455" cy="960120"/>
          </a:xfrm>
          <a:prstGeom prst="roundRect">
            <a:avLst>
              <a:gd name="adj" fmla="val 9524"/>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8394192" y="2112264"/>
            <a:ext cx="420624" cy="420624"/>
          </a:xfrm>
          <a:prstGeom prst="ellipse">
            <a:avLst/>
          </a:prstGeom>
          <a:solidFill>
            <a:srgbClr val="E5544E"/>
          </a:solidFill>
          <a:ln/>
        </p:spPr>
      </p:sp>
      <p:pic>
        <p:nvPicPr>
          <p:cNvPr id="10" name="Image 2" descr="icons/wind_white.png">    </p:cNvPr>
          <p:cNvPicPr>
            <a:picLocks noChangeAspect="1"/>
          </p:cNvPicPr>
          <p:nvPr/>
        </p:nvPicPr>
        <p:blipFill>
          <a:blip r:embed="rId3"/>
          <a:stretch>
            <a:fillRect/>
          </a:stretch>
        </p:blipFill>
        <p:spPr>
          <a:xfrm>
            <a:off x="8494776" y="2212848"/>
            <a:ext cx="219456" cy="219456"/>
          </a:xfrm>
          <a:prstGeom prst="rect">
            <a:avLst/>
          </a:prstGeom>
        </p:spPr>
      </p:pic>
      <p:sp>
        <p:nvSpPr>
          <p:cNvPr id="11" name="Text 6"/>
          <p:cNvSpPr/>
          <p:nvPr/>
        </p:nvSpPr>
        <p:spPr>
          <a:xfrm>
            <a:off x="8997696" y="2093976"/>
            <a:ext cx="2334463" cy="365760"/>
          </a:xfrm>
          <a:prstGeom prst="rect">
            <a:avLst/>
          </a:prstGeom>
          <a:noFill/>
          <a:ln/>
        </p:spPr>
        <p:txBody>
          <a:bodyPr wrap="square" lIns="0" tIns="0" rIns="0" bIns="0" rtlCol="0" anchor="t"/>
          <a:lstStyle/>
          <a:p>
            <a:pPr algn="l" indent="0" marL="0">
              <a:buNone/>
            </a:pPr>
            <a:r>
              <a:rPr lang="en-US" sz="1350" b="1" dirty="0">
                <a:solidFill>
                  <a:srgbClr val="E5544E"/>
                </a:solidFill>
                <a:latin typeface="Calibri" pitchFamily="34" charset="0"/>
                <a:ea typeface="Calibri" pitchFamily="34" charset="-122"/>
                <a:cs typeface="Calibri" pitchFamily="34" charset="-120"/>
              </a:rPr>
              <a:t>1 · WACC</a:t>
            </a:r>
            <a:endParaRPr lang="en-US" sz="1350" dirty="0"/>
          </a:p>
        </p:txBody>
      </p:sp>
      <p:sp>
        <p:nvSpPr>
          <p:cNvPr id="12" name="Text 7"/>
          <p:cNvSpPr/>
          <p:nvPr/>
        </p:nvSpPr>
        <p:spPr>
          <a:xfrm>
            <a:off x="8394192" y="2532888"/>
            <a:ext cx="2937967" cy="1188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La palanca dominante: la barra más larga.</a:t>
            </a:r>
            <a:endParaRPr lang="en-US" sz="1200" dirty="0"/>
          </a:p>
        </p:txBody>
      </p:sp>
      <p:sp>
        <p:nvSpPr>
          <p:cNvPr id="13" name="Shape 8"/>
          <p:cNvSpPr/>
          <p:nvPr/>
        </p:nvSpPr>
        <p:spPr>
          <a:xfrm>
            <a:off x="8138160" y="2926080"/>
            <a:ext cx="3413455" cy="960120"/>
          </a:xfrm>
          <a:prstGeom prst="roundRect">
            <a:avLst>
              <a:gd name="adj" fmla="val 9524"/>
            </a:avLst>
          </a:prstGeom>
          <a:solidFill>
            <a:srgbClr val="FFFFFF"/>
          </a:solidFill>
          <a:ln/>
          <a:effectLst>
            <a:outerShdw sx="100000" sy="100000" kx="0" ky="0" algn="bl" rotWithShape="0" blurRad="114300" dist="38100" dir="8100000">
              <a:srgbClr val="0B2B33">
                <a:alpha val="14000"/>
              </a:srgbClr>
            </a:outerShdw>
          </a:effectLst>
        </p:spPr>
      </p:sp>
      <p:sp>
        <p:nvSpPr>
          <p:cNvPr id="14" name="Shape 9"/>
          <p:cNvSpPr/>
          <p:nvPr/>
        </p:nvSpPr>
        <p:spPr>
          <a:xfrm>
            <a:off x="8394192" y="3163824"/>
            <a:ext cx="420624" cy="420624"/>
          </a:xfrm>
          <a:prstGeom prst="ellipse">
            <a:avLst/>
          </a:prstGeom>
          <a:solidFill>
            <a:srgbClr val="F2A516"/>
          </a:solidFill>
          <a:ln/>
        </p:spPr>
      </p:sp>
      <p:pic>
        <p:nvPicPr>
          <p:cNvPr id="15" name="Image 3" descr="icons/infinity_white.png">    </p:cNvPr>
          <p:cNvPicPr>
            <a:picLocks noChangeAspect="1"/>
          </p:cNvPicPr>
          <p:nvPr/>
        </p:nvPicPr>
        <p:blipFill>
          <a:blip r:embed="rId4"/>
          <a:stretch>
            <a:fillRect/>
          </a:stretch>
        </p:blipFill>
        <p:spPr>
          <a:xfrm>
            <a:off x="8494776" y="3264408"/>
            <a:ext cx="219456" cy="219456"/>
          </a:xfrm>
          <a:prstGeom prst="rect">
            <a:avLst/>
          </a:prstGeom>
        </p:spPr>
      </p:pic>
      <p:sp>
        <p:nvSpPr>
          <p:cNvPr id="16" name="Text 10"/>
          <p:cNvSpPr/>
          <p:nvPr/>
        </p:nvSpPr>
        <p:spPr>
          <a:xfrm>
            <a:off x="8997696" y="3145536"/>
            <a:ext cx="233446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2 · g</a:t>
            </a:r>
            <a:endParaRPr lang="en-US" sz="1350" dirty="0"/>
          </a:p>
        </p:txBody>
      </p:sp>
      <p:sp>
        <p:nvSpPr>
          <p:cNvPr id="17" name="Text 11"/>
          <p:cNvSpPr/>
          <p:nvPr/>
        </p:nvSpPr>
        <p:spPr>
          <a:xfrm>
            <a:off x="8394192" y="3584448"/>
            <a:ext cx="2937967" cy="1188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El crecimiento perpetuo, segundo en impacto.</a:t>
            </a:r>
            <a:endParaRPr lang="en-US" sz="1200" dirty="0"/>
          </a:p>
        </p:txBody>
      </p:sp>
      <p:sp>
        <p:nvSpPr>
          <p:cNvPr id="18" name="Shape 12"/>
          <p:cNvSpPr/>
          <p:nvPr/>
        </p:nvSpPr>
        <p:spPr>
          <a:xfrm>
            <a:off x="8138160" y="3977640"/>
            <a:ext cx="3413455" cy="960120"/>
          </a:xfrm>
          <a:prstGeom prst="roundRect">
            <a:avLst>
              <a:gd name="adj" fmla="val 9524"/>
            </a:avLst>
          </a:prstGeom>
          <a:solidFill>
            <a:srgbClr val="FFFFFF"/>
          </a:solidFill>
          <a:ln/>
          <a:effectLst>
            <a:outerShdw sx="100000" sy="100000" kx="0" ky="0" algn="bl" rotWithShape="0" blurRad="114300" dist="38100" dir="8100000">
              <a:srgbClr val="0B2B33">
                <a:alpha val="14000"/>
              </a:srgbClr>
            </a:outerShdw>
          </a:effectLst>
        </p:spPr>
      </p:sp>
      <p:sp>
        <p:nvSpPr>
          <p:cNvPr id="19" name="Shape 13"/>
          <p:cNvSpPr/>
          <p:nvPr/>
        </p:nvSpPr>
        <p:spPr>
          <a:xfrm>
            <a:off x="8394192" y="4215384"/>
            <a:ext cx="420624" cy="420624"/>
          </a:xfrm>
          <a:prstGeom prst="ellipse">
            <a:avLst/>
          </a:prstGeom>
          <a:solidFill>
            <a:srgbClr val="12A594"/>
          </a:solidFill>
          <a:ln/>
        </p:spPr>
      </p:sp>
      <p:pic>
        <p:nvPicPr>
          <p:cNvPr id="20" name="Image 4" descr="icons/water_white.png">    </p:cNvPr>
          <p:cNvPicPr>
            <a:picLocks noChangeAspect="1"/>
          </p:cNvPicPr>
          <p:nvPr/>
        </p:nvPicPr>
        <p:blipFill>
          <a:blip r:embed="rId5"/>
          <a:stretch>
            <a:fillRect/>
          </a:stretch>
        </p:blipFill>
        <p:spPr>
          <a:xfrm>
            <a:off x="8494776" y="4315968"/>
            <a:ext cx="219456" cy="219456"/>
          </a:xfrm>
          <a:prstGeom prst="rect">
            <a:avLst/>
          </a:prstGeom>
        </p:spPr>
      </p:pic>
      <p:sp>
        <p:nvSpPr>
          <p:cNvPr id="21" name="Text 14"/>
          <p:cNvSpPr/>
          <p:nvPr/>
        </p:nvSpPr>
        <p:spPr>
          <a:xfrm>
            <a:off x="8997696" y="4197096"/>
            <a:ext cx="233446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3 · FCF</a:t>
            </a:r>
            <a:endParaRPr lang="en-US" sz="1350" dirty="0"/>
          </a:p>
        </p:txBody>
      </p:sp>
      <p:sp>
        <p:nvSpPr>
          <p:cNvPr id="22" name="Text 15"/>
          <p:cNvSpPr/>
          <p:nvPr/>
        </p:nvSpPr>
        <p:spPr>
          <a:xfrm>
            <a:off x="8394192" y="4636008"/>
            <a:ext cx="2937967" cy="1188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El nivel de flujos, tercero.</a:t>
            </a:r>
            <a:endParaRPr lang="en-US" sz="1200" dirty="0"/>
          </a:p>
        </p:txBody>
      </p:sp>
      <p:sp>
        <p:nvSpPr>
          <p:cNvPr id="23" name="Text 16"/>
          <p:cNvSpPr/>
          <p:nvPr/>
        </p:nvSpPr>
        <p:spPr>
          <a:xfrm>
            <a:off x="8138160" y="5029200"/>
            <a:ext cx="3413455" cy="777240"/>
          </a:xfrm>
          <a:prstGeom prst="rect">
            <a:avLst/>
          </a:prstGeom>
          <a:noFill/>
          <a:ln/>
        </p:spPr>
        <p:txBody>
          <a:bodyPr wrap="square" lIns="0" tIns="0" rIns="0" bIns="0" rtlCol="0" anchor="ctr"/>
          <a:lstStyle/>
          <a:p>
            <a:pPr indent="0" marL="0">
              <a:lnSpc>
                <a:spcPct val="105000"/>
              </a:lnSpc>
              <a:buNone/>
            </a:pPr>
            <a:r>
              <a:rPr lang="en-US" sz="1150" i="1" dirty="0">
                <a:solidFill>
                  <a:srgbClr val="5C6F74"/>
                </a:solidFill>
                <a:latin typeface="Calibri" pitchFamily="34" charset="0"/>
                <a:ea typeface="Calibri" pitchFamily="34" charset="-122"/>
                <a:cs typeface="Calibri" pitchFamily="34" charset="-120"/>
              </a:rPr>
              <a:t>WACC y g impactan directo sobre el valor terminal: por eso dominan. Es donde hay que afinar los supuestos.</a:t>
            </a:r>
            <a:endParaRPr lang="en-US" sz="1150" dirty="0"/>
          </a:p>
        </p:txBody>
      </p:sp>
      <p:sp>
        <p:nvSpPr>
          <p:cNvPr id="24" name="Text 17"/>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5" name="Text 18"/>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ruler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FOOTBALL FIELD</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Cinco métodos, una misma dirección</a:t>
            </a:r>
            <a:endParaRPr lang="en-US" sz="3000" dirty="0"/>
          </a:p>
        </p:txBody>
      </p:sp>
      <p:sp>
        <p:nvSpPr>
          <p:cNvPr id="6" name="Shape 3"/>
          <p:cNvSpPr/>
          <p:nvPr/>
        </p:nvSpPr>
        <p:spPr>
          <a:xfrm>
            <a:off x="640080" y="1874520"/>
            <a:ext cx="749808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67_0.png">    </p:cNvPr>
          <p:cNvPicPr>
            <a:picLocks noChangeAspect="1"/>
          </p:cNvPicPr>
          <p:nvPr/>
        </p:nvPicPr>
        <p:blipFill>
          <a:blip r:embed="rId2"/>
          <a:stretch>
            <a:fillRect/>
          </a:stretch>
        </p:blipFill>
        <p:spPr>
          <a:xfrm>
            <a:off x="1110467" y="2075688"/>
            <a:ext cx="6557305" cy="3529584"/>
          </a:xfrm>
          <a:prstGeom prst="rect">
            <a:avLst/>
          </a:prstGeom>
        </p:spPr>
      </p:pic>
      <p:sp>
        <p:nvSpPr>
          <p:cNvPr id="8" name="Shape 4"/>
          <p:cNvSpPr/>
          <p:nvPr/>
        </p:nvSpPr>
        <p:spPr>
          <a:xfrm>
            <a:off x="8503920" y="1874520"/>
            <a:ext cx="3047695" cy="1874520"/>
          </a:xfrm>
          <a:prstGeom prst="roundRect">
            <a:avLst>
              <a:gd name="adj" fmla="val 4878"/>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8759952" y="2112264"/>
            <a:ext cx="420624" cy="420624"/>
          </a:xfrm>
          <a:prstGeom prst="ellipse">
            <a:avLst/>
          </a:prstGeom>
          <a:solidFill>
            <a:srgbClr val="12A594"/>
          </a:solidFill>
          <a:ln/>
        </p:spPr>
      </p:sp>
      <p:pic>
        <p:nvPicPr>
          <p:cNvPr id="10" name="Image 2" descr="icons/ruler_white.png">    </p:cNvPr>
          <p:cNvPicPr>
            <a:picLocks noChangeAspect="1"/>
          </p:cNvPicPr>
          <p:nvPr/>
        </p:nvPicPr>
        <p:blipFill>
          <a:blip r:embed="rId3"/>
          <a:stretch>
            <a:fillRect/>
          </a:stretch>
        </p:blipFill>
        <p:spPr>
          <a:xfrm>
            <a:off x="8860536" y="2212848"/>
            <a:ext cx="219456" cy="219456"/>
          </a:xfrm>
          <a:prstGeom prst="rect">
            <a:avLst/>
          </a:prstGeom>
        </p:spPr>
      </p:pic>
      <p:sp>
        <p:nvSpPr>
          <p:cNvPr id="11" name="Text 6"/>
          <p:cNvSpPr/>
          <p:nvPr/>
        </p:nvSpPr>
        <p:spPr>
          <a:xfrm>
            <a:off x="9363456" y="2093976"/>
            <a:ext cx="196870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Cómo se lee</a:t>
            </a:r>
            <a:endParaRPr lang="en-US" sz="1350" dirty="0"/>
          </a:p>
        </p:txBody>
      </p:sp>
      <p:sp>
        <p:nvSpPr>
          <p:cNvPr id="12" name="Text 7"/>
          <p:cNvSpPr/>
          <p:nvPr/>
        </p:nvSpPr>
        <p:spPr>
          <a:xfrm>
            <a:off x="8759952" y="2532888"/>
            <a:ext cx="2572207" cy="10332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Cada barra es un rango por método. La línea roja (mercado) cae a la derecha de casi todos: señal de sobrevaluación.</a:t>
            </a:r>
            <a:endParaRPr lang="en-US" sz="1200" dirty="0"/>
          </a:p>
        </p:txBody>
      </p:sp>
      <p:sp>
        <p:nvSpPr>
          <p:cNvPr id="13" name="Shape 8"/>
          <p:cNvSpPr/>
          <p:nvPr/>
        </p:nvSpPr>
        <p:spPr>
          <a:xfrm>
            <a:off x="8503920" y="3886200"/>
            <a:ext cx="3047695" cy="1920240"/>
          </a:xfrm>
          <a:prstGeom prst="roundRect">
            <a:avLst>
              <a:gd name="adj" fmla="val 4762"/>
            </a:avLst>
          </a:prstGeom>
          <a:solidFill>
            <a:srgbClr val="FFFFFF"/>
          </a:solidFill>
          <a:ln/>
          <a:effectLst>
            <a:outerShdw sx="100000" sy="100000" kx="0" ky="0" algn="bl" rotWithShape="0" blurRad="114300" dist="38100" dir="8100000">
              <a:srgbClr val="0B2B33">
                <a:alpha val="14000"/>
              </a:srgbClr>
            </a:outerShdw>
          </a:effectLst>
        </p:spPr>
      </p:sp>
      <p:sp>
        <p:nvSpPr>
          <p:cNvPr id="14" name="Shape 9"/>
          <p:cNvSpPr/>
          <p:nvPr/>
        </p:nvSpPr>
        <p:spPr>
          <a:xfrm>
            <a:off x="8759952" y="4123944"/>
            <a:ext cx="420624" cy="420624"/>
          </a:xfrm>
          <a:prstGeom prst="ellipse">
            <a:avLst/>
          </a:prstGeom>
          <a:solidFill>
            <a:srgbClr val="F2A516"/>
          </a:solidFill>
          <a:ln/>
        </p:spPr>
      </p:sp>
      <p:pic>
        <p:nvPicPr>
          <p:cNvPr id="15" name="Image 3" descr="icons/check_white.png">    </p:cNvPr>
          <p:cNvPicPr>
            <a:picLocks noChangeAspect="1"/>
          </p:cNvPicPr>
          <p:nvPr/>
        </p:nvPicPr>
        <p:blipFill>
          <a:blip r:embed="rId4"/>
          <a:stretch>
            <a:fillRect/>
          </a:stretch>
        </p:blipFill>
        <p:spPr>
          <a:xfrm>
            <a:off x="8860536" y="4224528"/>
            <a:ext cx="219456" cy="219456"/>
          </a:xfrm>
          <a:prstGeom prst="rect">
            <a:avLst/>
          </a:prstGeom>
        </p:spPr>
      </p:pic>
      <p:sp>
        <p:nvSpPr>
          <p:cNvPr id="16" name="Text 10"/>
          <p:cNvSpPr/>
          <p:nvPr/>
        </p:nvSpPr>
        <p:spPr>
          <a:xfrm>
            <a:off x="9363456" y="4105656"/>
            <a:ext cx="1968703" cy="365760"/>
          </a:xfrm>
          <a:prstGeom prst="rect">
            <a:avLst/>
          </a:prstGeom>
          <a:noFill/>
          <a:ln/>
        </p:spPr>
        <p:txBody>
          <a:bodyPr wrap="square" lIns="0" tIns="0" rIns="0" bIns="0" rtlCol="0" anchor="t"/>
          <a:lstStyle/>
          <a:p>
            <a:pPr algn="l" indent="0" marL="0">
              <a:buNone/>
            </a:pPr>
            <a:r>
              <a:rPr lang="en-US" sz="1350" b="1" dirty="0">
                <a:solidFill>
                  <a:srgbClr val="F2A516"/>
                </a:solidFill>
                <a:latin typeface="Calibri" pitchFamily="34" charset="0"/>
                <a:ea typeface="Calibri" pitchFamily="34" charset="-122"/>
                <a:cs typeface="Calibri" pitchFamily="34" charset="-120"/>
              </a:rPr>
              <a:t>Por qué importa</a:t>
            </a:r>
            <a:endParaRPr lang="en-US" sz="1350" dirty="0"/>
          </a:p>
        </p:txBody>
      </p:sp>
      <p:sp>
        <p:nvSpPr>
          <p:cNvPr id="17" name="Text 11"/>
          <p:cNvSpPr/>
          <p:nvPr/>
        </p:nvSpPr>
        <p:spPr>
          <a:xfrm>
            <a:off x="8759952" y="4544568"/>
            <a:ext cx="2572207" cy="107899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No nos apoyamos en un solo método. Que DCF y múltiplos coincidan hace la conclusión más robusta.</a:t>
            </a:r>
            <a:endParaRPr lang="en-US" sz="1200" dirty="0"/>
          </a:p>
        </p:txBody>
      </p:sp>
      <p:sp>
        <p:nvSpPr>
          <p:cNvPr id="18" name="Text 12"/>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9" name="Text 13"/>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12A594"/>
          </a:solidFill>
          <a:ln/>
        </p:spPr>
      </p:sp>
      <p:pic>
        <p:nvPicPr>
          <p:cNvPr id="3" name="Image 0" descr="icons/calc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12A594"/>
                </a:solidFill>
                <a:latin typeface="Calibri" pitchFamily="34" charset="0"/>
                <a:ea typeface="Calibri" pitchFamily="34" charset="-122"/>
                <a:cs typeface="Calibri" pitchFamily="34" charset="-120"/>
              </a:rPr>
              <a:t>RESUMEN EJECUTIVO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Todo el modelo en una pantalla</a:t>
            </a:r>
            <a:endParaRPr lang="en-US" sz="3000" dirty="0"/>
          </a:p>
        </p:txBody>
      </p:sp>
      <p:sp>
        <p:nvSpPr>
          <p:cNvPr id="6" name="Shape 3"/>
          <p:cNvSpPr/>
          <p:nvPr/>
        </p:nvSpPr>
        <p:spPr>
          <a:xfrm>
            <a:off x="640080" y="1920240"/>
            <a:ext cx="5852160" cy="3886200"/>
          </a:xfrm>
          <a:prstGeom prst="roundRect">
            <a:avLst>
              <a:gd name="adj" fmla="val 2824"/>
            </a:avLst>
          </a:prstGeom>
          <a:solidFill>
            <a:srgbClr val="FFFFFF"/>
          </a:solidFill>
          <a:ln/>
          <a:effectLst>
            <a:outerShdw sx="100000" sy="100000" kx="0" ky="0" algn="bl" rotWithShape="0" blurRad="114300" dist="38100" dir="8100000">
              <a:srgbClr val="0B2B33">
                <a:alpha val="14000"/>
              </a:srgbClr>
            </a:outerShdw>
          </a:effectLst>
        </p:spPr>
      </p:sp>
      <p:sp>
        <p:nvSpPr>
          <p:cNvPr id="7" name="Text 4"/>
          <p:cNvSpPr/>
          <p:nvPr/>
        </p:nvSpPr>
        <p:spPr>
          <a:xfrm>
            <a:off x="960120" y="2103120"/>
            <a:ext cx="5212080" cy="365760"/>
          </a:xfrm>
          <a:prstGeom prst="rect">
            <a:avLst/>
          </a:prstGeom>
          <a:noFill/>
          <a:ln/>
        </p:spPr>
        <p:txBody>
          <a:bodyPr wrap="square" lIns="0" tIns="0" rIns="0" bIns="0" rtlCol="0" anchor="ctr"/>
          <a:lstStyle/>
          <a:p>
            <a:pPr indent="0" marL="0">
              <a:buNone/>
            </a:pPr>
            <a:r>
              <a:rPr lang="en-US" sz="1300" b="1" spc="100" kern="0" dirty="0">
                <a:solidFill>
                  <a:srgbClr val="12A594"/>
                </a:solidFill>
                <a:latin typeface="Calibri" pitchFamily="34" charset="0"/>
                <a:ea typeface="Calibri" pitchFamily="34" charset="-122"/>
                <a:cs typeface="Calibri" pitchFamily="34" charset="-120"/>
              </a:rPr>
              <a:t>Inputs principales</a:t>
            </a:r>
            <a:endParaRPr lang="en-US" sz="1300" dirty="0"/>
          </a:p>
        </p:txBody>
      </p:sp>
      <p:sp>
        <p:nvSpPr>
          <p:cNvPr id="8" name="Text 5"/>
          <p:cNvSpPr/>
          <p:nvPr/>
        </p:nvSpPr>
        <p:spPr>
          <a:xfrm>
            <a:off x="960120" y="2542032"/>
            <a:ext cx="3611880" cy="420624"/>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WACC</a:t>
            </a:r>
            <a:endParaRPr lang="en-US" sz="1250" dirty="0"/>
          </a:p>
        </p:txBody>
      </p:sp>
      <p:sp>
        <p:nvSpPr>
          <p:cNvPr id="9" name="Text 6"/>
          <p:cNvSpPr/>
          <p:nvPr/>
        </p:nvSpPr>
        <p:spPr>
          <a:xfrm>
            <a:off x="4297680" y="2542032"/>
            <a:ext cx="1874520" cy="420624"/>
          </a:xfrm>
          <a:prstGeom prst="rect">
            <a:avLst/>
          </a:prstGeom>
          <a:noFill/>
          <a:ln/>
        </p:spPr>
        <p:txBody>
          <a:bodyPr wrap="square" lIns="0" tIns="0" rIns="0" bIns="0" rtlCol="0" anchor="ctr"/>
          <a:lstStyle/>
          <a:p>
            <a:pPr algn="r" indent="0" marL="0">
              <a:buNone/>
            </a:pPr>
            <a:r>
              <a:rPr lang="en-US" sz="1350" b="1" dirty="0">
                <a:solidFill>
                  <a:srgbClr val="0B2B33"/>
                </a:solidFill>
                <a:latin typeface="Georgia" pitchFamily="34" charset="0"/>
                <a:ea typeface="Georgia" pitchFamily="34" charset="-122"/>
                <a:cs typeface="Georgia" pitchFamily="34" charset="-120"/>
              </a:rPr>
              <a:t>9,24%</a:t>
            </a:r>
            <a:endParaRPr lang="en-US" sz="1350" dirty="0"/>
          </a:p>
        </p:txBody>
      </p:sp>
      <p:sp>
        <p:nvSpPr>
          <p:cNvPr id="10" name="Shape 7"/>
          <p:cNvSpPr/>
          <p:nvPr/>
        </p:nvSpPr>
        <p:spPr>
          <a:xfrm>
            <a:off x="960120" y="2962656"/>
            <a:ext cx="5212080" cy="0"/>
          </a:xfrm>
          <a:prstGeom prst="line">
            <a:avLst/>
          </a:prstGeom>
          <a:noFill/>
          <a:ln w="12700">
            <a:solidFill>
              <a:srgbClr val="DCE6E6"/>
            </a:solidFill>
            <a:prstDash val="solid"/>
          </a:ln>
        </p:spPr>
      </p:sp>
      <p:sp>
        <p:nvSpPr>
          <p:cNvPr id="11" name="Text 8"/>
          <p:cNvSpPr/>
          <p:nvPr/>
        </p:nvSpPr>
        <p:spPr>
          <a:xfrm>
            <a:off x="960120" y="3044952"/>
            <a:ext cx="3611880" cy="420624"/>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Ke</a:t>
            </a:r>
            <a:endParaRPr lang="en-US" sz="1250" dirty="0"/>
          </a:p>
        </p:txBody>
      </p:sp>
      <p:sp>
        <p:nvSpPr>
          <p:cNvPr id="12" name="Text 9"/>
          <p:cNvSpPr/>
          <p:nvPr/>
        </p:nvSpPr>
        <p:spPr>
          <a:xfrm>
            <a:off x="4297680" y="3044952"/>
            <a:ext cx="1874520" cy="420624"/>
          </a:xfrm>
          <a:prstGeom prst="rect">
            <a:avLst/>
          </a:prstGeom>
          <a:noFill/>
          <a:ln/>
        </p:spPr>
        <p:txBody>
          <a:bodyPr wrap="square" lIns="0" tIns="0" rIns="0" bIns="0" rtlCol="0" anchor="ctr"/>
          <a:lstStyle/>
          <a:p>
            <a:pPr algn="r" indent="0" marL="0">
              <a:buNone/>
            </a:pPr>
            <a:r>
              <a:rPr lang="en-US" sz="1350" b="1" dirty="0">
                <a:solidFill>
                  <a:srgbClr val="0B2B33"/>
                </a:solidFill>
                <a:latin typeface="Georgia" pitchFamily="34" charset="0"/>
                <a:ea typeface="Georgia" pitchFamily="34" charset="-122"/>
                <a:cs typeface="Georgia" pitchFamily="34" charset="-120"/>
              </a:rPr>
              <a:t>9,36%</a:t>
            </a:r>
            <a:endParaRPr lang="en-US" sz="1350" dirty="0"/>
          </a:p>
        </p:txBody>
      </p:sp>
      <p:sp>
        <p:nvSpPr>
          <p:cNvPr id="13" name="Shape 10"/>
          <p:cNvSpPr/>
          <p:nvPr/>
        </p:nvSpPr>
        <p:spPr>
          <a:xfrm>
            <a:off x="960120" y="3465576"/>
            <a:ext cx="5212080" cy="0"/>
          </a:xfrm>
          <a:prstGeom prst="line">
            <a:avLst/>
          </a:prstGeom>
          <a:noFill/>
          <a:ln w="12700">
            <a:solidFill>
              <a:srgbClr val="DCE6E6"/>
            </a:solidFill>
            <a:prstDash val="solid"/>
          </a:ln>
        </p:spPr>
      </p:sp>
      <p:sp>
        <p:nvSpPr>
          <p:cNvPr id="14" name="Text 11"/>
          <p:cNvSpPr/>
          <p:nvPr/>
        </p:nvSpPr>
        <p:spPr>
          <a:xfrm>
            <a:off x="960120" y="3547872"/>
            <a:ext cx="3611880" cy="420624"/>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Kd después de impuestos</a:t>
            </a:r>
            <a:endParaRPr lang="en-US" sz="1250" dirty="0"/>
          </a:p>
        </p:txBody>
      </p:sp>
      <p:sp>
        <p:nvSpPr>
          <p:cNvPr id="15" name="Text 12"/>
          <p:cNvSpPr/>
          <p:nvPr/>
        </p:nvSpPr>
        <p:spPr>
          <a:xfrm>
            <a:off x="4297680" y="3547872"/>
            <a:ext cx="1874520" cy="420624"/>
          </a:xfrm>
          <a:prstGeom prst="rect">
            <a:avLst/>
          </a:prstGeom>
          <a:noFill/>
          <a:ln/>
        </p:spPr>
        <p:txBody>
          <a:bodyPr wrap="square" lIns="0" tIns="0" rIns="0" bIns="0" rtlCol="0" anchor="ctr"/>
          <a:lstStyle/>
          <a:p>
            <a:pPr algn="r" indent="0" marL="0">
              <a:buNone/>
            </a:pPr>
            <a:r>
              <a:rPr lang="en-US" sz="1350" b="1" dirty="0">
                <a:solidFill>
                  <a:srgbClr val="0B2B33"/>
                </a:solidFill>
                <a:latin typeface="Georgia" pitchFamily="34" charset="0"/>
                <a:ea typeface="Georgia" pitchFamily="34" charset="-122"/>
                <a:cs typeface="Georgia" pitchFamily="34" charset="-120"/>
              </a:rPr>
              <a:t>3,77%</a:t>
            </a:r>
            <a:endParaRPr lang="en-US" sz="1350" dirty="0"/>
          </a:p>
        </p:txBody>
      </p:sp>
      <p:sp>
        <p:nvSpPr>
          <p:cNvPr id="16" name="Shape 13"/>
          <p:cNvSpPr/>
          <p:nvPr/>
        </p:nvSpPr>
        <p:spPr>
          <a:xfrm>
            <a:off x="960120" y="3968496"/>
            <a:ext cx="5212080" cy="0"/>
          </a:xfrm>
          <a:prstGeom prst="line">
            <a:avLst/>
          </a:prstGeom>
          <a:noFill/>
          <a:ln w="12700">
            <a:solidFill>
              <a:srgbClr val="DCE6E6"/>
            </a:solidFill>
            <a:prstDash val="solid"/>
          </a:ln>
        </p:spPr>
      </p:sp>
      <p:sp>
        <p:nvSpPr>
          <p:cNvPr id="17" name="Text 14"/>
          <p:cNvSpPr/>
          <p:nvPr/>
        </p:nvSpPr>
        <p:spPr>
          <a:xfrm>
            <a:off x="960120" y="4050792"/>
            <a:ext cx="3611880" cy="420624"/>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β (Blume)</a:t>
            </a:r>
            <a:endParaRPr lang="en-US" sz="1250" dirty="0"/>
          </a:p>
        </p:txBody>
      </p:sp>
      <p:sp>
        <p:nvSpPr>
          <p:cNvPr id="18" name="Text 15"/>
          <p:cNvSpPr/>
          <p:nvPr/>
        </p:nvSpPr>
        <p:spPr>
          <a:xfrm>
            <a:off x="4297680" y="4050792"/>
            <a:ext cx="1874520" cy="420624"/>
          </a:xfrm>
          <a:prstGeom prst="rect">
            <a:avLst/>
          </a:prstGeom>
          <a:noFill/>
          <a:ln/>
        </p:spPr>
        <p:txBody>
          <a:bodyPr wrap="square" lIns="0" tIns="0" rIns="0" bIns="0" rtlCol="0" anchor="ctr"/>
          <a:lstStyle/>
          <a:p>
            <a:pPr algn="r" indent="0" marL="0">
              <a:buNone/>
            </a:pPr>
            <a:r>
              <a:rPr lang="en-US" sz="1350" b="1" dirty="0">
                <a:solidFill>
                  <a:srgbClr val="0B2B33"/>
                </a:solidFill>
                <a:latin typeface="Georgia" pitchFamily="34" charset="0"/>
                <a:ea typeface="Georgia" pitchFamily="34" charset="-122"/>
                <a:cs typeface="Georgia" pitchFamily="34" charset="-120"/>
              </a:rPr>
              <a:t>1,056</a:t>
            </a:r>
            <a:endParaRPr lang="en-US" sz="1350" dirty="0"/>
          </a:p>
        </p:txBody>
      </p:sp>
      <p:sp>
        <p:nvSpPr>
          <p:cNvPr id="19" name="Shape 16"/>
          <p:cNvSpPr/>
          <p:nvPr/>
        </p:nvSpPr>
        <p:spPr>
          <a:xfrm>
            <a:off x="960120" y="4471416"/>
            <a:ext cx="5212080" cy="0"/>
          </a:xfrm>
          <a:prstGeom prst="line">
            <a:avLst/>
          </a:prstGeom>
          <a:noFill/>
          <a:ln w="12700">
            <a:solidFill>
              <a:srgbClr val="DCE6E6"/>
            </a:solidFill>
            <a:prstDash val="solid"/>
          </a:ln>
        </p:spPr>
      </p:sp>
      <p:sp>
        <p:nvSpPr>
          <p:cNvPr id="20" name="Text 17"/>
          <p:cNvSpPr/>
          <p:nvPr/>
        </p:nvSpPr>
        <p:spPr>
          <a:xfrm>
            <a:off x="960120" y="4553712"/>
            <a:ext cx="3611880" cy="420624"/>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g perpetuo</a:t>
            </a:r>
            <a:endParaRPr lang="en-US" sz="1250" dirty="0"/>
          </a:p>
        </p:txBody>
      </p:sp>
      <p:sp>
        <p:nvSpPr>
          <p:cNvPr id="21" name="Text 18"/>
          <p:cNvSpPr/>
          <p:nvPr/>
        </p:nvSpPr>
        <p:spPr>
          <a:xfrm>
            <a:off x="4297680" y="4553712"/>
            <a:ext cx="1874520" cy="420624"/>
          </a:xfrm>
          <a:prstGeom prst="rect">
            <a:avLst/>
          </a:prstGeom>
          <a:noFill/>
          <a:ln/>
        </p:spPr>
        <p:txBody>
          <a:bodyPr wrap="square" lIns="0" tIns="0" rIns="0" bIns="0" rtlCol="0" anchor="ctr"/>
          <a:lstStyle/>
          <a:p>
            <a:pPr algn="r" indent="0" marL="0">
              <a:buNone/>
            </a:pPr>
            <a:r>
              <a:rPr lang="en-US" sz="1350" b="1" dirty="0">
                <a:solidFill>
                  <a:srgbClr val="0B2B33"/>
                </a:solidFill>
                <a:latin typeface="Georgia" pitchFamily="34" charset="0"/>
                <a:ea typeface="Georgia" pitchFamily="34" charset="-122"/>
                <a:cs typeface="Georgia" pitchFamily="34" charset="-120"/>
              </a:rPr>
              <a:t>3,0%</a:t>
            </a:r>
            <a:endParaRPr lang="en-US" sz="1350" dirty="0"/>
          </a:p>
        </p:txBody>
      </p:sp>
      <p:sp>
        <p:nvSpPr>
          <p:cNvPr id="22" name="Shape 19"/>
          <p:cNvSpPr/>
          <p:nvPr/>
        </p:nvSpPr>
        <p:spPr>
          <a:xfrm>
            <a:off x="960120" y="4974336"/>
            <a:ext cx="5212080" cy="0"/>
          </a:xfrm>
          <a:prstGeom prst="line">
            <a:avLst/>
          </a:prstGeom>
          <a:noFill/>
          <a:ln w="12700">
            <a:solidFill>
              <a:srgbClr val="DCE6E6"/>
            </a:solidFill>
            <a:prstDash val="solid"/>
          </a:ln>
        </p:spPr>
      </p:sp>
      <p:sp>
        <p:nvSpPr>
          <p:cNvPr id="23" name="Text 20"/>
          <p:cNvSpPr/>
          <p:nvPr/>
        </p:nvSpPr>
        <p:spPr>
          <a:xfrm>
            <a:off x="960120" y="5056632"/>
            <a:ext cx="3611880" cy="420624"/>
          </a:xfrm>
          <a:prstGeom prst="rect">
            <a:avLst/>
          </a:prstGeom>
          <a:noFill/>
          <a:ln/>
        </p:spPr>
        <p:txBody>
          <a:bodyPr wrap="square" lIns="0" tIns="0" rIns="0" bIns="0" rtlCol="0" anchor="ctr"/>
          <a:lstStyle/>
          <a:p>
            <a:pPr indent="0" marL="0">
              <a:buNone/>
            </a:pPr>
            <a:r>
              <a:rPr lang="en-US" sz="1250" dirty="0">
                <a:solidFill>
                  <a:srgbClr val="10282E"/>
                </a:solidFill>
                <a:latin typeface="Calibri" pitchFamily="34" charset="0"/>
                <a:ea typeface="Calibri" pitchFamily="34" charset="-122"/>
                <a:cs typeface="Calibri" pitchFamily="34" charset="-120"/>
              </a:rPr>
              <a:t>FCF 2030</a:t>
            </a:r>
            <a:endParaRPr lang="en-US" sz="1250" dirty="0"/>
          </a:p>
        </p:txBody>
      </p:sp>
      <p:sp>
        <p:nvSpPr>
          <p:cNvPr id="24" name="Text 21"/>
          <p:cNvSpPr/>
          <p:nvPr/>
        </p:nvSpPr>
        <p:spPr>
          <a:xfrm>
            <a:off x="4297680" y="5056632"/>
            <a:ext cx="1874520" cy="420624"/>
          </a:xfrm>
          <a:prstGeom prst="rect">
            <a:avLst/>
          </a:prstGeom>
          <a:noFill/>
          <a:ln/>
        </p:spPr>
        <p:txBody>
          <a:bodyPr wrap="square" lIns="0" tIns="0" rIns="0" bIns="0" rtlCol="0" anchor="ctr"/>
          <a:lstStyle/>
          <a:p>
            <a:pPr algn="r" indent="0" marL="0">
              <a:buNone/>
            </a:pPr>
            <a:r>
              <a:rPr lang="en-US" sz="1350" b="1" dirty="0">
                <a:solidFill>
                  <a:srgbClr val="0B2B33"/>
                </a:solidFill>
                <a:latin typeface="Georgia" pitchFamily="34" charset="0"/>
                <a:ea typeface="Georgia" pitchFamily="34" charset="-122"/>
                <a:cs typeface="Georgia" pitchFamily="34" charset="-120"/>
              </a:rPr>
              <a:t>USD 218.334 M</a:t>
            </a:r>
            <a:endParaRPr lang="en-US" sz="1350" dirty="0"/>
          </a:p>
        </p:txBody>
      </p:sp>
      <p:sp>
        <p:nvSpPr>
          <p:cNvPr id="25" name="Shape 22"/>
          <p:cNvSpPr/>
          <p:nvPr/>
        </p:nvSpPr>
        <p:spPr>
          <a:xfrm>
            <a:off x="6858000" y="1920240"/>
            <a:ext cx="4693615" cy="1874520"/>
          </a:xfrm>
          <a:prstGeom prst="roundRect">
            <a:avLst>
              <a:gd name="adj" fmla="val 5854"/>
            </a:avLst>
          </a:prstGeom>
          <a:solidFill>
            <a:srgbClr val="FFFFFF"/>
          </a:solidFill>
          <a:ln/>
          <a:effectLst>
            <a:outerShdw sx="100000" sy="100000" kx="0" ky="0" algn="bl" rotWithShape="0" blurRad="114300" dist="38100" dir="8100000">
              <a:srgbClr val="0B2B33">
                <a:alpha val="14000"/>
              </a:srgbClr>
            </a:outerShdw>
          </a:effectLst>
        </p:spPr>
      </p:sp>
      <p:sp>
        <p:nvSpPr>
          <p:cNvPr id="26" name="Text 23"/>
          <p:cNvSpPr/>
          <p:nvPr/>
        </p:nvSpPr>
        <p:spPr>
          <a:xfrm>
            <a:off x="7178040" y="2084832"/>
            <a:ext cx="4053535" cy="320040"/>
          </a:xfrm>
          <a:prstGeom prst="rect">
            <a:avLst/>
          </a:prstGeom>
          <a:noFill/>
          <a:ln/>
        </p:spPr>
        <p:txBody>
          <a:bodyPr wrap="square" lIns="0" tIns="0" rIns="0" bIns="0" rtlCol="0" anchor="ctr"/>
          <a:lstStyle/>
          <a:p>
            <a:pPr indent="0" marL="0">
              <a:buNone/>
            </a:pPr>
            <a:r>
              <a:rPr lang="en-US" sz="1300" b="1" spc="100" kern="0" dirty="0">
                <a:solidFill>
                  <a:srgbClr val="12A594"/>
                </a:solidFill>
                <a:latin typeface="Calibri" pitchFamily="34" charset="0"/>
                <a:ea typeface="Calibri" pitchFamily="34" charset="-122"/>
                <a:cs typeface="Calibri" pitchFamily="34" charset="-120"/>
              </a:rPr>
              <a:t>Valuación</a:t>
            </a:r>
            <a:endParaRPr lang="en-US" sz="1300" dirty="0"/>
          </a:p>
        </p:txBody>
      </p:sp>
      <p:sp>
        <p:nvSpPr>
          <p:cNvPr id="27" name="Text 24"/>
          <p:cNvSpPr/>
          <p:nvPr/>
        </p:nvSpPr>
        <p:spPr>
          <a:xfrm>
            <a:off x="7178040" y="2468880"/>
            <a:ext cx="2681935" cy="246888"/>
          </a:xfrm>
          <a:prstGeom prst="rect">
            <a:avLst/>
          </a:prstGeom>
          <a:noFill/>
          <a:ln/>
        </p:spPr>
        <p:txBody>
          <a:bodyPr wrap="square" lIns="0" tIns="0" rIns="0" bIns="0" rtlCol="0" anchor="ctr"/>
          <a:lstStyle/>
          <a:p>
            <a:pPr indent="0" marL="0">
              <a:buNone/>
            </a:pPr>
            <a:r>
              <a:rPr lang="en-US" sz="1150" dirty="0">
                <a:solidFill>
                  <a:srgbClr val="10282E"/>
                </a:solidFill>
                <a:latin typeface="Calibri" pitchFamily="34" charset="0"/>
                <a:ea typeface="Calibri" pitchFamily="34" charset="-122"/>
                <a:cs typeface="Calibri" pitchFamily="34" charset="-120"/>
              </a:rPr>
              <a:t>VP explícito</a:t>
            </a:r>
            <a:endParaRPr lang="en-US" sz="1150" dirty="0"/>
          </a:p>
        </p:txBody>
      </p:sp>
      <p:sp>
        <p:nvSpPr>
          <p:cNvPr id="28" name="Text 25"/>
          <p:cNvSpPr/>
          <p:nvPr/>
        </p:nvSpPr>
        <p:spPr>
          <a:xfrm>
            <a:off x="9494215" y="2468880"/>
            <a:ext cx="1737360" cy="246888"/>
          </a:xfrm>
          <a:prstGeom prst="rect">
            <a:avLst/>
          </a:prstGeom>
          <a:noFill/>
          <a:ln/>
        </p:spPr>
        <p:txBody>
          <a:bodyPr wrap="square" lIns="0" tIns="0" rIns="0" bIns="0" rtlCol="0" anchor="ctr"/>
          <a:lstStyle/>
          <a:p>
            <a:pPr algn="r" indent="0" marL="0">
              <a:buNone/>
            </a:pPr>
            <a:r>
              <a:rPr lang="en-US" sz="1150" b="1" dirty="0">
                <a:solidFill>
                  <a:srgbClr val="0B2B33"/>
                </a:solidFill>
                <a:latin typeface="Calibri" pitchFamily="34" charset="0"/>
                <a:ea typeface="Calibri" pitchFamily="34" charset="-122"/>
                <a:cs typeface="Calibri" pitchFamily="34" charset="-120"/>
              </a:rPr>
              <a:t>USD 0,70 B (23%)</a:t>
            </a:r>
            <a:endParaRPr lang="en-US" sz="1150" dirty="0"/>
          </a:p>
        </p:txBody>
      </p:sp>
      <p:sp>
        <p:nvSpPr>
          <p:cNvPr id="29" name="Text 26"/>
          <p:cNvSpPr/>
          <p:nvPr/>
        </p:nvSpPr>
        <p:spPr>
          <a:xfrm>
            <a:off x="7178040" y="2734056"/>
            <a:ext cx="2681935" cy="246888"/>
          </a:xfrm>
          <a:prstGeom prst="rect">
            <a:avLst/>
          </a:prstGeom>
          <a:noFill/>
          <a:ln/>
        </p:spPr>
        <p:txBody>
          <a:bodyPr wrap="square" lIns="0" tIns="0" rIns="0" bIns="0" rtlCol="0" anchor="ctr"/>
          <a:lstStyle/>
          <a:p>
            <a:pPr indent="0" marL="0">
              <a:buNone/>
            </a:pPr>
            <a:r>
              <a:rPr lang="en-US" sz="1150" dirty="0">
                <a:solidFill>
                  <a:srgbClr val="10282E"/>
                </a:solidFill>
                <a:latin typeface="Calibri" pitchFamily="34" charset="0"/>
                <a:ea typeface="Calibri" pitchFamily="34" charset="-122"/>
                <a:cs typeface="Calibri" pitchFamily="34" charset="-120"/>
              </a:rPr>
              <a:t>VP valor terminal</a:t>
            </a:r>
            <a:endParaRPr lang="en-US" sz="1150" dirty="0"/>
          </a:p>
        </p:txBody>
      </p:sp>
      <p:sp>
        <p:nvSpPr>
          <p:cNvPr id="30" name="Text 27"/>
          <p:cNvSpPr/>
          <p:nvPr/>
        </p:nvSpPr>
        <p:spPr>
          <a:xfrm>
            <a:off x="9494215" y="2734056"/>
            <a:ext cx="1737360" cy="246888"/>
          </a:xfrm>
          <a:prstGeom prst="rect">
            <a:avLst/>
          </a:prstGeom>
          <a:noFill/>
          <a:ln/>
        </p:spPr>
        <p:txBody>
          <a:bodyPr wrap="square" lIns="0" tIns="0" rIns="0" bIns="0" rtlCol="0" anchor="ctr"/>
          <a:lstStyle/>
          <a:p>
            <a:pPr algn="r" indent="0" marL="0">
              <a:buNone/>
            </a:pPr>
            <a:r>
              <a:rPr lang="en-US" sz="1150" b="1" dirty="0">
                <a:solidFill>
                  <a:srgbClr val="0B2B33"/>
                </a:solidFill>
                <a:latin typeface="Calibri" pitchFamily="34" charset="0"/>
                <a:ea typeface="Calibri" pitchFamily="34" charset="-122"/>
                <a:cs typeface="Calibri" pitchFamily="34" charset="-120"/>
              </a:rPr>
              <a:t>USD 2,32 B (77%)</a:t>
            </a:r>
            <a:endParaRPr lang="en-US" sz="1150" dirty="0"/>
          </a:p>
        </p:txBody>
      </p:sp>
      <p:sp>
        <p:nvSpPr>
          <p:cNvPr id="31" name="Text 28"/>
          <p:cNvSpPr/>
          <p:nvPr/>
        </p:nvSpPr>
        <p:spPr>
          <a:xfrm>
            <a:off x="7178040" y="2999232"/>
            <a:ext cx="2681935" cy="246888"/>
          </a:xfrm>
          <a:prstGeom prst="rect">
            <a:avLst/>
          </a:prstGeom>
          <a:noFill/>
          <a:ln/>
        </p:spPr>
        <p:txBody>
          <a:bodyPr wrap="square" lIns="0" tIns="0" rIns="0" bIns="0" rtlCol="0" anchor="ctr"/>
          <a:lstStyle/>
          <a:p>
            <a:pPr indent="0" marL="0">
              <a:buNone/>
            </a:pPr>
            <a:r>
              <a:rPr lang="en-US" sz="1150" dirty="0">
                <a:solidFill>
                  <a:srgbClr val="10282E"/>
                </a:solidFill>
                <a:latin typeface="Calibri" pitchFamily="34" charset="0"/>
                <a:ea typeface="Calibri" pitchFamily="34" charset="-122"/>
                <a:cs typeface="Calibri" pitchFamily="34" charset="-120"/>
              </a:rPr>
              <a:t>Enterprise Value</a:t>
            </a:r>
            <a:endParaRPr lang="en-US" sz="1150" dirty="0"/>
          </a:p>
        </p:txBody>
      </p:sp>
      <p:sp>
        <p:nvSpPr>
          <p:cNvPr id="32" name="Text 29"/>
          <p:cNvSpPr/>
          <p:nvPr/>
        </p:nvSpPr>
        <p:spPr>
          <a:xfrm>
            <a:off x="9494215" y="2999232"/>
            <a:ext cx="1737360" cy="246888"/>
          </a:xfrm>
          <a:prstGeom prst="rect">
            <a:avLst/>
          </a:prstGeom>
          <a:noFill/>
          <a:ln/>
        </p:spPr>
        <p:txBody>
          <a:bodyPr wrap="square" lIns="0" tIns="0" rIns="0" bIns="0" rtlCol="0" anchor="ctr"/>
          <a:lstStyle/>
          <a:p>
            <a:pPr algn="r" indent="0" marL="0">
              <a:buNone/>
            </a:pPr>
            <a:r>
              <a:rPr lang="en-US" sz="1150" b="1" dirty="0">
                <a:solidFill>
                  <a:srgbClr val="0B2B33"/>
                </a:solidFill>
                <a:latin typeface="Calibri" pitchFamily="34" charset="0"/>
                <a:ea typeface="Calibri" pitchFamily="34" charset="-122"/>
                <a:cs typeface="Calibri" pitchFamily="34" charset="-120"/>
              </a:rPr>
              <a:t>USD 3,02 B</a:t>
            </a:r>
            <a:endParaRPr lang="en-US" sz="1150" dirty="0"/>
          </a:p>
        </p:txBody>
      </p:sp>
      <p:sp>
        <p:nvSpPr>
          <p:cNvPr id="33" name="Text 30"/>
          <p:cNvSpPr/>
          <p:nvPr/>
        </p:nvSpPr>
        <p:spPr>
          <a:xfrm>
            <a:off x="7178040" y="3264408"/>
            <a:ext cx="2681935" cy="246888"/>
          </a:xfrm>
          <a:prstGeom prst="rect">
            <a:avLst/>
          </a:prstGeom>
          <a:noFill/>
          <a:ln/>
        </p:spPr>
        <p:txBody>
          <a:bodyPr wrap="square" lIns="0" tIns="0" rIns="0" bIns="0" rtlCol="0" anchor="ctr"/>
          <a:lstStyle/>
          <a:p>
            <a:pPr indent="0" marL="0">
              <a:buNone/>
            </a:pPr>
            <a:r>
              <a:rPr lang="en-US" sz="1150" dirty="0">
                <a:solidFill>
                  <a:srgbClr val="10282E"/>
                </a:solidFill>
                <a:latin typeface="Calibri" pitchFamily="34" charset="0"/>
                <a:ea typeface="Calibri" pitchFamily="34" charset="-122"/>
                <a:cs typeface="Calibri" pitchFamily="34" charset="-120"/>
              </a:rPr>
              <a:t>+ caja neta</a:t>
            </a:r>
            <a:endParaRPr lang="en-US" sz="1150" dirty="0"/>
          </a:p>
        </p:txBody>
      </p:sp>
      <p:sp>
        <p:nvSpPr>
          <p:cNvPr id="34" name="Text 31"/>
          <p:cNvSpPr/>
          <p:nvPr/>
        </p:nvSpPr>
        <p:spPr>
          <a:xfrm>
            <a:off x="9494215" y="3264408"/>
            <a:ext cx="1737360" cy="246888"/>
          </a:xfrm>
          <a:prstGeom prst="rect">
            <a:avLst/>
          </a:prstGeom>
          <a:noFill/>
          <a:ln/>
        </p:spPr>
        <p:txBody>
          <a:bodyPr wrap="square" lIns="0" tIns="0" rIns="0" bIns="0" rtlCol="0" anchor="ctr"/>
          <a:lstStyle/>
          <a:p>
            <a:pPr algn="r" indent="0" marL="0">
              <a:buNone/>
            </a:pPr>
            <a:r>
              <a:rPr lang="en-US" sz="1150" b="1" dirty="0">
                <a:solidFill>
                  <a:srgbClr val="0B2B33"/>
                </a:solidFill>
                <a:latin typeface="Calibri" pitchFamily="34" charset="0"/>
                <a:ea typeface="Calibri" pitchFamily="34" charset="-122"/>
                <a:cs typeface="Calibri" pitchFamily="34" charset="-120"/>
              </a:rPr>
              <a:t>USD 0,03 B</a:t>
            </a:r>
            <a:endParaRPr lang="en-US" sz="1150" dirty="0"/>
          </a:p>
        </p:txBody>
      </p:sp>
      <p:sp>
        <p:nvSpPr>
          <p:cNvPr id="35" name="Text 32"/>
          <p:cNvSpPr/>
          <p:nvPr/>
        </p:nvSpPr>
        <p:spPr>
          <a:xfrm>
            <a:off x="7178040" y="3529584"/>
            <a:ext cx="2681935" cy="246888"/>
          </a:xfrm>
          <a:prstGeom prst="rect">
            <a:avLst/>
          </a:prstGeom>
          <a:noFill/>
          <a:ln/>
        </p:spPr>
        <p:txBody>
          <a:bodyPr wrap="square" lIns="0" tIns="0" rIns="0" bIns="0" rtlCol="0" anchor="ctr"/>
          <a:lstStyle/>
          <a:p>
            <a:pPr indent="0" marL="0">
              <a:buNone/>
            </a:pPr>
            <a:r>
              <a:rPr lang="en-US" sz="1150" dirty="0">
                <a:solidFill>
                  <a:srgbClr val="10282E"/>
                </a:solidFill>
                <a:latin typeface="Calibri" pitchFamily="34" charset="0"/>
                <a:ea typeface="Calibri" pitchFamily="34" charset="-122"/>
                <a:cs typeface="Calibri" pitchFamily="34" charset="-120"/>
              </a:rPr>
              <a:t>Equity Value</a:t>
            </a:r>
            <a:endParaRPr lang="en-US" sz="1150" dirty="0"/>
          </a:p>
        </p:txBody>
      </p:sp>
      <p:sp>
        <p:nvSpPr>
          <p:cNvPr id="36" name="Text 33"/>
          <p:cNvSpPr/>
          <p:nvPr/>
        </p:nvSpPr>
        <p:spPr>
          <a:xfrm>
            <a:off x="9494215" y="3529584"/>
            <a:ext cx="1737360" cy="246888"/>
          </a:xfrm>
          <a:prstGeom prst="rect">
            <a:avLst/>
          </a:prstGeom>
          <a:noFill/>
          <a:ln/>
        </p:spPr>
        <p:txBody>
          <a:bodyPr wrap="square" lIns="0" tIns="0" rIns="0" bIns="0" rtlCol="0" anchor="ctr"/>
          <a:lstStyle/>
          <a:p>
            <a:pPr algn="r" indent="0" marL="0">
              <a:buNone/>
            </a:pPr>
            <a:r>
              <a:rPr lang="en-US" sz="1150" b="1" dirty="0">
                <a:solidFill>
                  <a:srgbClr val="0B2B33"/>
                </a:solidFill>
                <a:latin typeface="Calibri" pitchFamily="34" charset="0"/>
                <a:ea typeface="Calibri" pitchFamily="34" charset="-122"/>
                <a:cs typeface="Calibri" pitchFamily="34" charset="-120"/>
              </a:rPr>
              <a:t>USD 3,05 B</a:t>
            </a:r>
            <a:endParaRPr lang="en-US" sz="1150" dirty="0"/>
          </a:p>
        </p:txBody>
      </p:sp>
      <p:sp>
        <p:nvSpPr>
          <p:cNvPr id="37" name="Shape 34"/>
          <p:cNvSpPr/>
          <p:nvPr/>
        </p:nvSpPr>
        <p:spPr>
          <a:xfrm>
            <a:off x="6858000" y="3931920"/>
            <a:ext cx="4693615" cy="1874520"/>
          </a:xfrm>
          <a:prstGeom prst="roundRect">
            <a:avLst>
              <a:gd name="adj" fmla="val 5854"/>
            </a:avLst>
          </a:prstGeom>
          <a:solidFill>
            <a:srgbClr val="0B2B33"/>
          </a:solidFill>
          <a:ln/>
          <a:effectLst>
            <a:outerShdw sx="100000" sy="100000" kx="0" ky="0" algn="bl" rotWithShape="0" blurRad="114300" dist="38100" dir="8100000">
              <a:srgbClr val="0B2B33">
                <a:alpha val="14000"/>
              </a:srgbClr>
            </a:outerShdw>
          </a:effectLst>
        </p:spPr>
      </p:sp>
      <p:sp>
        <p:nvSpPr>
          <p:cNvPr id="38" name="Text 35"/>
          <p:cNvSpPr/>
          <p:nvPr/>
        </p:nvSpPr>
        <p:spPr>
          <a:xfrm>
            <a:off x="7178040" y="4114800"/>
            <a:ext cx="1935328" cy="566928"/>
          </a:xfrm>
          <a:prstGeom prst="rect">
            <a:avLst/>
          </a:prstGeom>
          <a:noFill/>
          <a:ln/>
        </p:spPr>
        <p:txBody>
          <a:bodyPr wrap="square" lIns="0" tIns="0" rIns="0" bIns="0" rtlCol="0" anchor="b"/>
          <a:lstStyle/>
          <a:p>
            <a:pPr algn="l" indent="0" marL="0">
              <a:buNone/>
            </a:pPr>
            <a:r>
              <a:rPr lang="en-US" sz="3000" b="1" dirty="0">
                <a:solidFill>
                  <a:srgbClr val="12A594"/>
                </a:solidFill>
                <a:latin typeface="Georgia" pitchFamily="34" charset="0"/>
                <a:ea typeface="Georgia" pitchFamily="34" charset="-122"/>
                <a:cs typeface="Georgia" pitchFamily="34" charset="-120"/>
              </a:rPr>
              <a:t>207,80</a:t>
            </a:r>
            <a:endParaRPr lang="en-US" sz="3000" dirty="0"/>
          </a:p>
        </p:txBody>
      </p:sp>
      <p:sp>
        <p:nvSpPr>
          <p:cNvPr id="39" name="Text 36"/>
          <p:cNvSpPr/>
          <p:nvPr/>
        </p:nvSpPr>
        <p:spPr>
          <a:xfrm>
            <a:off x="7178040" y="4681728"/>
            <a:ext cx="1935328" cy="320040"/>
          </a:xfrm>
          <a:prstGeom prst="rect">
            <a:avLst/>
          </a:prstGeom>
          <a:noFill/>
          <a:ln/>
        </p:spPr>
        <p:txBody>
          <a:bodyPr wrap="square" lIns="0" tIns="0" rIns="0" bIns="0" rtlCol="0" anchor="t"/>
          <a:lstStyle/>
          <a:p>
            <a:pPr algn="l" indent="0" marL="0">
              <a:lnSpc>
                <a:spcPct val="98000"/>
              </a:lnSpc>
              <a:buNone/>
            </a:pPr>
            <a:r>
              <a:rPr lang="en-US" sz="1050" dirty="0">
                <a:solidFill>
                  <a:srgbClr val="9FC3C0"/>
                </a:solidFill>
                <a:latin typeface="Calibri" pitchFamily="34" charset="0"/>
                <a:ea typeface="Calibri" pitchFamily="34" charset="-122"/>
                <a:cs typeface="Calibri" pitchFamily="34" charset="-120"/>
              </a:rPr>
              <a:t>Objetivo DCF (USD)</a:t>
            </a:r>
            <a:endParaRPr lang="en-US" sz="1050" dirty="0"/>
          </a:p>
        </p:txBody>
      </p:sp>
      <p:sp>
        <p:nvSpPr>
          <p:cNvPr id="40" name="Text 37"/>
          <p:cNvSpPr/>
          <p:nvPr/>
        </p:nvSpPr>
        <p:spPr>
          <a:xfrm>
            <a:off x="9204808" y="4114800"/>
            <a:ext cx="1935328" cy="566928"/>
          </a:xfrm>
          <a:prstGeom prst="rect">
            <a:avLst/>
          </a:prstGeom>
          <a:noFill/>
          <a:ln/>
        </p:spPr>
        <p:txBody>
          <a:bodyPr wrap="square" lIns="0" tIns="0" rIns="0" bIns="0" rtlCol="0" anchor="b"/>
          <a:lstStyle/>
          <a:p>
            <a:pPr algn="l" indent="0" marL="0">
              <a:buNone/>
            </a:pPr>
            <a:r>
              <a:rPr lang="en-US" sz="3000" b="1" dirty="0">
                <a:solidFill>
                  <a:srgbClr val="E5544E"/>
                </a:solidFill>
                <a:latin typeface="Georgia" pitchFamily="34" charset="0"/>
                <a:ea typeface="Georgia" pitchFamily="34" charset="-122"/>
                <a:cs typeface="Georgia" pitchFamily="34" charset="-120"/>
              </a:rPr>
              <a:t>312,06</a:t>
            </a:r>
            <a:endParaRPr lang="en-US" sz="3000" dirty="0"/>
          </a:p>
        </p:txBody>
      </p:sp>
      <p:sp>
        <p:nvSpPr>
          <p:cNvPr id="41" name="Text 38"/>
          <p:cNvSpPr/>
          <p:nvPr/>
        </p:nvSpPr>
        <p:spPr>
          <a:xfrm>
            <a:off x="9204808" y="4681728"/>
            <a:ext cx="1935328" cy="320040"/>
          </a:xfrm>
          <a:prstGeom prst="rect">
            <a:avLst/>
          </a:prstGeom>
          <a:noFill/>
          <a:ln/>
        </p:spPr>
        <p:txBody>
          <a:bodyPr wrap="square" lIns="0" tIns="0" rIns="0" bIns="0" rtlCol="0" anchor="t"/>
          <a:lstStyle/>
          <a:p>
            <a:pPr algn="l" indent="0" marL="0">
              <a:lnSpc>
                <a:spcPct val="98000"/>
              </a:lnSpc>
              <a:buNone/>
            </a:pPr>
            <a:r>
              <a:rPr lang="en-US" sz="1050" dirty="0">
                <a:solidFill>
                  <a:srgbClr val="9FC3C0"/>
                </a:solidFill>
                <a:latin typeface="Calibri" pitchFamily="34" charset="0"/>
                <a:ea typeface="Calibri" pitchFamily="34" charset="-122"/>
                <a:cs typeface="Calibri" pitchFamily="34" charset="-120"/>
              </a:rPr>
              <a:t>Mercado (USD)</a:t>
            </a:r>
            <a:endParaRPr lang="en-US" sz="1050" dirty="0"/>
          </a:p>
        </p:txBody>
      </p:sp>
      <p:sp>
        <p:nvSpPr>
          <p:cNvPr id="42" name="Text 39"/>
          <p:cNvSpPr/>
          <p:nvPr/>
        </p:nvSpPr>
        <p:spPr>
          <a:xfrm>
            <a:off x="7178040" y="5212080"/>
            <a:ext cx="4053535" cy="457200"/>
          </a:xfrm>
          <a:prstGeom prst="rect">
            <a:avLst/>
          </a:prstGeom>
          <a:noFill/>
          <a:ln/>
        </p:spPr>
        <p:txBody>
          <a:bodyPr wrap="square" lIns="0" tIns="0" rIns="0" bIns="0" rtlCol="0" anchor="ctr"/>
          <a:lstStyle/>
          <a:p>
            <a:pPr indent="0" marL="0">
              <a:buNone/>
            </a:pPr>
            <a:r>
              <a:rPr lang="en-US" sz="1300" dirty="0">
                <a:solidFill>
                  <a:srgbClr val="9FC3C0"/>
                </a:solidFill>
                <a:latin typeface="Calibri" pitchFamily="34" charset="0"/>
                <a:ea typeface="Calibri" pitchFamily="34" charset="-122"/>
                <a:cs typeface="Calibri" pitchFamily="34" charset="-120"/>
              </a:rPr>
              <a:t>Upside / (Downside):  </a:t>
            </a:r>
            <a:pPr indent="0" marL="0">
              <a:buNone/>
            </a:pPr>
            <a:r>
              <a:rPr lang="en-US" sz="1700" b="1" dirty="0">
                <a:solidFill>
                  <a:srgbClr val="E5544E"/>
                </a:solidFill>
                <a:latin typeface="Calibri" pitchFamily="34" charset="0"/>
                <a:ea typeface="Calibri" pitchFamily="34" charset="-122"/>
                <a:cs typeface="Calibri" pitchFamily="34" charset="-120"/>
              </a:rPr>
              <a:t>−33,4%</a:t>
            </a:r>
            <a:endParaRPr lang="en-US" sz="1300" dirty="0"/>
          </a:p>
        </p:txBody>
      </p:sp>
      <p:sp>
        <p:nvSpPr>
          <p:cNvPr id="43" name="Text 40"/>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44" name="Text 41"/>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E5544E"/>
          </a:solidFill>
          <a:ln/>
        </p:spPr>
      </p:sp>
      <p:pic>
        <p:nvPicPr>
          <p:cNvPr id="3" name="Image 0" descr="icons/target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E5544E"/>
                </a:solidFill>
                <a:latin typeface="Calibri" pitchFamily="34" charset="0"/>
                <a:ea typeface="Calibri" pitchFamily="34" charset="-122"/>
                <a:cs typeface="Calibri" pitchFamily="34" charset="-120"/>
              </a:rPr>
              <a:t>CONCLUSIÓN Y RECOMENDACIÓN</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3000" b="1" dirty="0">
                <a:solidFill>
                  <a:srgbClr val="0B2B33"/>
                </a:solidFill>
                <a:latin typeface="Georgia" pitchFamily="34" charset="0"/>
                <a:ea typeface="Georgia" pitchFamily="34" charset="-122"/>
                <a:cs typeface="Georgia" pitchFamily="34" charset="-120"/>
              </a:rPr>
              <a:t>Veredicto: VENDER (Sell)</a:t>
            </a:r>
            <a:endParaRPr lang="en-US" sz="3000" dirty="0"/>
          </a:p>
        </p:txBody>
      </p:sp>
      <p:sp>
        <p:nvSpPr>
          <p:cNvPr id="6" name="Shape 3"/>
          <p:cNvSpPr/>
          <p:nvPr/>
        </p:nvSpPr>
        <p:spPr>
          <a:xfrm>
            <a:off x="640080" y="1965960"/>
            <a:ext cx="3657600" cy="1463040"/>
          </a:xfrm>
          <a:prstGeom prst="roundRect">
            <a:avLst>
              <a:gd name="adj" fmla="val 7500"/>
            </a:avLst>
          </a:prstGeom>
          <a:solidFill>
            <a:srgbClr val="E5544E"/>
          </a:solidFill>
          <a:ln/>
          <a:effectLst>
            <a:outerShdw sx="100000" sy="100000" kx="0" ky="0" algn="bl" rotWithShape="0" blurRad="114300" dist="38100" dir="8100000">
              <a:srgbClr val="0B2B33">
                <a:alpha val="14000"/>
              </a:srgbClr>
            </a:outerShdw>
          </a:effectLst>
        </p:spPr>
      </p:sp>
      <p:pic>
        <p:nvPicPr>
          <p:cNvPr id="7" name="Image 1" descr="icons/arrowdown_white.png">    </p:cNvPr>
          <p:cNvPicPr>
            <a:picLocks noChangeAspect="1"/>
          </p:cNvPicPr>
          <p:nvPr/>
        </p:nvPicPr>
        <p:blipFill>
          <a:blip r:embed="rId2"/>
          <a:stretch>
            <a:fillRect/>
          </a:stretch>
        </p:blipFill>
        <p:spPr>
          <a:xfrm>
            <a:off x="1005840" y="2395728"/>
            <a:ext cx="548640" cy="548640"/>
          </a:xfrm>
          <a:prstGeom prst="rect">
            <a:avLst/>
          </a:prstGeom>
        </p:spPr>
      </p:pic>
      <p:sp>
        <p:nvSpPr>
          <p:cNvPr id="8" name="Text 4"/>
          <p:cNvSpPr/>
          <p:nvPr/>
        </p:nvSpPr>
        <p:spPr>
          <a:xfrm>
            <a:off x="1691640" y="2240280"/>
            <a:ext cx="2468880" cy="5486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VENDER</a:t>
            </a:r>
            <a:endParaRPr lang="en-US" sz="3000" dirty="0"/>
          </a:p>
        </p:txBody>
      </p:sp>
      <p:sp>
        <p:nvSpPr>
          <p:cNvPr id="9" name="Text 5"/>
          <p:cNvSpPr/>
          <p:nvPr/>
        </p:nvSpPr>
        <p:spPr>
          <a:xfrm>
            <a:off x="1691640" y="2788920"/>
            <a:ext cx="2468880" cy="502920"/>
          </a:xfrm>
          <a:prstGeom prst="rect">
            <a:avLst/>
          </a:prstGeom>
          <a:noFill/>
          <a:ln/>
        </p:spPr>
        <p:txBody>
          <a:bodyPr wrap="square" lIns="0" tIns="0" rIns="0" bIns="0" rtlCol="0" anchor="ctr"/>
          <a:lstStyle/>
          <a:p>
            <a:pPr indent="0" marL="0">
              <a:lnSpc>
                <a:spcPct val="95000"/>
              </a:lnSpc>
              <a:buNone/>
            </a:pPr>
            <a:r>
              <a:rPr lang="en-US" sz="1100" dirty="0">
                <a:solidFill>
                  <a:srgbClr val="FFE7E5"/>
                </a:solidFill>
                <a:latin typeface="Calibri" pitchFamily="34" charset="0"/>
                <a:ea typeface="Calibri" pitchFamily="34" charset="-122"/>
                <a:cs typeface="Calibri" pitchFamily="34" charset="-120"/>
              </a:rPr>
              <a:t>El caso base queda 33% bajo el mercado</a:t>
            </a:r>
            <a:endParaRPr lang="en-US" sz="1100" dirty="0"/>
          </a:p>
        </p:txBody>
      </p:sp>
      <p:sp>
        <p:nvSpPr>
          <p:cNvPr id="10" name="Shape 6"/>
          <p:cNvSpPr/>
          <p:nvPr/>
        </p:nvSpPr>
        <p:spPr>
          <a:xfrm>
            <a:off x="4663440" y="1965960"/>
            <a:ext cx="6888175" cy="1463040"/>
          </a:xfrm>
          <a:prstGeom prst="roundRect">
            <a:avLst>
              <a:gd name="adj" fmla="val 7500"/>
            </a:avLst>
          </a:prstGeom>
          <a:solidFill>
            <a:srgbClr val="FFFFFF"/>
          </a:solidFill>
          <a:ln/>
          <a:effectLst>
            <a:outerShdw sx="100000" sy="100000" kx="0" ky="0" algn="bl" rotWithShape="0" blurRad="114300" dist="38100" dir="8100000">
              <a:srgbClr val="0B2B33">
                <a:alpha val="14000"/>
              </a:srgbClr>
            </a:outerShdw>
          </a:effectLst>
        </p:spPr>
      </p:sp>
      <p:sp>
        <p:nvSpPr>
          <p:cNvPr id="11" name="Text 7"/>
          <p:cNvSpPr/>
          <p:nvPr/>
        </p:nvSpPr>
        <p:spPr>
          <a:xfrm>
            <a:off x="4937760" y="2148840"/>
            <a:ext cx="6339535" cy="365760"/>
          </a:xfrm>
          <a:prstGeom prst="rect">
            <a:avLst/>
          </a:prstGeom>
          <a:noFill/>
          <a:ln/>
        </p:spPr>
        <p:txBody>
          <a:bodyPr wrap="square" lIns="0" tIns="0" rIns="0" bIns="0" rtlCol="0" anchor="ctr"/>
          <a:lstStyle/>
          <a:p>
            <a:pPr indent="0" marL="0">
              <a:buNone/>
            </a:pPr>
            <a:r>
              <a:rPr lang="en-US" sz="1300" b="1" dirty="0">
                <a:solidFill>
                  <a:srgbClr val="12A594"/>
                </a:solidFill>
                <a:latin typeface="Calibri" pitchFamily="34" charset="0"/>
                <a:ea typeface="Calibri" pitchFamily="34" charset="-122"/>
                <a:cs typeface="Calibri" pitchFamily="34" charset="-120"/>
              </a:rPr>
              <a:t>La tesis, con humildad</a:t>
            </a:r>
            <a:endParaRPr lang="en-US" sz="1300" dirty="0"/>
          </a:p>
        </p:txBody>
      </p:sp>
      <p:sp>
        <p:nvSpPr>
          <p:cNvPr id="12" name="Text 8"/>
          <p:cNvSpPr/>
          <p:nvPr/>
        </p:nvSpPr>
        <p:spPr>
          <a:xfrm>
            <a:off x="4937760" y="2514600"/>
            <a:ext cx="6293815" cy="914400"/>
          </a:xfrm>
          <a:prstGeom prst="rect">
            <a:avLst/>
          </a:prstGeom>
          <a:noFill/>
          <a:ln/>
        </p:spPr>
        <p:txBody>
          <a:bodyPr wrap="square" lIns="0" tIns="0" rIns="0" bIns="0" rtlCol="0" anchor="ctr"/>
          <a:lstStyle/>
          <a:p>
            <a:pPr indent="0" marL="0">
              <a:lnSpc>
                <a:spcPct val="106000"/>
              </a:lnSpc>
              <a:buNone/>
            </a:pPr>
            <a:r>
              <a:rPr lang="en-US" sz="1250" dirty="0">
                <a:solidFill>
                  <a:srgbClr val="10282E"/>
                </a:solidFill>
                <a:latin typeface="Calibri" pitchFamily="34" charset="0"/>
                <a:ea typeface="Calibri" pitchFamily="34" charset="-122"/>
                <a:cs typeface="Calibri" pitchFamily="34" charset="-120"/>
              </a:rPr>
              <a:t>El modelo es función de los flujos que nos dieron. No decimos “el mercado se equivoca”, sino dónde tiene que tener razón: el precio actual exige un g ≈ 5,4% que nuestras proyecciones no respaldan.</a:t>
            </a:r>
            <a:endParaRPr lang="en-US" sz="1250" dirty="0"/>
          </a:p>
        </p:txBody>
      </p:sp>
      <p:sp>
        <p:nvSpPr>
          <p:cNvPr id="13" name="Shape 9"/>
          <p:cNvSpPr/>
          <p:nvPr/>
        </p:nvSpPr>
        <p:spPr>
          <a:xfrm>
            <a:off x="640080" y="3657600"/>
            <a:ext cx="3423818" cy="1874520"/>
          </a:xfrm>
          <a:prstGeom prst="roundRect">
            <a:avLst>
              <a:gd name="adj" fmla="val 4878"/>
            </a:avLst>
          </a:prstGeom>
          <a:solidFill>
            <a:srgbClr val="FFFFFF"/>
          </a:solidFill>
          <a:ln/>
          <a:effectLst>
            <a:outerShdw sx="100000" sy="100000" kx="0" ky="0" algn="bl" rotWithShape="0" blurRad="114300" dist="38100" dir="8100000">
              <a:srgbClr val="0B2B33">
                <a:alpha val="14000"/>
              </a:srgbClr>
            </a:outerShdw>
          </a:effectLst>
        </p:spPr>
      </p:sp>
      <p:sp>
        <p:nvSpPr>
          <p:cNvPr id="14" name="Shape 10"/>
          <p:cNvSpPr/>
          <p:nvPr/>
        </p:nvSpPr>
        <p:spPr>
          <a:xfrm>
            <a:off x="896112" y="3895344"/>
            <a:ext cx="457200" cy="457200"/>
          </a:xfrm>
          <a:prstGeom prst="ellipse">
            <a:avLst/>
          </a:prstGeom>
          <a:solidFill>
            <a:srgbClr val="E5544E"/>
          </a:solidFill>
          <a:ln/>
        </p:spPr>
      </p:sp>
      <p:pic>
        <p:nvPicPr>
          <p:cNvPr id="15" name="Image 2" descr="icons/gavel_white.png">    </p:cNvPr>
          <p:cNvPicPr>
            <a:picLocks noChangeAspect="1"/>
          </p:cNvPicPr>
          <p:nvPr/>
        </p:nvPicPr>
        <p:blipFill>
          <a:blip r:embed="rId3"/>
          <a:stretch>
            <a:fillRect/>
          </a:stretch>
        </p:blipFill>
        <p:spPr>
          <a:xfrm>
            <a:off x="1014984" y="4014216"/>
            <a:ext cx="219456" cy="219456"/>
          </a:xfrm>
          <a:prstGeom prst="rect">
            <a:avLst/>
          </a:prstGeom>
        </p:spPr>
      </p:pic>
      <p:sp>
        <p:nvSpPr>
          <p:cNvPr id="16" name="Text 11"/>
          <p:cNvSpPr/>
          <p:nvPr/>
        </p:nvSpPr>
        <p:spPr>
          <a:xfrm>
            <a:off x="1463040" y="3895344"/>
            <a:ext cx="2417978" cy="45720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Regulación</a:t>
            </a:r>
            <a:endParaRPr lang="en-US" sz="1350" dirty="0"/>
          </a:p>
        </p:txBody>
      </p:sp>
      <p:sp>
        <p:nvSpPr>
          <p:cNvPr id="17" name="Text 12"/>
          <p:cNvSpPr/>
          <p:nvPr/>
        </p:nvSpPr>
        <p:spPr>
          <a:xfrm>
            <a:off x="896112" y="4498848"/>
            <a:ext cx="2966618" cy="914400"/>
          </a:xfrm>
          <a:prstGeom prst="rect">
            <a:avLst/>
          </a:prstGeom>
          <a:noFill/>
          <a:ln/>
        </p:spPr>
        <p:txBody>
          <a:bodyPr wrap="square" lIns="0" tIns="0" rIns="0" bIns="0" rtlCol="0" anchor="ctr"/>
          <a:lstStyle/>
          <a:p>
            <a:pPr indent="0" marL="0">
              <a:lnSpc>
                <a:spcPct val="105000"/>
              </a:lnSpc>
              <a:buNone/>
            </a:pPr>
            <a:r>
              <a:rPr lang="en-US" sz="1100" dirty="0">
                <a:solidFill>
                  <a:srgbClr val="5C6F74"/>
                </a:solidFill>
                <a:latin typeface="Calibri" pitchFamily="34" charset="0"/>
                <a:ea typeface="Calibri" pitchFamily="34" charset="-122"/>
                <a:cs typeface="Calibri" pitchFamily="34" charset="-120"/>
              </a:rPr>
              <a:t>DMA (UE) y antitrust en EE.UU. — incl. el acuerdo con Google — presionan los márgenes de mayor calidad.</a:t>
            </a:r>
            <a:endParaRPr lang="en-US" sz="1100" dirty="0"/>
          </a:p>
        </p:txBody>
      </p:sp>
      <p:sp>
        <p:nvSpPr>
          <p:cNvPr id="18" name="Shape 13"/>
          <p:cNvSpPr/>
          <p:nvPr/>
        </p:nvSpPr>
        <p:spPr>
          <a:xfrm>
            <a:off x="4383938" y="3657600"/>
            <a:ext cx="3423818" cy="1874520"/>
          </a:xfrm>
          <a:prstGeom prst="roundRect">
            <a:avLst>
              <a:gd name="adj" fmla="val 4878"/>
            </a:avLst>
          </a:prstGeom>
          <a:solidFill>
            <a:srgbClr val="FFFFFF"/>
          </a:solidFill>
          <a:ln/>
          <a:effectLst>
            <a:outerShdw sx="100000" sy="100000" kx="0" ky="0" algn="bl" rotWithShape="0" blurRad="114300" dist="38100" dir="8100000">
              <a:srgbClr val="0B2B33">
                <a:alpha val="14000"/>
              </a:srgbClr>
            </a:outerShdw>
          </a:effectLst>
        </p:spPr>
      </p:sp>
      <p:sp>
        <p:nvSpPr>
          <p:cNvPr id="19" name="Shape 14"/>
          <p:cNvSpPr/>
          <p:nvPr/>
        </p:nvSpPr>
        <p:spPr>
          <a:xfrm>
            <a:off x="4639970" y="3895344"/>
            <a:ext cx="457200" cy="457200"/>
          </a:xfrm>
          <a:prstGeom prst="ellipse">
            <a:avLst/>
          </a:prstGeom>
          <a:solidFill>
            <a:srgbClr val="E5544E"/>
          </a:solidFill>
          <a:ln/>
        </p:spPr>
      </p:sp>
      <p:pic>
        <p:nvPicPr>
          <p:cNvPr id="20" name="Image 3" descr="icons/dragon_white.png">    </p:cNvPr>
          <p:cNvPicPr>
            <a:picLocks noChangeAspect="1"/>
          </p:cNvPicPr>
          <p:nvPr/>
        </p:nvPicPr>
        <p:blipFill>
          <a:blip r:embed="rId4"/>
          <a:stretch>
            <a:fillRect/>
          </a:stretch>
        </p:blipFill>
        <p:spPr>
          <a:xfrm>
            <a:off x="4758842" y="4014216"/>
            <a:ext cx="219456" cy="219456"/>
          </a:xfrm>
          <a:prstGeom prst="rect">
            <a:avLst/>
          </a:prstGeom>
        </p:spPr>
      </p:pic>
      <p:sp>
        <p:nvSpPr>
          <p:cNvPr id="21" name="Text 15"/>
          <p:cNvSpPr/>
          <p:nvPr/>
        </p:nvSpPr>
        <p:spPr>
          <a:xfrm>
            <a:off x="5206898" y="3895344"/>
            <a:ext cx="2417978" cy="45720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China</a:t>
            </a:r>
            <a:endParaRPr lang="en-US" sz="1350" dirty="0"/>
          </a:p>
        </p:txBody>
      </p:sp>
      <p:sp>
        <p:nvSpPr>
          <p:cNvPr id="22" name="Text 16"/>
          <p:cNvSpPr/>
          <p:nvPr/>
        </p:nvSpPr>
        <p:spPr>
          <a:xfrm>
            <a:off x="4639970" y="4498848"/>
            <a:ext cx="2966618" cy="914400"/>
          </a:xfrm>
          <a:prstGeom prst="rect">
            <a:avLst/>
          </a:prstGeom>
          <a:noFill/>
          <a:ln/>
        </p:spPr>
        <p:txBody>
          <a:bodyPr wrap="square" lIns="0" tIns="0" rIns="0" bIns="0" rtlCol="0" anchor="ctr"/>
          <a:lstStyle/>
          <a:p>
            <a:pPr indent="0" marL="0">
              <a:lnSpc>
                <a:spcPct val="105000"/>
              </a:lnSpc>
              <a:buNone/>
            </a:pPr>
            <a:r>
              <a:rPr lang="en-US" sz="1100" dirty="0">
                <a:solidFill>
                  <a:srgbClr val="5C6F74"/>
                </a:solidFill>
                <a:latin typeface="Calibri" pitchFamily="34" charset="0"/>
                <a:ea typeface="Calibri" pitchFamily="34" charset="-122"/>
                <a:cs typeface="Calibri" pitchFamily="34" charset="-120"/>
              </a:rPr>
              <a:t>Competencia local y exposición geopolítica presionan los volúmenes de iPhone.</a:t>
            </a:r>
            <a:endParaRPr lang="en-US" sz="1100" dirty="0"/>
          </a:p>
        </p:txBody>
      </p:sp>
      <p:sp>
        <p:nvSpPr>
          <p:cNvPr id="23" name="Shape 17"/>
          <p:cNvSpPr/>
          <p:nvPr/>
        </p:nvSpPr>
        <p:spPr>
          <a:xfrm>
            <a:off x="8127797" y="3657600"/>
            <a:ext cx="3423818" cy="1874520"/>
          </a:xfrm>
          <a:prstGeom prst="roundRect">
            <a:avLst>
              <a:gd name="adj" fmla="val 4878"/>
            </a:avLst>
          </a:prstGeom>
          <a:solidFill>
            <a:srgbClr val="FFFFFF"/>
          </a:solidFill>
          <a:ln/>
          <a:effectLst>
            <a:outerShdw sx="100000" sy="100000" kx="0" ky="0" algn="bl" rotWithShape="0" blurRad="114300" dist="38100" dir="8100000">
              <a:srgbClr val="0B2B33">
                <a:alpha val="14000"/>
              </a:srgbClr>
            </a:outerShdw>
          </a:effectLst>
        </p:spPr>
      </p:sp>
      <p:sp>
        <p:nvSpPr>
          <p:cNvPr id="24" name="Shape 18"/>
          <p:cNvSpPr/>
          <p:nvPr/>
        </p:nvSpPr>
        <p:spPr>
          <a:xfrm>
            <a:off x="8383829" y="3895344"/>
            <a:ext cx="457200" cy="457200"/>
          </a:xfrm>
          <a:prstGeom prst="ellipse">
            <a:avLst/>
          </a:prstGeom>
          <a:solidFill>
            <a:srgbClr val="12A594"/>
          </a:solidFill>
          <a:ln/>
        </p:spPr>
      </p:sp>
      <p:pic>
        <p:nvPicPr>
          <p:cNvPr id="25" name="Image 4" descr="icons/rocket_white.png">    </p:cNvPr>
          <p:cNvPicPr>
            <a:picLocks noChangeAspect="1"/>
          </p:cNvPicPr>
          <p:nvPr/>
        </p:nvPicPr>
        <p:blipFill>
          <a:blip r:embed="rId5"/>
          <a:stretch>
            <a:fillRect/>
          </a:stretch>
        </p:blipFill>
        <p:spPr>
          <a:xfrm>
            <a:off x="8502701" y="4014216"/>
            <a:ext cx="219456" cy="219456"/>
          </a:xfrm>
          <a:prstGeom prst="rect">
            <a:avLst/>
          </a:prstGeom>
        </p:spPr>
      </p:pic>
      <p:sp>
        <p:nvSpPr>
          <p:cNvPr id="26" name="Text 19"/>
          <p:cNvSpPr/>
          <p:nvPr/>
        </p:nvSpPr>
        <p:spPr>
          <a:xfrm>
            <a:off x="8950757" y="3895344"/>
            <a:ext cx="2417978" cy="457200"/>
          </a:xfrm>
          <a:prstGeom prst="rect">
            <a:avLst/>
          </a:prstGeom>
          <a:noFill/>
          <a:ln/>
        </p:spPr>
        <p:txBody>
          <a:bodyPr wrap="square" lIns="0" tIns="0" rIns="0" bIns="0" rtlCol="0" anchor="ctr"/>
          <a:lstStyle/>
          <a:p>
            <a:pPr indent="0" marL="0">
              <a:buNone/>
            </a:pPr>
            <a:r>
              <a:rPr lang="en-US" sz="1350" b="1" dirty="0">
                <a:solidFill>
                  <a:srgbClr val="0B2B33"/>
                </a:solidFill>
                <a:latin typeface="Calibri" pitchFamily="34" charset="0"/>
                <a:ea typeface="Calibri" pitchFamily="34" charset="-122"/>
                <a:cs typeface="Calibri" pitchFamily="34" charset="-120"/>
              </a:rPr>
              <a:t>Catalizadores</a:t>
            </a:r>
            <a:endParaRPr lang="en-US" sz="1350" dirty="0"/>
          </a:p>
        </p:txBody>
      </p:sp>
      <p:sp>
        <p:nvSpPr>
          <p:cNvPr id="27" name="Text 20"/>
          <p:cNvSpPr/>
          <p:nvPr/>
        </p:nvSpPr>
        <p:spPr>
          <a:xfrm>
            <a:off x="8383829" y="4498848"/>
            <a:ext cx="2966618" cy="914400"/>
          </a:xfrm>
          <a:prstGeom prst="rect">
            <a:avLst/>
          </a:prstGeom>
          <a:noFill/>
          <a:ln/>
        </p:spPr>
        <p:txBody>
          <a:bodyPr wrap="square" lIns="0" tIns="0" rIns="0" bIns="0" rtlCol="0" anchor="ctr"/>
          <a:lstStyle/>
          <a:p>
            <a:pPr indent="0" marL="0">
              <a:lnSpc>
                <a:spcPct val="105000"/>
              </a:lnSpc>
              <a:buNone/>
            </a:pPr>
            <a:r>
              <a:rPr lang="en-US" sz="1100" dirty="0">
                <a:solidFill>
                  <a:srgbClr val="5C6F74"/>
                </a:solidFill>
                <a:latin typeface="Calibri" pitchFamily="34" charset="0"/>
                <a:ea typeface="Calibri" pitchFamily="34" charset="-122"/>
                <a:cs typeface="Calibri" pitchFamily="34" charset="-120"/>
              </a:rPr>
              <a:t>Apple Intelligence, ciclo de upgrade del iPhone y peso creciente de Servicios.</a:t>
            </a:r>
            <a:endParaRPr lang="en-US" sz="1100" dirty="0"/>
          </a:p>
        </p:txBody>
      </p:sp>
      <p:sp>
        <p:nvSpPr>
          <p:cNvPr id="28" name="Text 21"/>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9" name="Text 22"/>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2B33"/>
        </a:solidFill>
      </p:bgPr>
    </p:bg>
    <p:spTree>
      <p:nvGrpSpPr>
        <p:cNvPr id="1" name=""/>
        <p:cNvGrpSpPr/>
        <p:nvPr/>
      </p:nvGrpSpPr>
      <p:grpSpPr>
        <a:xfrm>
          <a:off x="0" y="0"/>
          <a:ext cx="0" cy="0"/>
          <a:chOff x="0" y="0"/>
          <a:chExt cx="0" cy="0"/>
        </a:xfrm>
      </p:grpSpPr>
      <p:sp>
        <p:nvSpPr>
          <p:cNvPr id="2" name="Shape 0"/>
          <p:cNvSpPr/>
          <p:nvPr/>
        </p:nvSpPr>
        <p:spPr>
          <a:xfrm>
            <a:off x="8869680" y="0"/>
            <a:ext cx="3322015" cy="6858000"/>
          </a:xfrm>
          <a:prstGeom prst="rect">
            <a:avLst/>
          </a:prstGeom>
          <a:solidFill>
            <a:srgbClr val="0F3A44"/>
          </a:solidFill>
          <a:ln/>
        </p:spPr>
      </p:sp>
      <p:pic>
        <p:nvPicPr>
          <p:cNvPr id="3" name="Image 0" descr="icons/apple_ink.png">    </p:cNvPr>
          <p:cNvPicPr>
            <a:picLocks noChangeAspect="1"/>
          </p:cNvPicPr>
          <p:nvPr/>
        </p:nvPicPr>
        <p:blipFill>
          <a:blip r:embed="rId1">
            <a:alphaModFix amt="36000"/>
          </a:blip>
          <a:stretch>
            <a:fillRect/>
          </a:stretch>
        </p:blipFill>
        <p:spPr>
          <a:xfrm>
            <a:off x="9692640" y="2468880"/>
            <a:ext cx="2011680" cy="2011680"/>
          </a:xfrm>
          <a:prstGeom prst="rect">
            <a:avLst/>
          </a:prstGeom>
        </p:spPr>
      </p:pic>
      <p:sp>
        <p:nvSpPr>
          <p:cNvPr id="4" name="Shape 1"/>
          <p:cNvSpPr/>
          <p:nvPr/>
        </p:nvSpPr>
        <p:spPr>
          <a:xfrm>
            <a:off x="10424160" y="914400"/>
            <a:ext cx="822960" cy="822960"/>
          </a:xfrm>
          <a:prstGeom prst="ellipse">
            <a:avLst/>
          </a:prstGeom>
          <a:solidFill>
            <a:srgbClr val="F2A516"/>
          </a:solidFill>
          <a:ln/>
        </p:spPr>
      </p:sp>
      <p:sp>
        <p:nvSpPr>
          <p:cNvPr id="5" name="Text 2"/>
          <p:cNvSpPr/>
          <p:nvPr/>
        </p:nvSpPr>
        <p:spPr>
          <a:xfrm>
            <a:off x="640080" y="1554480"/>
            <a:ext cx="777240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EN UNA FRASE</a:t>
            </a:r>
            <a:endParaRPr lang="en-US" sz="1300" dirty="0"/>
          </a:p>
        </p:txBody>
      </p:sp>
      <p:sp>
        <p:nvSpPr>
          <p:cNvPr id="6" name="Text 3"/>
          <p:cNvSpPr/>
          <p:nvPr/>
        </p:nvSpPr>
        <p:spPr>
          <a:xfrm>
            <a:off x="640080" y="2011680"/>
            <a:ext cx="7863840" cy="2011680"/>
          </a:xfrm>
          <a:prstGeom prst="rect">
            <a:avLst/>
          </a:prstGeom>
          <a:noFill/>
          <a:ln/>
        </p:spPr>
        <p:txBody>
          <a:bodyPr wrap="square" lIns="0" tIns="0" rIns="0" bIns="0" rtlCol="0" anchor="ctr"/>
          <a:lstStyle/>
          <a:p>
            <a:pPr indent="0" marL="0">
              <a:lnSpc>
                <a:spcPct val="108000"/>
              </a:lnSpc>
              <a:buNone/>
            </a:pPr>
            <a:r>
              <a:rPr lang="en-US" sz="2800" i="1" dirty="0">
                <a:solidFill>
                  <a:srgbClr val="FFFFFF"/>
                </a:solidFill>
                <a:latin typeface="Georgia" pitchFamily="34" charset="0"/>
                <a:ea typeface="Georgia" pitchFamily="34" charset="-122"/>
                <a:cs typeface="Georgia" pitchFamily="34" charset="-120"/>
              </a:rPr>
              <a:t>La conclusión robusta no es que el mercado se equivoca, sino dónde tiene que tener razón para sostener el precio.</a:t>
            </a:r>
            <a:endParaRPr lang="en-US" sz="2800" dirty="0"/>
          </a:p>
        </p:txBody>
      </p:sp>
      <p:sp>
        <p:nvSpPr>
          <p:cNvPr id="7" name="Shape 4"/>
          <p:cNvSpPr/>
          <p:nvPr/>
        </p:nvSpPr>
        <p:spPr>
          <a:xfrm>
            <a:off x="640080" y="4343400"/>
            <a:ext cx="7589520" cy="0"/>
          </a:xfrm>
          <a:prstGeom prst="line">
            <a:avLst/>
          </a:prstGeom>
          <a:noFill/>
          <a:ln w="12700">
            <a:solidFill>
              <a:srgbClr val="23454D"/>
            </a:solidFill>
            <a:prstDash val="solid"/>
          </a:ln>
        </p:spPr>
      </p:sp>
      <p:sp>
        <p:nvSpPr>
          <p:cNvPr id="8" name="Text 5"/>
          <p:cNvSpPr/>
          <p:nvPr/>
        </p:nvSpPr>
        <p:spPr>
          <a:xfrm>
            <a:off x="640080" y="4526280"/>
            <a:ext cx="7772400" cy="320040"/>
          </a:xfrm>
          <a:prstGeom prst="rect">
            <a:avLst/>
          </a:prstGeom>
          <a:noFill/>
          <a:ln/>
        </p:spPr>
        <p:txBody>
          <a:bodyPr wrap="square" lIns="0" tIns="0" rIns="0" bIns="0" rtlCol="0" anchor="ctr"/>
          <a:lstStyle/>
          <a:p>
            <a:pPr indent="0" marL="0">
              <a:buNone/>
            </a:pPr>
            <a:r>
              <a:rPr lang="en-US" sz="1100" b="1" spc="200" kern="0" dirty="0">
                <a:solidFill>
                  <a:srgbClr val="9FC3C0"/>
                </a:solidFill>
                <a:latin typeface="Calibri" pitchFamily="34" charset="0"/>
                <a:ea typeface="Calibri" pitchFamily="34" charset="-122"/>
                <a:cs typeface="Calibri" pitchFamily="34" charset="-120"/>
              </a:rPr>
              <a:t>FUENTES PRINCIPALES</a:t>
            </a:r>
            <a:endParaRPr lang="en-US" sz="1100" dirty="0"/>
          </a:p>
        </p:txBody>
      </p:sp>
      <p:sp>
        <p:nvSpPr>
          <p:cNvPr id="9" name="Text 6"/>
          <p:cNvSpPr/>
          <p:nvPr/>
        </p:nvSpPr>
        <p:spPr>
          <a:xfrm>
            <a:off x="640080" y="4892040"/>
            <a:ext cx="7680960" cy="1554480"/>
          </a:xfrm>
          <a:prstGeom prst="rect">
            <a:avLst/>
          </a:prstGeom>
          <a:noFill/>
          <a:ln/>
        </p:spPr>
        <p:txBody>
          <a:bodyPr wrap="square" lIns="0" tIns="0" rIns="0" bIns="0" rtlCol="0" anchor="t"/>
          <a:lstStyle/>
          <a:p>
            <a:pPr marL="177800" indent="-177800">
              <a:lnSpc>
                <a:spcPct val="102000"/>
              </a:lnSpc>
              <a:spcAft>
                <a:spcPts val="500"/>
              </a:spcAft>
              <a:buSzPct val="100000"/>
              <a:buChar char="•"/>
            </a:pPr>
            <a:r>
              <a:rPr lang="en-US" sz="1150" dirty="0">
                <a:solidFill>
                  <a:srgbClr val="9FC3C0"/>
                </a:solidFill>
                <a:latin typeface="Calibri" pitchFamily="34" charset="0"/>
                <a:ea typeface="Calibri" pitchFamily="34" charset="-122"/>
                <a:cs typeface="Calibri" pitchFamily="34" charset="-120"/>
              </a:rPr>
              <a:t>Damodaran, A. — Implied ERP, NYU Stern (abril 2026)</a:t>
            </a:r>
            <a:endParaRPr lang="en-US" sz="1150" dirty="0"/>
          </a:p>
          <a:p>
            <a:pPr marL="177800" indent="-177800">
              <a:lnSpc>
                <a:spcPct val="102000"/>
              </a:lnSpc>
              <a:spcAft>
                <a:spcPts val="500"/>
              </a:spcAft>
              <a:buSzPct val="100000"/>
              <a:buChar char="•"/>
            </a:pPr>
            <a:r>
              <a:rPr lang="en-US" sz="1150" dirty="0">
                <a:solidFill>
                  <a:srgbClr val="9FC3C0"/>
                </a:solidFill>
                <a:latin typeface="Calibri" pitchFamily="34" charset="0"/>
                <a:ea typeface="Calibri" pitchFamily="34" charset="-122"/>
                <a:cs typeface="Calibri" pitchFamily="34" charset="-120"/>
              </a:rPr>
              <a:t>Damodaran — tablas de spreads por rating crediticio</a:t>
            </a:r>
            <a:endParaRPr lang="en-US" sz="1150" dirty="0"/>
          </a:p>
          <a:p>
            <a:pPr marL="177800" indent="-177800">
              <a:lnSpc>
                <a:spcPct val="102000"/>
              </a:lnSpc>
              <a:spcAft>
                <a:spcPts val="500"/>
              </a:spcAft>
              <a:buSzPct val="100000"/>
              <a:buChar char="•"/>
            </a:pPr>
            <a:r>
              <a:rPr lang="en-US" sz="1150" dirty="0">
                <a:solidFill>
                  <a:srgbClr val="9FC3C0"/>
                </a:solidFill>
                <a:latin typeface="Calibri" pitchFamily="34" charset="0"/>
                <a:ea typeface="Calibri" pitchFamily="34" charset="-122"/>
                <a:cs typeface="Calibri" pitchFamily="34" charset="-120"/>
              </a:rPr>
              <a:t>Yahoo Finance (yfinance) — precios y estados financieros · Apple 10-K (SEC EDGAR)</a:t>
            </a:r>
            <a:endParaRPr lang="en-US" sz="1150" dirty="0"/>
          </a:p>
          <a:p>
            <a:pPr marL="177800" indent="-177800">
              <a:lnSpc>
                <a:spcPct val="102000"/>
              </a:lnSpc>
              <a:spcAft>
                <a:spcPts val="500"/>
              </a:spcAft>
              <a:buSzPct val="100000"/>
              <a:buChar char="•"/>
            </a:pPr>
            <a:r>
              <a:rPr lang="en-US" sz="1150" dirty="0">
                <a:solidFill>
                  <a:srgbClr val="9FC3C0"/>
                </a:solidFill>
                <a:latin typeface="Calibri" pitchFamily="34" charset="0"/>
                <a:ea typeface="Calibri" pitchFamily="34" charset="-122"/>
                <a:cs typeface="Calibri" pitchFamily="34" charset="-120"/>
              </a:rPr>
              <a:t>FCF proyectados — provistos por la cátedra</a:t>
            </a:r>
            <a:endParaRPr lang="en-US" sz="1150" dirty="0"/>
          </a:p>
        </p:txBody>
      </p:sp>
      <p:sp>
        <p:nvSpPr>
          <p:cNvPr id="10" name="Text 7"/>
          <p:cNvSpPr/>
          <p:nvPr/>
        </p:nvSpPr>
        <p:spPr>
          <a:xfrm>
            <a:off x="640080" y="6035040"/>
            <a:ext cx="3657600" cy="457200"/>
          </a:xfrm>
          <a:prstGeom prst="rect">
            <a:avLst/>
          </a:prstGeom>
          <a:noFill/>
          <a:ln/>
        </p:spPr>
        <p:txBody>
          <a:bodyPr wrap="square" lIns="0" tIns="0" rIns="0" bIns="0" rtlCol="0" anchor="ctr"/>
          <a:lstStyle/>
          <a:p>
            <a:pPr indent="0" marL="0">
              <a:buNone/>
            </a:pPr>
            <a:r>
              <a:rPr lang="en-US" sz="2000" b="1" dirty="0">
                <a:solidFill>
                  <a:srgbClr val="12A594"/>
                </a:solidFill>
                <a:latin typeface="Georgia" pitchFamily="34" charset="0"/>
                <a:ea typeface="Georgia" pitchFamily="34" charset="-122"/>
                <a:cs typeface="Georgia" pitchFamily="34" charset="-120"/>
              </a:rPr>
              <a:t>Gracias.</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7589520" y="548640"/>
            <a:ext cx="4754880" cy="5760720"/>
          </a:xfrm>
          <a:prstGeom prst="rect">
            <a:avLst/>
          </a:prstGeom>
          <a:noFill/>
          <a:ln/>
        </p:spPr>
        <p:txBody>
          <a:bodyPr wrap="square" lIns="0" tIns="0" rIns="0" bIns="0" rtlCol="0" anchor="ctr"/>
          <a:lstStyle/>
          <a:p>
            <a:pPr algn="r" indent="0" marL="0">
              <a:buNone/>
            </a:pPr>
            <a:r>
              <a:rPr lang="en-US" sz="30000" b="1" dirty="0">
                <a:solidFill>
                  <a:srgbClr val="0F3A44"/>
                </a:solidFill>
                <a:latin typeface="Georgia" pitchFamily="34" charset="0"/>
                <a:ea typeface="Georgia" pitchFamily="34" charset="-122"/>
                <a:cs typeface="Georgia" pitchFamily="34" charset="-120"/>
              </a:rPr>
              <a:t>A</a:t>
            </a:r>
            <a:endParaRPr lang="en-US" sz="30000" dirty="0"/>
          </a:p>
        </p:txBody>
      </p:sp>
      <p:sp>
        <p:nvSpPr>
          <p:cNvPr id="3" name="Shape 1"/>
          <p:cNvSpPr/>
          <p:nvPr/>
        </p:nvSpPr>
        <p:spPr>
          <a:xfrm>
            <a:off x="640080" y="2148840"/>
            <a:ext cx="960120" cy="960120"/>
          </a:xfrm>
          <a:prstGeom prst="ellipse">
            <a:avLst/>
          </a:prstGeom>
          <a:solidFill>
            <a:srgbClr val="12A594"/>
          </a:solidFill>
          <a:ln/>
        </p:spPr>
      </p:sp>
      <p:pic>
        <p:nvPicPr>
          <p:cNvPr id="4" name="Image 0" descr="icons/book_white.png">    </p:cNvPr>
          <p:cNvPicPr>
            <a:picLocks noChangeAspect="1"/>
          </p:cNvPicPr>
          <p:nvPr/>
        </p:nvPicPr>
        <p:blipFill>
          <a:blip r:embed="rId1"/>
          <a:stretch>
            <a:fillRect/>
          </a:stretch>
        </p:blipFill>
        <p:spPr>
          <a:xfrm>
            <a:off x="914400" y="2423160"/>
            <a:ext cx="411480" cy="411480"/>
          </a:xfrm>
          <a:prstGeom prst="rect">
            <a:avLst/>
          </a:prstGeom>
        </p:spPr>
      </p:pic>
      <p:sp>
        <p:nvSpPr>
          <p:cNvPr id="5" name="Text 2"/>
          <p:cNvSpPr/>
          <p:nvPr/>
        </p:nvSpPr>
        <p:spPr>
          <a:xfrm>
            <a:off x="640080" y="3337560"/>
            <a:ext cx="7315200" cy="365760"/>
          </a:xfrm>
          <a:prstGeom prst="rect">
            <a:avLst/>
          </a:prstGeom>
          <a:noFill/>
          <a:ln/>
        </p:spPr>
        <p:txBody>
          <a:bodyPr wrap="square" lIns="0" tIns="0" rIns="0" bIns="0" rtlCol="0" anchor="ctr"/>
          <a:lstStyle/>
          <a:p>
            <a:pPr indent="0" marL="0">
              <a:buNone/>
            </a:pPr>
            <a:r>
              <a:rPr lang="en-US" sz="1300" b="1" spc="250" kern="0" dirty="0">
                <a:solidFill>
                  <a:srgbClr val="12A594"/>
                </a:solidFill>
                <a:latin typeface="Calibri" pitchFamily="34" charset="0"/>
                <a:ea typeface="Calibri" pitchFamily="34" charset="-122"/>
                <a:cs typeface="Calibri" pitchFamily="34" charset="-120"/>
              </a:rPr>
              <a:t>BLOQUE A · MATERIAL DE RESPALDO</a:t>
            </a:r>
            <a:endParaRPr lang="en-US" sz="1300" dirty="0"/>
          </a:p>
        </p:txBody>
      </p:sp>
      <p:sp>
        <p:nvSpPr>
          <p:cNvPr id="6" name="Text 3"/>
          <p:cNvSpPr/>
          <p:nvPr/>
        </p:nvSpPr>
        <p:spPr>
          <a:xfrm>
            <a:off x="640080" y="3703320"/>
            <a:ext cx="7315200" cy="118872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Georgia" pitchFamily="34" charset="0"/>
                <a:ea typeface="Georgia" pitchFamily="34" charset="-122"/>
                <a:cs typeface="Georgia" pitchFamily="34" charset="-120"/>
              </a:rPr>
              <a:t>Anexo</a:t>
            </a:r>
            <a:endParaRPr lang="en-US" sz="3800" dirty="0"/>
          </a:p>
        </p:txBody>
      </p:sp>
      <p:sp>
        <p:nvSpPr>
          <p:cNvPr id="7" name="Text 4"/>
          <p:cNvSpPr/>
          <p:nvPr/>
        </p:nvSpPr>
        <p:spPr>
          <a:xfrm>
            <a:off x="640080" y="5029200"/>
            <a:ext cx="6949440" cy="731520"/>
          </a:xfrm>
          <a:prstGeom prst="rect">
            <a:avLst/>
          </a:prstGeom>
          <a:noFill/>
          <a:ln/>
        </p:spPr>
        <p:txBody>
          <a:bodyPr wrap="square" lIns="0" tIns="0" rIns="0" bIns="0" rtlCol="0" anchor="ctr"/>
          <a:lstStyle/>
          <a:p>
            <a:pPr indent="0" marL="0">
              <a:lnSpc>
                <a:spcPct val="110000"/>
              </a:lnSpc>
              <a:buNone/>
            </a:pPr>
            <a:r>
              <a:rPr lang="en-US" sz="1400" dirty="0">
                <a:solidFill>
                  <a:srgbClr val="9FC3C0"/>
                </a:solidFill>
                <a:latin typeface="Calibri" pitchFamily="34" charset="0"/>
                <a:ea typeface="Calibri" pitchFamily="34" charset="-122"/>
                <a:cs typeface="Calibri" pitchFamily="34" charset="-120"/>
              </a:rPr>
              <a:t>Gráficos y chequeos adicionales para preguntas de la defensa.</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5C6F74"/>
          </a:solidFill>
          <a:ln/>
        </p:spPr>
      </p:sp>
      <p:pic>
        <p:nvPicPr>
          <p:cNvPr id="3" name="Image 0" descr="icons/water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5C6F74"/>
                </a:solidFill>
                <a:latin typeface="Calibri" pitchFamily="34" charset="0"/>
                <a:ea typeface="Calibri" pitchFamily="34" charset="-122"/>
                <a:cs typeface="Calibri" pitchFamily="34" charset="-120"/>
              </a:rPr>
              <a:t>ANEXO · PERÍODO EXPLÍCITO</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500" b="1" dirty="0">
                <a:solidFill>
                  <a:srgbClr val="0B2B33"/>
                </a:solidFill>
                <a:latin typeface="Georgia" pitchFamily="34" charset="0"/>
                <a:ea typeface="Georgia" pitchFamily="34" charset="-122"/>
                <a:cs typeface="Georgia" pitchFamily="34" charset="-120"/>
              </a:rPr>
              <a:t>FCF proyectado vs. FCF descontado al 9,24%</a:t>
            </a:r>
            <a:endParaRPr lang="en-US" sz="2500" dirty="0"/>
          </a:p>
        </p:txBody>
      </p:sp>
      <p:sp>
        <p:nvSpPr>
          <p:cNvPr id="6" name="Shape 3"/>
          <p:cNvSpPr/>
          <p:nvPr/>
        </p:nvSpPr>
        <p:spPr>
          <a:xfrm>
            <a:off x="640080" y="1874520"/>
            <a:ext cx="786384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43_0.png">    </p:cNvPr>
          <p:cNvPicPr>
            <a:picLocks noChangeAspect="1"/>
          </p:cNvPicPr>
          <p:nvPr/>
        </p:nvPicPr>
        <p:blipFill>
          <a:blip r:embed="rId2"/>
          <a:stretch>
            <a:fillRect/>
          </a:stretch>
        </p:blipFill>
        <p:spPr>
          <a:xfrm>
            <a:off x="1061824" y="2103120"/>
            <a:ext cx="7020353" cy="3474720"/>
          </a:xfrm>
          <a:prstGeom prst="rect">
            <a:avLst/>
          </a:prstGeom>
        </p:spPr>
      </p:pic>
      <p:sp>
        <p:nvSpPr>
          <p:cNvPr id="8" name="Shape 4"/>
          <p:cNvSpPr/>
          <p:nvPr/>
        </p:nvSpPr>
        <p:spPr>
          <a:xfrm>
            <a:off x="8869680" y="1874520"/>
            <a:ext cx="2681935" cy="3931920"/>
          </a:xfrm>
          <a:prstGeom prst="roundRect">
            <a:avLst>
              <a:gd name="adj" fmla="val 3409"/>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9125712" y="2112264"/>
            <a:ext cx="420624" cy="420624"/>
          </a:xfrm>
          <a:prstGeom prst="ellipse">
            <a:avLst/>
          </a:prstGeom>
          <a:solidFill>
            <a:srgbClr val="12A594"/>
          </a:solidFill>
          <a:ln/>
        </p:spPr>
      </p:sp>
      <p:pic>
        <p:nvPicPr>
          <p:cNvPr id="10" name="Image 2" descr="icons/water_white.png">    </p:cNvPr>
          <p:cNvPicPr>
            <a:picLocks noChangeAspect="1"/>
          </p:cNvPicPr>
          <p:nvPr/>
        </p:nvPicPr>
        <p:blipFill>
          <a:blip r:embed="rId3"/>
          <a:stretch>
            <a:fillRect/>
          </a:stretch>
        </p:blipFill>
        <p:spPr>
          <a:xfrm>
            <a:off x="9226296" y="2212848"/>
            <a:ext cx="219456" cy="219456"/>
          </a:xfrm>
          <a:prstGeom prst="rect">
            <a:avLst/>
          </a:prstGeom>
        </p:spPr>
      </p:pic>
      <p:sp>
        <p:nvSpPr>
          <p:cNvPr id="11" name="Text 6"/>
          <p:cNvSpPr/>
          <p:nvPr/>
        </p:nvSpPr>
        <p:spPr>
          <a:xfrm>
            <a:off x="9729216" y="2093976"/>
            <a:ext cx="1602943" cy="365760"/>
          </a:xfrm>
          <a:prstGeom prst="rect">
            <a:avLst/>
          </a:prstGeom>
          <a:noFill/>
          <a:ln/>
        </p:spPr>
        <p:txBody>
          <a:bodyPr wrap="square" lIns="0" tIns="0" rIns="0" bIns="0" rtlCol="0" anchor="t"/>
          <a:lstStyle/>
          <a:p>
            <a:pPr algn="l" indent="0" marL="0">
              <a:buNone/>
            </a:pPr>
            <a:r>
              <a:rPr lang="en-US" sz="1350" b="1" dirty="0">
                <a:solidFill>
                  <a:srgbClr val="12A594"/>
                </a:solidFill>
                <a:latin typeface="Calibri" pitchFamily="34" charset="0"/>
                <a:ea typeface="Calibri" pitchFamily="34" charset="-122"/>
                <a:cs typeface="Calibri" pitchFamily="34" charset="-120"/>
              </a:rPr>
              <a:t>Valor del dinero en el tiempo</a:t>
            </a:r>
            <a:endParaRPr lang="en-US" sz="1350" dirty="0"/>
          </a:p>
        </p:txBody>
      </p:sp>
      <p:sp>
        <p:nvSpPr>
          <p:cNvPr id="12" name="Text 7"/>
          <p:cNvSpPr/>
          <p:nvPr/>
        </p:nvSpPr>
        <p:spPr>
          <a:xfrm>
            <a:off x="9125712" y="2532888"/>
            <a:ext cx="2206447" cy="30906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La barra gris es el flujo nominal; la azul, su valor presente. La brecha crece con el horizonte: cuanto más lejos el flujo, más lo penaliza el descuento.</a:t>
            </a:r>
            <a:endParaRPr lang="en-US" sz="1200" dirty="0"/>
          </a:p>
        </p:txBody>
      </p:sp>
      <p:sp>
        <p:nvSpPr>
          <p:cNvPr id="13" name="Text 8"/>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4" name="Text 9"/>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5C6F74"/>
          </a:solidFill>
          <a:ln/>
        </p:spPr>
      </p:sp>
      <p:pic>
        <p:nvPicPr>
          <p:cNvPr id="3" name="Image 0" descr="icons/grid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5C6F74"/>
                </a:solidFill>
                <a:latin typeface="Calibri" pitchFamily="34" charset="0"/>
                <a:ea typeface="Calibri" pitchFamily="34" charset="-122"/>
                <a:cs typeface="Calibri" pitchFamily="34" charset="-120"/>
              </a:rPr>
              <a:t>ANEXO · SENSIBILIDAD</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500" b="1" dirty="0">
                <a:solidFill>
                  <a:srgbClr val="0B2B33"/>
                </a:solidFill>
                <a:latin typeface="Georgia" pitchFamily="34" charset="0"/>
                <a:ea typeface="Georgia" pitchFamily="34" charset="-122"/>
                <a:cs typeface="Georgia" pitchFamily="34" charset="-120"/>
              </a:rPr>
              <a:t>Upside / downside (%) ante WACC × g</a:t>
            </a:r>
            <a:endParaRPr lang="en-US" sz="2500" dirty="0"/>
          </a:p>
        </p:txBody>
      </p:sp>
      <p:sp>
        <p:nvSpPr>
          <p:cNvPr id="6" name="Shape 3"/>
          <p:cNvSpPr/>
          <p:nvPr/>
        </p:nvSpPr>
        <p:spPr>
          <a:xfrm>
            <a:off x="640080" y="1874520"/>
            <a:ext cx="7132320" cy="3931920"/>
          </a:xfrm>
          <a:prstGeom prst="roundRect">
            <a:avLst>
              <a:gd name="adj" fmla="val 2326"/>
            </a:avLst>
          </a:prstGeom>
          <a:solidFill>
            <a:srgbClr val="FFFFFF"/>
          </a:solidFill>
          <a:ln/>
          <a:effectLst>
            <a:outerShdw sx="100000" sy="100000" kx="0" ky="0" algn="bl" rotWithShape="0" blurRad="114300" dist="38100" dir="8100000">
              <a:srgbClr val="0B2B33">
                <a:alpha val="14000"/>
              </a:srgbClr>
            </a:outerShdw>
          </a:effectLst>
        </p:spPr>
      </p:sp>
      <p:pic>
        <p:nvPicPr>
          <p:cNvPr id="7" name="Image 1" descr="charts/cell57_0.png">    </p:cNvPr>
          <p:cNvPicPr>
            <a:picLocks noChangeAspect="1"/>
          </p:cNvPicPr>
          <p:nvPr/>
        </p:nvPicPr>
        <p:blipFill>
          <a:blip r:embed="rId2"/>
          <a:stretch>
            <a:fillRect/>
          </a:stretch>
        </p:blipFill>
        <p:spPr>
          <a:xfrm>
            <a:off x="1388088" y="2075688"/>
            <a:ext cx="5636304" cy="3529584"/>
          </a:xfrm>
          <a:prstGeom prst="rect">
            <a:avLst/>
          </a:prstGeom>
        </p:spPr>
      </p:pic>
      <p:sp>
        <p:nvSpPr>
          <p:cNvPr id="8" name="Shape 4"/>
          <p:cNvSpPr/>
          <p:nvPr/>
        </p:nvSpPr>
        <p:spPr>
          <a:xfrm>
            <a:off x="8138160" y="1874520"/>
            <a:ext cx="3413455" cy="3931920"/>
          </a:xfrm>
          <a:prstGeom prst="roundRect">
            <a:avLst>
              <a:gd name="adj" fmla="val 2679"/>
            </a:avLst>
          </a:prstGeom>
          <a:solidFill>
            <a:srgbClr val="FFFFFF"/>
          </a:solidFill>
          <a:ln/>
          <a:effectLst>
            <a:outerShdw sx="100000" sy="100000" kx="0" ky="0" algn="bl" rotWithShape="0" blurRad="114300" dist="38100" dir="8100000">
              <a:srgbClr val="0B2B33">
                <a:alpha val="14000"/>
              </a:srgbClr>
            </a:outerShdw>
          </a:effectLst>
        </p:spPr>
      </p:sp>
      <p:sp>
        <p:nvSpPr>
          <p:cNvPr id="9" name="Shape 5"/>
          <p:cNvSpPr/>
          <p:nvPr/>
        </p:nvSpPr>
        <p:spPr>
          <a:xfrm>
            <a:off x="8394192" y="2112264"/>
            <a:ext cx="420624" cy="420624"/>
          </a:xfrm>
          <a:prstGeom prst="ellipse">
            <a:avLst/>
          </a:prstGeom>
          <a:solidFill>
            <a:srgbClr val="E5544E"/>
          </a:solidFill>
          <a:ln/>
        </p:spPr>
      </p:sp>
      <p:pic>
        <p:nvPicPr>
          <p:cNvPr id="10" name="Image 2" descr="icons/warning_white.png">    </p:cNvPr>
          <p:cNvPicPr>
            <a:picLocks noChangeAspect="1"/>
          </p:cNvPicPr>
          <p:nvPr/>
        </p:nvPicPr>
        <p:blipFill>
          <a:blip r:embed="rId3"/>
          <a:stretch>
            <a:fillRect/>
          </a:stretch>
        </p:blipFill>
        <p:spPr>
          <a:xfrm>
            <a:off x="8494776" y="2212848"/>
            <a:ext cx="219456" cy="219456"/>
          </a:xfrm>
          <a:prstGeom prst="rect">
            <a:avLst/>
          </a:prstGeom>
        </p:spPr>
      </p:pic>
      <p:sp>
        <p:nvSpPr>
          <p:cNvPr id="11" name="Text 6"/>
          <p:cNvSpPr/>
          <p:nvPr/>
        </p:nvSpPr>
        <p:spPr>
          <a:xfrm>
            <a:off x="8997696" y="2093976"/>
            <a:ext cx="2334463" cy="365760"/>
          </a:xfrm>
          <a:prstGeom prst="rect">
            <a:avLst/>
          </a:prstGeom>
          <a:noFill/>
          <a:ln/>
        </p:spPr>
        <p:txBody>
          <a:bodyPr wrap="square" lIns="0" tIns="0" rIns="0" bIns="0" rtlCol="0" anchor="t"/>
          <a:lstStyle/>
          <a:p>
            <a:pPr algn="l" indent="0" marL="0">
              <a:buNone/>
            </a:pPr>
            <a:r>
              <a:rPr lang="en-US" sz="1350" b="1" dirty="0">
                <a:solidFill>
                  <a:srgbClr val="E5544E"/>
                </a:solidFill>
                <a:latin typeface="Calibri" pitchFamily="34" charset="0"/>
                <a:ea typeface="Calibri" pitchFamily="34" charset="-122"/>
                <a:cs typeface="Calibri" pitchFamily="34" charset="-120"/>
              </a:rPr>
              <a:t>Casi todo en rojo</a:t>
            </a:r>
            <a:endParaRPr lang="en-US" sz="1350" dirty="0"/>
          </a:p>
        </p:txBody>
      </p:sp>
      <p:sp>
        <p:nvSpPr>
          <p:cNvPr id="12" name="Text 7"/>
          <p:cNvSpPr/>
          <p:nvPr/>
        </p:nvSpPr>
        <p:spPr>
          <a:xfrm>
            <a:off x="8394192" y="2532888"/>
            <a:ext cx="2937967" cy="3090672"/>
          </a:xfrm>
          <a:prstGeom prst="rect">
            <a:avLst/>
          </a:prstGeom>
          <a:noFill/>
          <a:ln/>
        </p:spPr>
        <p:txBody>
          <a:bodyPr wrap="square" lIns="0" tIns="0" rIns="0" bIns="0" rtlCol="0" anchor="t"/>
          <a:lstStyle/>
          <a:p>
            <a:pPr algn="l" indent="0" marL="0">
              <a:lnSpc>
                <a:spcPct val="104000"/>
              </a:lnSpc>
              <a:buNone/>
            </a:pPr>
            <a:r>
              <a:rPr lang="en-US" sz="1200" dirty="0">
                <a:solidFill>
                  <a:srgbClr val="10282E"/>
                </a:solidFill>
                <a:latin typeface="Calibri" pitchFamily="34" charset="0"/>
                <a:ea typeface="Calibri" pitchFamily="34" charset="-122"/>
                <a:cs typeface="Calibri" pitchFamily="34" charset="-120"/>
              </a:rPr>
              <a:t>La misma grilla del precio, ahora como % vs. el mercado. El dominio del rojo refuerza el veredicto: bajo casi cualquier combinación razonable, Apple aparece cara.</a:t>
            </a:r>
            <a:endParaRPr lang="en-US" sz="1200" dirty="0"/>
          </a:p>
        </p:txBody>
      </p:sp>
      <p:sp>
        <p:nvSpPr>
          <p:cNvPr id="13" name="Text 8"/>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14" name="Text 9"/>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7F7"/>
        </a:solidFill>
      </p:bgPr>
    </p:bg>
    <p:spTree>
      <p:nvGrpSpPr>
        <p:cNvPr id="1" name=""/>
        <p:cNvGrpSpPr/>
        <p:nvPr/>
      </p:nvGrpSpPr>
      <p:grpSpPr>
        <a:xfrm>
          <a:off x="0" y="0"/>
          <a:ext cx="0" cy="0"/>
          <a:chOff x="0" y="0"/>
          <a:chExt cx="0" cy="0"/>
        </a:xfrm>
      </p:grpSpPr>
      <p:sp>
        <p:nvSpPr>
          <p:cNvPr id="2" name="Shape 0"/>
          <p:cNvSpPr/>
          <p:nvPr/>
        </p:nvSpPr>
        <p:spPr>
          <a:xfrm>
            <a:off x="640080" y="475488"/>
            <a:ext cx="457200" cy="457200"/>
          </a:xfrm>
          <a:prstGeom prst="ellipse">
            <a:avLst/>
          </a:prstGeom>
          <a:solidFill>
            <a:srgbClr val="5C6F74"/>
          </a:solidFill>
          <a:ln/>
        </p:spPr>
      </p:sp>
      <p:pic>
        <p:nvPicPr>
          <p:cNvPr id="3" name="Image 0" descr="icons/chartline_white.png">    </p:cNvPr>
          <p:cNvPicPr>
            <a:picLocks noChangeAspect="1"/>
          </p:cNvPicPr>
          <p:nvPr/>
        </p:nvPicPr>
        <p:blipFill>
          <a:blip r:embed="rId1"/>
          <a:stretch>
            <a:fillRect/>
          </a:stretch>
        </p:blipFill>
        <p:spPr>
          <a:xfrm>
            <a:off x="749808" y="585216"/>
            <a:ext cx="237744" cy="237744"/>
          </a:xfrm>
          <a:prstGeom prst="rect">
            <a:avLst/>
          </a:prstGeom>
        </p:spPr>
      </p:pic>
      <p:sp>
        <p:nvSpPr>
          <p:cNvPr id="4" name="Text 1"/>
          <p:cNvSpPr/>
          <p:nvPr/>
        </p:nvSpPr>
        <p:spPr>
          <a:xfrm>
            <a:off x="1261872" y="457200"/>
            <a:ext cx="10289743" cy="274320"/>
          </a:xfrm>
          <a:prstGeom prst="rect">
            <a:avLst/>
          </a:prstGeom>
          <a:noFill/>
          <a:ln/>
        </p:spPr>
        <p:txBody>
          <a:bodyPr wrap="square" lIns="0" tIns="0" rIns="0" bIns="0" rtlCol="0" anchor="ctr"/>
          <a:lstStyle/>
          <a:p>
            <a:pPr algn="l" indent="0" marL="0">
              <a:buNone/>
            </a:pPr>
            <a:r>
              <a:rPr lang="en-US" sz="1100" b="1" spc="250" kern="0" dirty="0">
                <a:solidFill>
                  <a:srgbClr val="5C6F74"/>
                </a:solidFill>
                <a:latin typeface="Calibri" pitchFamily="34" charset="0"/>
                <a:ea typeface="Calibri" pitchFamily="34" charset="-122"/>
                <a:cs typeface="Calibri" pitchFamily="34" charset="-120"/>
              </a:rPr>
              <a:t>ANEXO · CHEQUEOS DE BETA</a:t>
            </a:r>
            <a:endParaRPr lang="en-US" sz="1100" dirty="0"/>
          </a:p>
        </p:txBody>
      </p:sp>
      <p:sp>
        <p:nvSpPr>
          <p:cNvPr id="5" name="Text 2"/>
          <p:cNvSpPr/>
          <p:nvPr/>
        </p:nvSpPr>
        <p:spPr>
          <a:xfrm>
            <a:off x="640080" y="1024128"/>
            <a:ext cx="10911535" cy="868680"/>
          </a:xfrm>
          <a:prstGeom prst="rect">
            <a:avLst/>
          </a:prstGeom>
          <a:noFill/>
          <a:ln/>
        </p:spPr>
        <p:txBody>
          <a:bodyPr wrap="square" lIns="0" tIns="0" rIns="0" bIns="0" rtlCol="0" anchor="t"/>
          <a:lstStyle/>
          <a:p>
            <a:pPr algn="l" indent="0" marL="0">
              <a:lnSpc>
                <a:spcPct val="98000"/>
              </a:lnSpc>
              <a:buNone/>
            </a:pPr>
            <a:r>
              <a:rPr lang="en-US" sz="2400" b="1" dirty="0">
                <a:solidFill>
                  <a:srgbClr val="0B2B33"/>
                </a:solidFill>
                <a:latin typeface="Georgia" pitchFamily="34" charset="0"/>
                <a:ea typeface="Georgia" pitchFamily="34" charset="-122"/>
                <a:cs typeface="Georgia" pitchFamily="34" charset="-120"/>
              </a:rPr>
              <a:t>Triangulación del Beta y desapalancamiento (Hamada)</a:t>
            </a:r>
            <a:endParaRPr lang="en-US" sz="2400" dirty="0"/>
          </a:p>
        </p:txBody>
      </p:sp>
      <p:sp>
        <p:nvSpPr>
          <p:cNvPr id="6" name="Shape 3"/>
          <p:cNvSpPr/>
          <p:nvPr/>
        </p:nvSpPr>
        <p:spPr>
          <a:xfrm>
            <a:off x="640080" y="2103120"/>
            <a:ext cx="3423818" cy="1828800"/>
          </a:xfrm>
          <a:prstGeom prst="roundRect">
            <a:avLst>
              <a:gd name="adj" fmla="val 5000"/>
            </a:avLst>
          </a:prstGeom>
          <a:solidFill>
            <a:srgbClr val="FFFFFF"/>
          </a:solidFill>
          <a:ln/>
          <a:effectLst>
            <a:outerShdw sx="100000" sy="100000" kx="0" ky="0" algn="bl" rotWithShape="0" blurRad="114300" dist="38100" dir="8100000">
              <a:srgbClr val="0B2B33">
                <a:alpha val="14000"/>
              </a:srgbClr>
            </a:outerShdw>
          </a:effectLst>
        </p:spPr>
      </p:sp>
      <p:sp>
        <p:nvSpPr>
          <p:cNvPr id="7" name="Text 4"/>
          <p:cNvSpPr/>
          <p:nvPr/>
        </p:nvSpPr>
        <p:spPr>
          <a:xfrm>
            <a:off x="914400" y="2359152"/>
            <a:ext cx="2875178" cy="777240"/>
          </a:xfrm>
          <a:prstGeom prst="rect">
            <a:avLst/>
          </a:prstGeom>
          <a:noFill/>
          <a:ln/>
        </p:spPr>
        <p:txBody>
          <a:bodyPr wrap="square" lIns="0" tIns="0" rIns="0" bIns="0" rtlCol="0" anchor="b"/>
          <a:lstStyle/>
          <a:p>
            <a:pPr algn="l" indent="0" marL="0">
              <a:buNone/>
            </a:pPr>
            <a:r>
              <a:rPr lang="en-US" sz="4200" b="1" dirty="0">
                <a:solidFill>
                  <a:srgbClr val="0B2B33"/>
                </a:solidFill>
                <a:latin typeface="Georgia" pitchFamily="34" charset="0"/>
                <a:ea typeface="Georgia" pitchFamily="34" charset="-122"/>
                <a:cs typeface="Georgia" pitchFamily="34" charset="-120"/>
              </a:rPr>
              <a:t>1,084</a:t>
            </a:r>
            <a:endParaRPr lang="en-US" sz="4200" dirty="0"/>
          </a:p>
        </p:txBody>
      </p:sp>
      <p:sp>
        <p:nvSpPr>
          <p:cNvPr id="8" name="Text 5"/>
          <p:cNvSpPr/>
          <p:nvPr/>
        </p:nvSpPr>
        <p:spPr>
          <a:xfrm>
            <a:off x="914400" y="3136392"/>
            <a:ext cx="2875178" cy="457200"/>
          </a:xfrm>
          <a:prstGeom prst="rect">
            <a:avLst/>
          </a:prstGeom>
          <a:noFill/>
          <a:ln/>
        </p:spPr>
        <p:txBody>
          <a:bodyPr wrap="square" lIns="0" tIns="0" rIns="0" bIns="0" rtlCol="0" anchor="t"/>
          <a:lstStyle/>
          <a:p>
            <a:pPr algn="l" indent="0" marL="0">
              <a:lnSpc>
                <a:spcPct val="98000"/>
              </a:lnSpc>
              <a:buNone/>
            </a:pPr>
            <a:endParaRPr lang="en-US" sz="1150" dirty="0"/>
          </a:p>
        </p:txBody>
      </p:sp>
      <p:sp>
        <p:nvSpPr>
          <p:cNvPr id="9" name="Text 6"/>
          <p:cNvSpPr/>
          <p:nvPr/>
        </p:nvSpPr>
        <p:spPr>
          <a:xfrm>
            <a:off x="914400" y="3154680"/>
            <a:ext cx="2875178" cy="685800"/>
          </a:xfrm>
          <a:prstGeom prst="rect">
            <a:avLst/>
          </a:prstGeom>
          <a:noFill/>
          <a:ln/>
        </p:spPr>
        <p:txBody>
          <a:bodyPr wrap="square" lIns="0" tIns="0" rIns="0" bIns="0" rtlCol="0" anchor="ctr"/>
          <a:lstStyle/>
          <a:p>
            <a:pPr indent="0" marL="0">
              <a:lnSpc>
                <a:spcPct val="105000"/>
              </a:lnSpc>
              <a:buNone/>
            </a:pPr>
            <a:r>
              <a:rPr lang="en-US" sz="1150" dirty="0">
                <a:solidFill>
                  <a:srgbClr val="5C6F74"/>
                </a:solidFill>
                <a:latin typeface="Calibri" pitchFamily="34" charset="0"/>
                <a:ea typeface="Calibri" pitchFamily="34" charset="-122"/>
                <a:cs typeface="Calibri" pitchFamily="34" charset="-120"/>
              </a:rPr>
              <a:t>Regresión OLS propia</a:t>
            </a:r>
            <a:endParaRPr lang="en-US" sz="1150" dirty="0"/>
          </a:p>
          <a:p>
            <a:pPr indent="0" marL="0">
              <a:lnSpc>
                <a:spcPct val="105000"/>
              </a:lnSpc>
              <a:buNone/>
            </a:pPr>
            <a:r>
              <a:rPr lang="en-US" sz="1150" dirty="0">
                <a:solidFill>
                  <a:srgbClr val="5C6F74"/>
                </a:solidFill>
                <a:latin typeface="Calibri" pitchFamily="34" charset="0"/>
                <a:ea typeface="Calibri" pitchFamily="34" charset="-122"/>
                <a:cs typeface="Calibri" pitchFamily="34" charset="-120"/>
              </a:rPr>
              <a:t>(5Y mensual, S&amp;P 500)</a:t>
            </a:r>
            <a:endParaRPr lang="en-US" sz="1150" dirty="0"/>
          </a:p>
        </p:txBody>
      </p:sp>
      <p:sp>
        <p:nvSpPr>
          <p:cNvPr id="10" name="Shape 7"/>
          <p:cNvSpPr/>
          <p:nvPr/>
        </p:nvSpPr>
        <p:spPr>
          <a:xfrm>
            <a:off x="4383938" y="2103120"/>
            <a:ext cx="3423818" cy="1828800"/>
          </a:xfrm>
          <a:prstGeom prst="roundRect">
            <a:avLst>
              <a:gd name="adj" fmla="val 5000"/>
            </a:avLst>
          </a:prstGeom>
          <a:solidFill>
            <a:srgbClr val="FFFFFF"/>
          </a:solidFill>
          <a:ln/>
          <a:effectLst>
            <a:outerShdw sx="100000" sy="100000" kx="0" ky="0" algn="bl" rotWithShape="0" blurRad="114300" dist="38100" dir="8100000">
              <a:srgbClr val="0B2B33">
                <a:alpha val="14000"/>
              </a:srgbClr>
            </a:outerShdw>
          </a:effectLst>
        </p:spPr>
      </p:sp>
      <p:sp>
        <p:nvSpPr>
          <p:cNvPr id="11" name="Text 8"/>
          <p:cNvSpPr/>
          <p:nvPr/>
        </p:nvSpPr>
        <p:spPr>
          <a:xfrm>
            <a:off x="4658258" y="2359152"/>
            <a:ext cx="2875178" cy="777240"/>
          </a:xfrm>
          <a:prstGeom prst="rect">
            <a:avLst/>
          </a:prstGeom>
          <a:noFill/>
          <a:ln/>
        </p:spPr>
        <p:txBody>
          <a:bodyPr wrap="square" lIns="0" tIns="0" rIns="0" bIns="0" rtlCol="0" anchor="b"/>
          <a:lstStyle/>
          <a:p>
            <a:pPr algn="l" indent="0" marL="0">
              <a:buNone/>
            </a:pPr>
            <a:r>
              <a:rPr lang="en-US" sz="4200" b="1" dirty="0">
                <a:solidFill>
                  <a:srgbClr val="5C6F74"/>
                </a:solidFill>
                <a:latin typeface="Georgia" pitchFamily="34" charset="0"/>
                <a:ea typeface="Georgia" pitchFamily="34" charset="-122"/>
                <a:cs typeface="Georgia" pitchFamily="34" charset="-120"/>
              </a:rPr>
              <a:t>1,065</a:t>
            </a:r>
            <a:endParaRPr lang="en-US" sz="4200" dirty="0"/>
          </a:p>
        </p:txBody>
      </p:sp>
      <p:sp>
        <p:nvSpPr>
          <p:cNvPr id="12" name="Text 9"/>
          <p:cNvSpPr/>
          <p:nvPr/>
        </p:nvSpPr>
        <p:spPr>
          <a:xfrm>
            <a:off x="4658258" y="3136392"/>
            <a:ext cx="2875178" cy="457200"/>
          </a:xfrm>
          <a:prstGeom prst="rect">
            <a:avLst/>
          </a:prstGeom>
          <a:noFill/>
          <a:ln/>
        </p:spPr>
        <p:txBody>
          <a:bodyPr wrap="square" lIns="0" tIns="0" rIns="0" bIns="0" rtlCol="0" anchor="t"/>
          <a:lstStyle/>
          <a:p>
            <a:pPr algn="l" indent="0" marL="0">
              <a:lnSpc>
                <a:spcPct val="98000"/>
              </a:lnSpc>
              <a:buNone/>
            </a:pPr>
            <a:endParaRPr lang="en-US" sz="1150" dirty="0"/>
          </a:p>
        </p:txBody>
      </p:sp>
      <p:sp>
        <p:nvSpPr>
          <p:cNvPr id="13" name="Text 10"/>
          <p:cNvSpPr/>
          <p:nvPr/>
        </p:nvSpPr>
        <p:spPr>
          <a:xfrm>
            <a:off x="4658258" y="3154680"/>
            <a:ext cx="2875178" cy="685800"/>
          </a:xfrm>
          <a:prstGeom prst="rect">
            <a:avLst/>
          </a:prstGeom>
          <a:noFill/>
          <a:ln/>
        </p:spPr>
        <p:txBody>
          <a:bodyPr wrap="square" lIns="0" tIns="0" rIns="0" bIns="0" rtlCol="0" anchor="ctr"/>
          <a:lstStyle/>
          <a:p>
            <a:pPr indent="0" marL="0">
              <a:lnSpc>
                <a:spcPct val="105000"/>
              </a:lnSpc>
              <a:buNone/>
            </a:pPr>
            <a:r>
              <a:rPr lang="en-US" sz="1150" dirty="0">
                <a:solidFill>
                  <a:srgbClr val="5C6F74"/>
                </a:solidFill>
                <a:latin typeface="Calibri" pitchFamily="34" charset="0"/>
                <a:ea typeface="Calibri" pitchFamily="34" charset="-122"/>
                <a:cs typeface="Calibri" pitchFamily="34" charset="-120"/>
              </a:rPr>
              <a:t>yfinance .info</a:t>
            </a:r>
            <a:endParaRPr lang="en-US" sz="1150" dirty="0"/>
          </a:p>
          <a:p>
            <a:pPr indent="0" marL="0">
              <a:lnSpc>
                <a:spcPct val="105000"/>
              </a:lnSpc>
              <a:buNone/>
            </a:pPr>
            <a:r>
              <a:rPr lang="en-US" sz="1150" dirty="0">
                <a:solidFill>
                  <a:srgbClr val="5C6F74"/>
                </a:solidFill>
                <a:latin typeface="Calibri" pitchFamily="34" charset="0"/>
                <a:ea typeface="Calibri" pitchFamily="34" charset="-122"/>
                <a:cs typeface="Calibri" pitchFamily="34" charset="-120"/>
              </a:rPr>
              <a:t>(ventana puede diferir)</a:t>
            </a:r>
            <a:endParaRPr lang="en-US" sz="1150" dirty="0"/>
          </a:p>
        </p:txBody>
      </p:sp>
      <p:sp>
        <p:nvSpPr>
          <p:cNvPr id="14" name="Shape 11"/>
          <p:cNvSpPr/>
          <p:nvPr/>
        </p:nvSpPr>
        <p:spPr>
          <a:xfrm>
            <a:off x="8127797" y="2103120"/>
            <a:ext cx="3423818" cy="1828800"/>
          </a:xfrm>
          <a:prstGeom prst="roundRect">
            <a:avLst>
              <a:gd name="adj" fmla="val 5000"/>
            </a:avLst>
          </a:prstGeom>
          <a:solidFill>
            <a:srgbClr val="FFFFFF"/>
          </a:solidFill>
          <a:ln/>
          <a:effectLst>
            <a:outerShdw sx="100000" sy="100000" kx="0" ky="0" algn="bl" rotWithShape="0" blurRad="114300" dist="38100" dir="8100000">
              <a:srgbClr val="0B2B33">
                <a:alpha val="14000"/>
              </a:srgbClr>
            </a:outerShdw>
          </a:effectLst>
        </p:spPr>
      </p:sp>
      <p:sp>
        <p:nvSpPr>
          <p:cNvPr id="15" name="Text 12"/>
          <p:cNvSpPr/>
          <p:nvPr/>
        </p:nvSpPr>
        <p:spPr>
          <a:xfrm>
            <a:off x="8402117" y="2359152"/>
            <a:ext cx="2875178" cy="777240"/>
          </a:xfrm>
          <a:prstGeom prst="rect">
            <a:avLst/>
          </a:prstGeom>
          <a:noFill/>
          <a:ln/>
        </p:spPr>
        <p:txBody>
          <a:bodyPr wrap="square" lIns="0" tIns="0" rIns="0" bIns="0" rtlCol="0" anchor="b"/>
          <a:lstStyle/>
          <a:p>
            <a:pPr algn="l" indent="0" marL="0">
              <a:buNone/>
            </a:pPr>
            <a:r>
              <a:rPr lang="en-US" sz="4200" b="1" dirty="0">
                <a:solidFill>
                  <a:srgbClr val="12A594"/>
                </a:solidFill>
                <a:latin typeface="Georgia" pitchFamily="34" charset="0"/>
                <a:ea typeface="Georgia" pitchFamily="34" charset="-122"/>
                <a:cs typeface="Georgia" pitchFamily="34" charset="-120"/>
              </a:rPr>
              <a:t>1,065</a:t>
            </a:r>
            <a:endParaRPr lang="en-US" sz="4200" dirty="0"/>
          </a:p>
        </p:txBody>
      </p:sp>
      <p:sp>
        <p:nvSpPr>
          <p:cNvPr id="16" name="Text 13"/>
          <p:cNvSpPr/>
          <p:nvPr/>
        </p:nvSpPr>
        <p:spPr>
          <a:xfrm>
            <a:off x="8402117" y="3136392"/>
            <a:ext cx="2875178" cy="457200"/>
          </a:xfrm>
          <a:prstGeom prst="rect">
            <a:avLst/>
          </a:prstGeom>
          <a:noFill/>
          <a:ln/>
        </p:spPr>
        <p:txBody>
          <a:bodyPr wrap="square" lIns="0" tIns="0" rIns="0" bIns="0" rtlCol="0" anchor="t"/>
          <a:lstStyle/>
          <a:p>
            <a:pPr algn="l" indent="0" marL="0">
              <a:lnSpc>
                <a:spcPct val="98000"/>
              </a:lnSpc>
              <a:buNone/>
            </a:pPr>
            <a:endParaRPr lang="en-US" sz="1150" dirty="0"/>
          </a:p>
        </p:txBody>
      </p:sp>
      <p:sp>
        <p:nvSpPr>
          <p:cNvPr id="17" name="Text 14"/>
          <p:cNvSpPr/>
          <p:nvPr/>
        </p:nvSpPr>
        <p:spPr>
          <a:xfrm>
            <a:off x="8402117" y="3154680"/>
            <a:ext cx="2875178" cy="685800"/>
          </a:xfrm>
          <a:prstGeom prst="rect">
            <a:avLst/>
          </a:prstGeom>
          <a:noFill/>
          <a:ln/>
        </p:spPr>
        <p:txBody>
          <a:bodyPr wrap="square" lIns="0" tIns="0" rIns="0" bIns="0" rtlCol="0" anchor="ctr"/>
          <a:lstStyle/>
          <a:p>
            <a:pPr indent="0" marL="0">
              <a:lnSpc>
                <a:spcPct val="105000"/>
              </a:lnSpc>
              <a:buNone/>
            </a:pPr>
            <a:r>
              <a:rPr lang="en-US" sz="1150" dirty="0">
                <a:solidFill>
                  <a:srgbClr val="5C6F74"/>
                </a:solidFill>
                <a:latin typeface="Calibri" pitchFamily="34" charset="0"/>
                <a:ea typeface="Calibri" pitchFamily="34" charset="-122"/>
                <a:cs typeface="Calibri" pitchFamily="34" charset="-120"/>
              </a:rPr>
              <a:t>β desapalancado (Hamada)</a:t>
            </a:r>
            <a:endParaRPr lang="en-US" sz="1150" dirty="0"/>
          </a:p>
          <a:p>
            <a:pPr indent="0" marL="0">
              <a:lnSpc>
                <a:spcPct val="105000"/>
              </a:lnSpc>
              <a:buNone/>
            </a:pPr>
            <a:r>
              <a:rPr lang="en-US" sz="1150" dirty="0">
                <a:solidFill>
                  <a:srgbClr val="5C6F74"/>
                </a:solidFill>
                <a:latin typeface="Calibri" pitchFamily="34" charset="0"/>
                <a:ea typeface="Calibri" pitchFamily="34" charset="-122"/>
                <a:cs typeface="Calibri" pitchFamily="34" charset="-120"/>
              </a:rPr>
              <a:t>solo chequeo</a:t>
            </a:r>
            <a:endParaRPr lang="en-US" sz="1150" dirty="0"/>
          </a:p>
        </p:txBody>
      </p:sp>
      <p:sp>
        <p:nvSpPr>
          <p:cNvPr id="18" name="Shape 15"/>
          <p:cNvSpPr/>
          <p:nvPr/>
        </p:nvSpPr>
        <p:spPr>
          <a:xfrm>
            <a:off x="640080" y="4206240"/>
            <a:ext cx="10911535" cy="1280160"/>
          </a:xfrm>
          <a:prstGeom prst="roundRect">
            <a:avLst>
              <a:gd name="adj" fmla="val 7143"/>
            </a:avLst>
          </a:prstGeom>
          <a:solidFill>
            <a:srgbClr val="EAF4F2"/>
          </a:solidFill>
          <a:ln/>
          <a:effectLst>
            <a:outerShdw sx="100000" sy="100000" kx="0" ky="0" algn="bl" rotWithShape="0" blurRad="114300" dist="38100" dir="8100000">
              <a:srgbClr val="0B2B33">
                <a:alpha val="14000"/>
              </a:srgbClr>
            </a:outerShdw>
          </a:effectLst>
        </p:spPr>
      </p:sp>
      <p:pic>
        <p:nvPicPr>
          <p:cNvPr id="19" name="Image 1" descr="icons/check_teal.png">    </p:cNvPr>
          <p:cNvPicPr>
            <a:picLocks noChangeAspect="1"/>
          </p:cNvPicPr>
          <p:nvPr/>
        </p:nvPicPr>
        <p:blipFill>
          <a:blip r:embed="rId2"/>
          <a:stretch>
            <a:fillRect/>
          </a:stretch>
        </p:blipFill>
        <p:spPr>
          <a:xfrm>
            <a:off x="960120" y="4462272"/>
            <a:ext cx="411480" cy="411480"/>
          </a:xfrm>
          <a:prstGeom prst="rect">
            <a:avLst/>
          </a:prstGeom>
        </p:spPr>
      </p:pic>
      <p:sp>
        <p:nvSpPr>
          <p:cNvPr id="20" name="Text 16"/>
          <p:cNvSpPr/>
          <p:nvPr/>
        </p:nvSpPr>
        <p:spPr>
          <a:xfrm>
            <a:off x="1554480" y="4407408"/>
            <a:ext cx="9722815" cy="411480"/>
          </a:xfrm>
          <a:prstGeom prst="rect">
            <a:avLst/>
          </a:prstGeom>
          <a:noFill/>
          <a:ln/>
        </p:spPr>
        <p:txBody>
          <a:bodyPr wrap="square" lIns="0" tIns="0" rIns="0" bIns="0" rtlCol="0" anchor="ctr"/>
          <a:lstStyle/>
          <a:p>
            <a:pPr indent="0" marL="0">
              <a:buNone/>
            </a:pPr>
            <a:r>
              <a:rPr lang="en-US" sz="1400" b="1" dirty="0">
                <a:solidFill>
                  <a:srgbClr val="0B2B33"/>
                </a:solidFill>
                <a:latin typeface="Calibri" pitchFamily="34" charset="0"/>
                <a:ea typeface="Calibri" pitchFamily="34" charset="-122"/>
                <a:cs typeface="Calibri" pitchFamily="34" charset="-120"/>
              </a:rPr>
              <a:t>Los tres betas convergen ≈ 1,06–1,08</a:t>
            </a:r>
            <a:endParaRPr lang="en-US" sz="1400" dirty="0"/>
          </a:p>
        </p:txBody>
      </p:sp>
      <p:sp>
        <p:nvSpPr>
          <p:cNvPr id="21" name="Text 17"/>
          <p:cNvSpPr/>
          <p:nvPr/>
        </p:nvSpPr>
        <p:spPr>
          <a:xfrm>
            <a:off x="1554480" y="4828032"/>
            <a:ext cx="9722815" cy="548640"/>
          </a:xfrm>
          <a:prstGeom prst="rect">
            <a:avLst/>
          </a:prstGeom>
          <a:noFill/>
          <a:ln/>
        </p:spPr>
        <p:txBody>
          <a:bodyPr wrap="square" lIns="0" tIns="0" rIns="0" bIns="0" rtlCol="0" anchor="ctr"/>
          <a:lstStyle/>
          <a:p>
            <a:pPr indent="0" marL="0">
              <a:lnSpc>
                <a:spcPct val="105000"/>
              </a:lnSpc>
              <a:buNone/>
            </a:pPr>
            <a:r>
              <a:rPr lang="en-US" sz="1200" dirty="0">
                <a:solidFill>
                  <a:srgbClr val="5C6F74"/>
                </a:solidFill>
                <a:latin typeface="Calibri" pitchFamily="34" charset="0"/>
                <a:ea typeface="Calibri" pitchFamily="34" charset="-122"/>
                <a:cs typeface="Calibri" pitchFamily="34" charset="-120"/>
              </a:rPr>
              <a:t>Con D/E ≈ 2,2%, el leverage casi no afecta el beta (β_L ≈ β_U). La estimación es robusta y consistente entre fuentes.</a:t>
            </a:r>
            <a:endParaRPr lang="en-US" sz="1200" dirty="0"/>
          </a:p>
        </p:txBody>
      </p:sp>
      <p:sp>
        <p:nvSpPr>
          <p:cNvPr id="22" name="Text 18"/>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850" dirty="0">
                <a:solidFill>
                  <a:srgbClr val="5C6F74"/>
                </a:solidFill>
                <a:latin typeface="Calibri" pitchFamily="34" charset="0"/>
                <a:ea typeface="Calibri" pitchFamily="34" charset="-122"/>
                <a:cs typeface="Calibri" pitchFamily="34" charset="-120"/>
              </a:rPr>
              <a:t>Valuación AAPL · Flujos de Fondos Descontados</a:t>
            </a:r>
            <a:endParaRPr lang="en-US" sz="850" dirty="0"/>
          </a:p>
        </p:txBody>
      </p:sp>
      <p:sp>
        <p:nvSpPr>
          <p:cNvPr id="23" name="Text 19"/>
          <p:cNvSpPr/>
          <p:nvPr/>
        </p:nvSpPr>
        <p:spPr>
          <a:xfrm>
            <a:off x="11002975" y="6446520"/>
            <a:ext cx="548640" cy="274320"/>
          </a:xfrm>
          <a:prstGeom prst="rect">
            <a:avLst/>
          </a:prstGeom>
          <a:noFill/>
          <a:ln/>
        </p:spPr>
        <p:txBody>
          <a:bodyPr wrap="square" lIns="0" tIns="0" rIns="0" bIns="0" rtlCol="0" anchor="ctr"/>
          <a:lstStyle/>
          <a:p>
            <a:pPr algn="r" indent="0" marL="0">
              <a:buNone/>
            </a:pPr>
            <a:r>
              <a:rPr lang="en-US" sz="900" b="1" dirty="0">
                <a:solidFill>
                  <a:srgbClr val="5C6F74"/>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Valuación de Apple Inc. (AAPL)</dc:title>
  <dc:subject>PptxGenJS Presentation</dc:subject>
  <dc:creator>Seminario ¿Cuánto vale una empresa?</dc:creator>
  <cp:lastModifiedBy>Seminario ¿Cuánto vale una empresa?</cp:lastModifiedBy>
  <cp:revision>1</cp:revision>
  <dcterms:created xsi:type="dcterms:W3CDTF">2026-05-30T04:01:32Z</dcterms:created>
  <dcterms:modified xsi:type="dcterms:W3CDTF">2026-05-30T04:01:32Z</dcterms:modified>
</cp:coreProperties>
</file>